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70bc5e5c-19c7-7e3b-ccd3-4029cd8287a7}">
          <p14:sldIdLst>
            <p14:sldId id="256"/>
          </p14:sldIdLst>
        </p14:section>
        <p14:section name="Problem" id="{42ae66b6-089a-8de9-2b22-769376d61708}">
          <p14:sldIdLst>
            <p14:sldId id="257"/>
          </p14:sldIdLst>
        </p14:section>
        <p14:section name="Solution" id="{39fdaf6a-b435-8d24-f18d-b2246cde00a7}">
          <p14:sldIdLst>
            <p14:sldId id="258"/>
          </p14:sldIdLst>
        </p14:section>
        <p14:section name="Architecture" id="{f3660737-979f-893c-1aa1-69de7241ec3e}">
          <p14:sldIdLst>
            <p14:sldId id="259"/>
          </p14:sldIdLst>
        </p14:section>
        <p14:section name="IBM Technology" id="{feec9815-3504-3d3e-90e3-1e3cfd3c165b}">
          <p14:sldIdLst>
            <p14:sldId id="260"/>
          </p14:sldIdLst>
        </p14:section>
        <p14:section name="Impact" id="{902f3fa7-c786-97b5-ef7d-7a8ed56b0d09}">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Static baseline</c:v>
                </c:pt>
              </c:strCache>
            </c:strRef>
          </c:tx>
          <c:spPr>
            <a:solidFill>
              <a:srgbClr val="A8A8A8"/>
            </a:solidFill>
            <a:effectLst/>
          </c:spPr>
          <c:invertIfNegative val="0"/>
          <c:dLbls>
            <c:numFmt formatCode="#,##0" sourceLinked="0"/>
            <c:txPr>
              <a:bodyPr/>
              <a:lstStyle/>
              <a:p>
                <a:pPr>
                  <a:defRPr b="0" i="0" strike="noStrike" sz="900" u="none">
                    <a:solidFill>
                      <a:srgbClr val="525252"/>
                    </a:solidFill>
                    <a:latin typeface="+mn-lt"/>
                  </a:defRPr>
                </a:pPr>
              </a:p>
            </c:txPr>
            <c:showLegendKey val="0"/>
            <c:showVal val="1"/>
            <c:showCatName val="0"/>
            <c:showSerName val="0"/>
            <c:showPercent val="0"/>
            <c:showBubbleSize val="0"/>
            <c:showLeaderLines val="0"/>
          </c:dLbls>
          <c:cat>
            <c:multiLvlStrRef>
              <c:f>Sheet1!$A$2:$A$4</c:f>
              <c:multiLvlStrCache>
                <c:ptCount val="3"/>
                <c:lvl>
                  <c:pt idx="0">
                    <c:v>Off-peak ₹5.60</c:v>
                  </c:pt>
                  <c:pt idx="1">
                    <c:v>Shoulder ₹8.20</c:v>
                  </c:pt>
                  <c:pt idx="2">
                    <c:v>Peak ₹11.40</c:v>
                  </c:pt>
                </c:lvl>
              </c:multiLvlStrCache>
            </c:multiLvlStrRef>
          </c:cat>
          <c:val>
            <c:numRef>
              <c:f>Sheet1!$B$2:$B$4</c:f>
              <c:numCache>
                <c:formatCode>General</c:formatCode>
                <c:ptCount val="3"/>
                <c:pt idx="0">
                  <c:v>70</c:v>
                </c:pt>
                <c:pt idx="1">
                  <c:v>564</c:v>
                </c:pt>
                <c:pt idx="2">
                  <c:v>2852</c:v>
                </c:pt>
              </c:numCache>
            </c:numRef>
          </c:val>
        </c:ser>
        <c:ser>
          <c:idx val="1"/>
          <c:order val="1"/>
          <c:tx>
            <c:strRef>
              <c:f>Sheet1!$C$1</c:f>
              <c:strCache>
                <c:ptCount val="1"/>
                <c:pt idx="0">
                  <c:v>ChargeOpt rules</c:v>
                </c:pt>
              </c:strCache>
            </c:strRef>
          </c:tx>
          <c:spPr>
            <a:solidFill>
              <a:srgbClr val="0F62FE"/>
            </a:solidFill>
            <a:effectLst/>
          </c:spPr>
          <c:invertIfNegative val="0"/>
          <c:dLbls>
            <c:numFmt formatCode="#,##0" sourceLinked="0"/>
            <c:txPr>
              <a:bodyPr/>
              <a:lstStyle/>
              <a:p>
                <a:pPr>
                  <a:defRPr b="0" i="0" strike="noStrike" sz="900" u="none">
                    <a:solidFill>
                      <a:srgbClr val="525252"/>
                    </a:solidFill>
                    <a:latin typeface="+mn-lt"/>
                  </a:defRPr>
                </a:pPr>
              </a:p>
            </c:txPr>
            <c:showLegendKey val="0"/>
            <c:showVal val="1"/>
            <c:showCatName val="0"/>
            <c:showSerName val="0"/>
            <c:showPercent val="0"/>
            <c:showBubbleSize val="0"/>
            <c:showLeaderLines val="0"/>
          </c:dLbls>
          <c:cat>
            <c:multiLvlStrRef>
              <c:f>Sheet1!$A$2:$A$4</c:f>
              <c:multiLvlStrCache>
                <c:ptCount val="3"/>
                <c:lvl>
                  <c:pt idx="0">
                    <c:v>Off-peak ₹5.60</c:v>
                  </c:pt>
                  <c:pt idx="1">
                    <c:v>Shoulder ₹8.20</c:v>
                  </c:pt>
                  <c:pt idx="2">
                    <c:v>Peak ₹11.40</c:v>
                  </c:pt>
                </c:lvl>
              </c:multiLvlStrCache>
            </c:multiLvlStrRef>
          </c:cat>
          <c:val>
            <c:numRef>
              <c:f>Sheet1!$C$2:$C$4</c:f>
              <c:numCache>
                <c:formatCode>General</c:formatCode>
                <c:ptCount val="3"/>
                <c:pt idx="0">
                  <c:v>1671</c:v>
                </c:pt>
                <c:pt idx="1">
                  <c:v>178</c:v>
                </c:pt>
                <c:pt idx="2">
                  <c:v>504</c:v>
                </c:pt>
              </c:numCache>
            </c:numRef>
          </c:val>
        </c:ser>
        <c:dLbls>
          <c:numFmt formatCode="#,##0" sourceLinked="0"/>
          <c:txPr>
            <a:bodyPr/>
            <a:lstStyle/>
            <a:p>
              <a:pPr>
                <a:defRPr b="0" i="0" strike="noStrike" sz="900" u="none">
                  <a:solidFill>
                    <a:srgbClr val="52525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6C6C6"/>
            </a:solidFill>
            <a:prstDash val="solid"/>
            <a:round/>
          </a:ln>
        </c:spPr>
        <c:txPr>
          <a:bodyPr/>
          <a:lstStyle/>
          <a:p>
            <a:pPr>
              <a:defRPr sz="900" b="0" i="0" u="none" strike="noStrike">
                <a:solidFill>
                  <a:srgbClr val="52525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2525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Fleet electrification is stalling on a boring problem — when to plug in. ChargeOpt is our answer to Problem Statement A3. It keeps every scheduled EV ready for departure while moving flexible charging out of expensive tariff windows. The three numbers on screen come from the running product: on the same 100-vehicle snapshot, the rule engine cuts planned energy cost by 59%, lifts projected readiness to 93.9%, and re-plans the whole fleet in about 93 milliseconds. All figures are modelled on simulated telemetry and configured tariffs, not measured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fleet operators, the depot teams who run chargers, drivers and dispatchers, and the grid. What: today vehicles are charged first-come-first-served the moment they plug in. Because the fleet returns together in the evening, the charging spike lands right on the ₹11.40 peak tariff while off-peak chargers sit idle overnight. In our modelled baseline 82% of energy lands in the peak window and 8 of 66 departures are still at risk. Why it exists: static schedules have no notion of tariff windows, departure deadlines, charger contention or battery health. Problem Statement A3 quantifies the pain: peak demand charges add 30–50% to electricity cost, a 100-vehicle fleet wastes $150–300K a year, and batteries lose 15–20% of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built: ChargeOpt, a working fleet charging platform. How it works: every plan runs six steps — sense the fleet state, size the energy each vehicle needs for its next trip, rank vehicles P1 to P5, shift flexible charging into the cheapest window that still meets departure, reserve conflict-free charger slots, and re-plan whenever something changes. Why it is different: it is explainable — every reservation shows the rule that created it — and we benchmark the rules against a linear-programming optimum: they land within 3.2% on price. User flow: an operator reviews the fleet, compares the static baseline with the rule-based plan on the same snapshot, activates the rules, watches sessions live and overrides when reality intervenes. Value: readiness first, cost second, no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Six roles sign in through a React single-page app served by nginx, which also proxies the API and the live WebSocket. FastAPI exposes REST, a WebSocket feed and an OCPP 1.6-J endpoint for real charge points, behind JWT cookie auth and role-based permissions. The decision core is the deterministic rule engine, with a HiGHS linear-programming benchmark, an operations loop that re-plans on every event, alerts with webhooks, and a tariff service that accepts dynamic price feeds. PostgreSQL 16 stores 15 entities; a btree_gist exclusion constraint makes double-booking a charger impossible at the database level. Every event — an arrival, a fault, a trip change — triggers a full re-plan in about 93 ms, pushed to every screen over WebSocket. The whole thing ships as three Docker containers plus an optional OCPP charger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Bob is load-bearing in how this was built: plan mode turned the PRD into modules and a data model, agent mode implemented the rule engine, API and UI, ask mode traced the rule paths, /review checked every diff, /erd produced the data-model diagram, and Bob Shell drove Docker, migrations and the test suite. watsonx is the next release, designed around a strict principle: AI advises, rules decide. watsonx.data holds fleet telemetry history; Granite TimeSeries forecasts arrival state of charge and trip energy, which enter the engine as inputs; a Granite language model turns each decision record into a plain-language explanation; watsonx.governance tracks every AI suggestion. An MCP server exposes typed fleet tools so a dispatcher can ask Bob or watsonx Orchestrate 'why is EV-042 at risk?' and get an answer grounded in the engine's own audit trail. The deterministic engine stays the decision authority, so every action remains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on the same 100-vehicle snapshot with the same chargers: planned energy cost falls 59%, from ₹37,570 to ₹15,540 for the next 24 hours; projected readiness rises from 87.9% to 93.9% and at-risk departures halve; the share of energy in the peak window drops from 82% to 21%; peak site load falls 17%. Annualised, that is roughly ₹80 lakh of energy cost and ₹16 lakh of demand charges per 100-vehicle fleet — modelled, not yet measured, which is exactly what the pilot is for. Socially: flatter evening grid peaks, cheaper electric kilometres, and batteries charged to what the trip needs rather than to maximum. Roadmap: a live depot pilot with real chargers in three months, the watsonx layer at six, and a multi-city SaaS for 1,000+ vehicles with V2G, solar and storage at twelve. Buyers: e-bus operators, last-mile logistics, ride-hailing fleets and charge-point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Dark-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627632" y="1810512"/>
            <a:ext cx="4480560" cy="960120"/>
          </a:xfrm>
          <a:prstGeom prst="rect">
            <a:avLst/>
          </a:prstGeom>
          <a:noFill/>
          <a:ln/>
        </p:spPr>
        <p:txBody>
          <a:bodyPr wrap="square" rtlCol="0"/>
          <a:lstStyle>
            <a:lvl1pPr indent="0" marL="0">
              <a:buNone/>
              <a:defRPr lang="en-US" sz="6000" dirty="0">
                <a:solidFill>
                  <a:srgbClr val="FFFFFF"/>
                </a:solidFill>
              </a:defRPr>
            </a:lvl1pPr>
          </a:lstStyle>
          <a:p>
            <a:pPr indent="0" marL="0">
              <a:buNone/>
            </a:pPr>
            <a:endParaRPr lang="en-US" sz="6000" dirty="0"/>
          </a:p>
        </p:txBody>
      </p:sp>
      <p:sp>
        <p:nvSpPr>
          <p:cNvPr id="3" name="Text 0"/>
          <p:cNvSpPr/>
          <p:nvPr>
            <p:ph idx="101" type="body" hasCustomPrompt="1"/>
          </p:nvPr>
        </p:nvSpPr>
        <p:spPr>
          <a:xfrm>
            <a:off x="640080" y="2944368"/>
            <a:ext cx="5394960" cy="457200"/>
          </a:xfrm>
          <a:prstGeom prst="rect">
            <a:avLst/>
          </a:prstGeom>
          <a:noFill/>
          <a:ln/>
        </p:spPr>
        <p:txBody>
          <a:bodyPr wrap="square" rtlCol="0"/>
          <a:lstStyle>
            <a:lvl1pPr indent="0" marL="0">
              <a:buNone/>
              <a:defRPr lang="en-US" sz="2400" dirty="0">
                <a:solidFill>
                  <a:srgbClr val="A6C8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pic>
        <p:nvPicPr>
          <p:cNvPr id="2" name="Image 0" descr="C:\Users\shahr\AppData\Local\Temp\claude\C--Users-shahr-Downloads-ChargeOut-Command-Center\8bdb56c1-84dc-4179-97f0-b10e2c56a1fe\scratchpad\art\dots_corner.png">    </p:cNvPr>
          <p:cNvPicPr>
            <a:picLocks noChangeAspect="1"/>
          </p:cNvPicPr>
          <p:nvPr/>
        </p:nvPicPr>
        <p:blipFill>
          <a:blip r:embed="rId1"/>
          <a:stretch>
            <a:fillRect/>
          </a:stretch>
        </p:blipFill>
        <p:spPr>
          <a:xfrm>
            <a:off x="8074152" y="0"/>
            <a:ext cx="4114800" cy="2286000"/>
          </a:xfrm>
          <a:prstGeom prst="rect">
            <a:avLst/>
          </a:prstGeom>
        </p:spPr>
      </p:pic>
      <p:sp>
        <p:nvSpPr>
          <p:cNvPr id="3" name="Text 0"/>
          <p:cNvSpPr/>
          <p:nvPr/>
        </p:nvSpPr>
        <p:spPr>
          <a:xfrm>
            <a:off x="548640" y="6419088"/>
            <a:ext cx="7315200" cy="219456"/>
          </a:xfrm>
          <a:prstGeom prst="rect">
            <a:avLst/>
          </a:prstGeom>
          <a:noFill/>
          <a:ln/>
        </p:spPr>
        <p:txBody>
          <a:bodyPr wrap="square" lIns="0" tIns="0" rIns="0" bIns="0" rtlCol="0" anchor="ctr"/>
          <a:lstStyle/>
          <a:p>
            <a:pPr indent="0" marL="0">
              <a:buNone/>
            </a:pPr>
            <a:r>
              <a:rPr lang="en-US" sz="900" dirty="0">
                <a:solidFill>
                  <a:srgbClr val="8D8D8D"/>
                </a:solidFill>
              </a:rPr>
              <a:t>ChargeOpt  ·  VGEC × IBM Bob AI Hackathon 2026  ·  Problem Statement A3</a:t>
            </a:r>
            <a:endParaRPr lang="en-US" sz="900" dirty="0"/>
          </a:p>
        </p:txBody>
      </p:sp>
      <p:sp>
        <p:nvSpPr>
          <p:cNvPr id="4" name="Text 1"/>
          <p:cNvSpPr/>
          <p:nvPr>
            <p:ph idx="102" type="body" hasCustomPrompt="1"/>
          </p:nvPr>
        </p:nvSpPr>
        <p:spPr>
          <a:xfrm>
            <a:off x="548640" y="384048"/>
            <a:ext cx="7315200" cy="237744"/>
          </a:xfrm>
          <a:prstGeom prst="rect">
            <a:avLst/>
          </a:prstGeom>
          <a:noFill/>
          <a:ln/>
        </p:spPr>
        <p:txBody>
          <a:bodyPr wrap="square" rtlCol="0"/>
          <a:lstStyle>
            <a:lvl1pPr indent="0" marL="0">
              <a:buNone/>
              <a:defRPr lang="en-US" sz="1050" spc="200" kern="0" dirty="0">
                <a:solidFill>
                  <a:srgbClr val="0F62FE"/>
                </a:solidFill>
                <a:latin typeface="Consolas" pitchFamily="34" charset="0"/>
                <a:ea typeface="Consolas" pitchFamily="34" charset="-122"/>
                <a:cs typeface="Consolas" pitchFamily="34" charset="-120"/>
              </a:defRPr>
            </a:lvl1pPr>
          </a:lstStyle>
          <a:p>
            <a:pPr indent="0" marL="0">
              <a:buNone/>
            </a:pPr>
            <a:endParaRPr lang="en-US" sz="1050" dirty="0"/>
          </a:p>
        </p:txBody>
      </p:sp>
      <p:sp>
        <p:nvSpPr>
          <p:cNvPr id="5" name="Text 1"/>
          <p:cNvSpPr/>
          <p:nvPr>
            <p:ph idx="103" type="title" hasCustomPrompt="1"/>
          </p:nvPr>
        </p:nvSpPr>
        <p:spPr>
          <a:xfrm>
            <a:off x="548640" y="640080"/>
            <a:ext cx="11091672" cy="548640"/>
          </a:xfrm>
          <a:prstGeom prst="rect">
            <a:avLst/>
          </a:prstGeom>
          <a:noFill/>
          <a:ln/>
        </p:spPr>
        <p:txBody>
          <a:bodyPr wrap="square" rtlCol="0"/>
          <a:lstStyle>
            <a:lvl1pPr indent="0" marL="0">
              <a:buNone/>
              <a:defRPr lang="en-US" sz="2600" dirty="0">
                <a:solidFill>
                  <a:srgbClr val="161616"/>
                </a:solidFill>
              </a:defRPr>
            </a:lvl1pPr>
          </a:lstStyle>
          <a:p>
            <a:pPr indent="0" marL="0">
              <a:buNone/>
            </a:pPr>
            <a:endParaRPr lang="en-US" sz="2600" dirty="0"/>
          </a:p>
        </p:txBody>
      </p:sp>
      <p:sp>
        <p:nvSpPr>
          <p:cNvPr id="6" name="Text 1"/>
          <p:cNvSpPr/>
          <p:nvPr>
            <p:ph idx="104" type="body" hasCustomPrompt="1"/>
          </p:nvPr>
        </p:nvSpPr>
        <p:spPr>
          <a:xfrm>
            <a:off x="548640" y="1188720"/>
            <a:ext cx="11091672" cy="310896"/>
          </a:xfrm>
          <a:prstGeom prst="rect">
            <a:avLst/>
          </a:prstGeom>
          <a:noFill/>
          <a:ln/>
        </p:spPr>
        <p:txBody>
          <a:bodyPr wrap="square" rtlCol="0"/>
          <a:lstStyle>
            <a:lvl1pPr indent="0" marL="0">
              <a:buNone/>
              <a:defRPr lang="en-US" sz="1400" dirty="0">
                <a:solidFill>
                  <a:srgbClr val="525252"/>
                </a:solidFill>
              </a:defRPr>
            </a:lvl1pPr>
          </a:lstStyle>
          <a:p>
            <a:pPr indent="0" marL="0">
              <a:buNone/>
            </a:pPr>
            <a:endParaRPr lang="en-US" sz="1400" dirty="0"/>
          </a:p>
        </p:txBody>
      </p:sp>
      <p:sp>
        <p:nvSpPr>
          <p:cNvPr id="25" name="Slide Number Placeholder 0"/>
          <p:cNvSpPr>
            <a:spLocks noGrp="1"/>
          </p:cNvSpPr>
          <p:nvPr>
            <p:ph type="sldNum" sz="quarter" idx="4294967295"/>
          </p:nvPr>
        </p:nvSpPr>
        <p:spPr>
          <a:xfrm>
            <a:off x="11274552" y="6419088"/>
            <a:ext cx="36576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8D8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19088"/>
            <a:ext cx="7315200" cy="219456"/>
          </a:xfrm>
          <a:prstGeom prst="rect">
            <a:avLst/>
          </a:prstGeom>
          <a:noFill/>
          <a:ln/>
        </p:spPr>
        <p:txBody>
          <a:bodyPr wrap="square" lIns="0" tIns="0" rIns="0" bIns="0" rtlCol="0" anchor="ctr"/>
          <a:lstStyle/>
          <a:p>
            <a:pPr indent="0" marL="0">
              <a:buNone/>
            </a:pPr>
            <a:r>
              <a:rPr lang="en-US" sz="900" dirty="0">
                <a:solidFill>
                  <a:srgbClr val="8EA4D2"/>
                </a:solidFill>
              </a:rPr>
              <a:t>ChargeOpt  ·  VGEC × IBM Bob AI Hackathon 2026  ·  Problem Statement A3</a:t>
            </a:r>
            <a:endParaRPr lang="en-US" sz="900" dirty="0"/>
          </a:p>
        </p:txBody>
      </p:sp>
      <p:sp>
        <p:nvSpPr>
          <p:cNvPr id="3" name="Text 1"/>
          <p:cNvSpPr/>
          <p:nvPr>
            <p:ph idx="101" type="body" hasCustomPrompt="1"/>
          </p:nvPr>
        </p:nvSpPr>
        <p:spPr>
          <a:xfrm>
            <a:off x="548640" y="384048"/>
            <a:ext cx="7315200" cy="237744"/>
          </a:xfrm>
          <a:prstGeom prst="rect">
            <a:avLst/>
          </a:prstGeom>
          <a:noFill/>
          <a:ln/>
        </p:spPr>
        <p:txBody>
          <a:bodyPr wrap="square" rtlCol="0"/>
          <a:lstStyle>
            <a:lvl1pPr indent="0" marL="0">
              <a:buNone/>
              <a:defRPr lang="en-US" sz="1050" spc="200" kern="0" dirty="0">
                <a:solidFill>
                  <a:srgbClr val="33B1FF"/>
                </a:solidFill>
                <a:latin typeface="Consolas" pitchFamily="34" charset="0"/>
                <a:ea typeface="Consolas" pitchFamily="34" charset="-122"/>
                <a:cs typeface="Consolas" pitchFamily="34" charset="-120"/>
              </a:defRPr>
            </a:lvl1pPr>
          </a:lstStyle>
          <a:p>
            <a:pPr indent="0" marL="0">
              <a:buNone/>
            </a:pPr>
            <a:endParaRPr lang="en-US" sz="1050" dirty="0"/>
          </a:p>
        </p:txBody>
      </p:sp>
      <p:sp>
        <p:nvSpPr>
          <p:cNvPr id="4" name="Text 1"/>
          <p:cNvSpPr/>
          <p:nvPr>
            <p:ph idx="102" type="title" hasCustomPrompt="1"/>
          </p:nvPr>
        </p:nvSpPr>
        <p:spPr>
          <a:xfrm>
            <a:off x="548640" y="640080"/>
            <a:ext cx="11091672" cy="548640"/>
          </a:xfrm>
          <a:prstGeom prst="rect">
            <a:avLst/>
          </a:prstGeom>
          <a:noFill/>
          <a:ln/>
        </p:spPr>
        <p:txBody>
          <a:bodyPr wrap="square" rtlCol="0"/>
          <a:lstStyle>
            <a:lvl1pPr indent="0" marL="0">
              <a:buNone/>
              <a:defRPr lang="en-US" sz="2600" dirty="0">
                <a:solidFill>
                  <a:srgbClr val="FFFFFF"/>
                </a:solidFill>
              </a:defRPr>
            </a:lvl1pPr>
          </a:lstStyle>
          <a:p>
            <a:pPr indent="0" marL="0">
              <a:buNone/>
            </a:pPr>
            <a:endParaRPr lang="en-US" sz="2600" dirty="0"/>
          </a:p>
        </p:txBody>
      </p:sp>
      <p:sp>
        <p:nvSpPr>
          <p:cNvPr id="5" name="Text 1"/>
          <p:cNvSpPr/>
          <p:nvPr>
            <p:ph idx="103" type="body" hasCustomPrompt="1"/>
          </p:nvPr>
        </p:nvSpPr>
        <p:spPr>
          <a:xfrm>
            <a:off x="548640" y="1188720"/>
            <a:ext cx="11091672" cy="310896"/>
          </a:xfrm>
          <a:prstGeom prst="rect">
            <a:avLst/>
          </a:prstGeom>
          <a:noFill/>
          <a:ln/>
        </p:spPr>
        <p:txBody>
          <a:bodyPr wrap="square" rtlCol="0"/>
          <a:lstStyle>
            <a:lvl1pPr indent="0" marL="0">
              <a:buNone/>
              <a:defRPr lang="en-US" sz="1400" dirty="0">
                <a:solidFill>
                  <a:srgbClr val="A6C8FF"/>
                </a:solidFill>
              </a:defRPr>
            </a:lvl1pPr>
          </a:lstStyle>
          <a:p>
            <a:pPr indent="0" marL="0">
              <a:buNone/>
            </a:pPr>
            <a:endParaRPr lang="en-US" sz="1400" dirty="0"/>
          </a:p>
        </p:txBody>
      </p:sp>
      <p:sp>
        <p:nvSpPr>
          <p:cNvPr id="25" name="Slide Number Placeholder 0"/>
          <p:cNvSpPr>
            <a:spLocks noGrp="1"/>
          </p:cNvSpPr>
          <p:nvPr>
            <p:ph type="sldNum" sz="quarter" idx="4294967295"/>
          </p:nvPr>
        </p:nvSpPr>
        <p:spPr>
          <a:xfrm>
            <a:off x="11274552" y="6419088"/>
            <a:ext cx="36576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EA4D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36576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8D8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3.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slideLayout" Target="../slideLayouts/slideLayout3.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4.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ashboard" descr="C:\Users\shahr\AppData\Local\Temp\claude\C--Users-shahr-Downloads-ChargeOut-Command-Center\8bdb56c1-84dc-4179-97f0-b10e2c56a1fe\scratchpad\art\hero.png">    </p:cNvPr>
          <p:cNvPicPr>
            <a:picLocks noChangeAspect="1"/>
          </p:cNvPicPr>
          <p:nvPr/>
        </p:nvPicPr>
        <p:blipFill>
          <a:blip r:embed="rId1"/>
          <a:stretch>
            <a:fillRect/>
          </a:stretch>
        </p:blipFill>
        <p:spPr>
          <a:xfrm>
            <a:off x="5760720" y="868680"/>
            <a:ext cx="6675120" cy="4966262"/>
          </a:xfrm>
          <a:prstGeom prst="rect">
            <a:avLst/>
          </a:prstGeom>
        </p:spPr>
      </p:pic>
      <p:sp>
        <p:nvSpPr>
          <p:cNvPr id="3" name="Shape 0"/>
          <p:cNvSpPr/>
          <p:nvPr/>
        </p:nvSpPr>
        <p:spPr>
          <a:xfrm>
            <a:off x="640080" y="603504"/>
            <a:ext cx="3429000" cy="347472"/>
          </a:xfrm>
          <a:prstGeom prst="roundRect">
            <a:avLst>
              <a:gd name="adj" fmla="val 50000"/>
            </a:avLst>
          </a:prstGeom>
          <a:solidFill>
            <a:srgbClr val="FFFFFF">
              <a:alpha val="10000"/>
            </a:srgbClr>
          </a:solidFill>
          <a:ln w="9525">
            <a:solidFill>
              <a:srgbClr val="FFFFFF">
                <a:alpha val="35000"/>
              </a:srgbClr>
            </a:solidFill>
            <a:prstDash val="solid"/>
          </a:ln>
        </p:spPr>
      </p:sp>
      <p:sp>
        <p:nvSpPr>
          <p:cNvPr id="4" name="Shape 1"/>
          <p:cNvSpPr/>
          <p:nvPr/>
        </p:nvSpPr>
        <p:spPr>
          <a:xfrm>
            <a:off x="786384" y="722376"/>
            <a:ext cx="109728" cy="109728"/>
          </a:xfrm>
          <a:prstGeom prst="ellipse">
            <a:avLst/>
          </a:prstGeom>
          <a:solidFill>
            <a:srgbClr val="33B1FF"/>
          </a:solidFill>
          <a:ln/>
        </p:spPr>
      </p:sp>
      <p:sp>
        <p:nvSpPr>
          <p:cNvPr id="5" name="Text 2"/>
          <p:cNvSpPr txBox="1"/>
          <p:nvPr/>
        </p:nvSpPr>
        <p:spPr>
          <a:xfrm>
            <a:off x="969264" y="603504"/>
            <a:ext cx="3017520" cy="347472"/>
          </a:xfrm>
          <a:prstGeom prst="rect">
            <a:avLst/>
          </a:prstGeom>
          <a:noFill/>
          <a:ln/>
        </p:spPr>
        <p:txBody>
          <a:bodyPr wrap="square" lIns="0" tIns="0" rIns="0" bIns="0" rtlCol="0" anchor="ctr"/>
          <a:lstStyle/>
          <a:p>
            <a:pPr indent="0" marL="0">
              <a:buNone/>
            </a:pPr>
            <a:r>
              <a:rPr lang="en-US" sz="1000" spc="150" kern="0" dirty="0">
                <a:solidFill>
                  <a:srgbClr val="FFFFFF"/>
                </a:solidFill>
                <a:latin typeface="Consolas" pitchFamily="34" charset="0"/>
                <a:ea typeface="Consolas" pitchFamily="34" charset="-122"/>
                <a:cs typeface="Consolas" pitchFamily="34" charset="-120"/>
              </a:rPr>
              <a:t>VGEC × IBM BOB AI HACKATHON 2026</a:t>
            </a:r>
            <a:endParaRPr lang="en-US" sz="1000" dirty="0"/>
          </a:p>
        </p:txBody>
      </p:sp>
      <p:sp>
        <p:nvSpPr>
          <p:cNvPr id="6" name="Text 3"/>
          <p:cNvSpPr txBox="1"/>
          <p:nvPr/>
        </p:nvSpPr>
        <p:spPr>
          <a:xfrm>
            <a:off x="640080" y="1426464"/>
            <a:ext cx="5486400" cy="237744"/>
          </a:xfrm>
          <a:prstGeom prst="rect">
            <a:avLst/>
          </a:prstGeom>
          <a:noFill/>
          <a:ln/>
        </p:spPr>
        <p:txBody>
          <a:bodyPr wrap="square" lIns="0" tIns="0" rIns="0" bIns="0" rtlCol="0" anchor="t"/>
          <a:lstStyle/>
          <a:p>
            <a:pPr indent="0" marL="0">
              <a:buNone/>
            </a:pPr>
            <a:r>
              <a:rPr lang="en-US" sz="1050" spc="200" kern="0" dirty="0">
                <a:solidFill>
                  <a:srgbClr val="33B1FF"/>
                </a:solidFill>
                <a:latin typeface="Consolas" pitchFamily="34" charset="0"/>
                <a:ea typeface="Consolas" pitchFamily="34" charset="-122"/>
                <a:cs typeface="Consolas" pitchFamily="34" charset="-120"/>
              </a:rPr>
              <a:t>PROBLEM STATEMENT A3  ·  AUTOMOBILE &amp; MOBILITY</a:t>
            </a:r>
            <a:endParaRPr lang="en-US" sz="1050" dirty="0"/>
          </a:p>
        </p:txBody>
      </p:sp>
      <p:sp>
        <p:nvSpPr>
          <p:cNvPr id="7" name="Shape 4"/>
          <p:cNvSpPr/>
          <p:nvPr/>
        </p:nvSpPr>
        <p:spPr>
          <a:xfrm>
            <a:off x="640080" y="1920240"/>
            <a:ext cx="822960" cy="822960"/>
          </a:xfrm>
          <a:prstGeom prst="roundRect">
            <a:avLst>
              <a:gd name="adj" fmla="val 22000"/>
            </a:avLst>
          </a:prstGeom>
          <a:solidFill>
            <a:srgbClr val="0F62FE"/>
          </a:solidFill>
          <a:ln/>
        </p:spPr>
      </p:sp>
      <p:pic>
        <p:nvPicPr>
          <p:cNvPr id="8" name="Image 1" descr="preencoded.png">    </p:cNvPr>
          <p:cNvPicPr>
            <a:picLocks noChangeAspect="1"/>
          </p:cNvPicPr>
          <p:nvPr/>
        </p:nvPicPr>
        <p:blipFill>
          <a:blip r:embed="rId2"/>
          <a:stretch>
            <a:fillRect/>
          </a:stretch>
        </p:blipFill>
        <p:spPr>
          <a:xfrm>
            <a:off x="812902" y="2093062"/>
            <a:ext cx="477317" cy="477317"/>
          </a:xfrm>
          <a:prstGeom prst="rect">
            <a:avLst/>
          </a:prstGeom>
        </p:spPr>
      </p:pic>
      <p:sp>
        <p:nvSpPr>
          <p:cNvPr id="9" name="Text 0"/>
          <p:cNvSpPr/>
          <p:nvPr>
            <p:ph idx="100" type="title" hasCustomPrompt="1"/>
          </p:nvPr>
        </p:nvSpPr>
        <p:spPr>
          <a:xfrm>
            <a:off x="1627632" y="1810512"/>
            <a:ext cx="4480560" cy="960120"/>
          </a:xfrm>
          <a:prstGeom prst="rect">
            <a:avLst/>
          </a:prstGeom>
          <a:noFill/>
          <a:ln/>
        </p:spPr>
        <p:txBody>
          <a:bodyPr wrap="square" lIns="0" tIns="0" rIns="0" bIns="0" rtlCol="0" anchor="ctr"/>
          <a:lstStyle/>
          <a:p>
            <a:pPr indent="0" marL="0">
              <a:buNone/>
            </a:pPr>
            <a:r>
              <a:rPr lang="en-US" sz="6000" dirty="0">
                <a:solidFill>
                  <a:srgbClr val="FFFFFF"/>
                </a:solidFill>
              </a:rPr>
              <a:t>ChargeOpt</a:t>
            </a:r>
            <a:endParaRPr lang="en-US" sz="6000" dirty="0"/>
          </a:p>
        </p:txBody>
      </p:sp>
      <p:sp>
        <p:nvSpPr>
          <p:cNvPr id="10" name="Text 0"/>
          <p:cNvSpPr/>
          <p:nvPr>
            <p:ph idx="101" type="body" hasCustomPrompt="1"/>
          </p:nvPr>
        </p:nvSpPr>
        <p:spPr>
          <a:xfrm>
            <a:off x="640080" y="2944368"/>
            <a:ext cx="5394960" cy="457200"/>
          </a:xfrm>
          <a:prstGeom prst="rect">
            <a:avLst/>
          </a:prstGeom>
          <a:noFill/>
          <a:ln/>
        </p:spPr>
        <p:txBody>
          <a:bodyPr wrap="square" lIns="0" tIns="0" rIns="0" bIns="0" rtlCol="0" anchor="t"/>
          <a:lstStyle/>
          <a:p>
            <a:pPr indent="0" marL="0">
              <a:buNone/>
            </a:pPr>
            <a:r>
              <a:rPr lang="en-US" sz="2400" dirty="0">
                <a:solidFill>
                  <a:srgbClr val="A6C8FF"/>
                </a:solidFill>
              </a:rPr>
              <a:t>EV Fleet Charging Optimisation Engine</a:t>
            </a:r>
            <a:endParaRPr lang="en-US" sz="2400" dirty="0"/>
          </a:p>
        </p:txBody>
      </p:sp>
      <p:sp>
        <p:nvSpPr>
          <p:cNvPr id="11" name="Text 7"/>
          <p:cNvSpPr txBox="1"/>
          <p:nvPr/>
        </p:nvSpPr>
        <p:spPr>
          <a:xfrm>
            <a:off x="640080" y="3529584"/>
            <a:ext cx="4846320" cy="658368"/>
          </a:xfrm>
          <a:prstGeom prst="rect">
            <a:avLst/>
          </a:prstGeom>
          <a:noFill/>
          <a:ln/>
        </p:spPr>
        <p:txBody>
          <a:bodyPr wrap="square" lIns="0" tIns="0" rIns="0" bIns="0" rtlCol="0" anchor="t"/>
          <a:lstStyle/>
          <a:p>
            <a:pPr indent="0" marL="0">
              <a:lnSpc>
                <a:spcPct val="110000"/>
              </a:lnSpc>
              <a:buNone/>
            </a:pPr>
            <a:r>
              <a:rPr lang="en-US" sz="1500" dirty="0">
                <a:solidFill>
                  <a:srgbClr val="D0E2FF"/>
                </a:solidFill>
              </a:rPr>
              <a:t>Every vehicle ready for departure. Every kilowatt-hour in the cheapest window that allows it.</a:t>
            </a:r>
            <a:endParaRPr lang="en-US" sz="1500" dirty="0"/>
          </a:p>
        </p:txBody>
      </p:sp>
      <p:sp>
        <p:nvSpPr>
          <p:cNvPr id="12" name="Text 8"/>
          <p:cNvSpPr txBox="1"/>
          <p:nvPr/>
        </p:nvSpPr>
        <p:spPr>
          <a:xfrm>
            <a:off x="640080" y="4526280"/>
            <a:ext cx="1645920" cy="502920"/>
          </a:xfrm>
          <a:prstGeom prst="rect">
            <a:avLst/>
          </a:prstGeom>
          <a:noFill/>
          <a:ln/>
        </p:spPr>
        <p:txBody>
          <a:bodyPr wrap="square" lIns="0" tIns="0" rIns="0" bIns="0" rtlCol="0" anchor="t"/>
          <a:lstStyle/>
          <a:p>
            <a:pPr indent="0" marL="0">
              <a:buNone/>
            </a:pPr>
            <a:r>
              <a:rPr lang="en-US" sz="3000" dirty="0">
                <a:solidFill>
                  <a:srgbClr val="FFFFFF"/>
                </a:solidFill>
                <a:latin typeface="+mj-lt" pitchFamily="34" charset="0"/>
                <a:ea typeface="+mj-lt" pitchFamily="34" charset="-122"/>
                <a:cs typeface="+mj-lt" pitchFamily="34" charset="-120"/>
              </a:rPr>
              <a:t>−59%</a:t>
            </a:r>
            <a:endParaRPr lang="en-US" sz="3000" dirty="0"/>
          </a:p>
        </p:txBody>
      </p:sp>
      <p:sp>
        <p:nvSpPr>
          <p:cNvPr id="13" name="Text 9"/>
          <p:cNvSpPr txBox="1"/>
          <p:nvPr/>
        </p:nvSpPr>
        <p:spPr>
          <a:xfrm>
            <a:off x="640080" y="5047488"/>
            <a:ext cx="1645920" cy="420624"/>
          </a:xfrm>
          <a:prstGeom prst="rect">
            <a:avLst/>
          </a:prstGeom>
          <a:noFill/>
          <a:ln/>
        </p:spPr>
        <p:txBody>
          <a:bodyPr wrap="square" lIns="0" tIns="0" rIns="0" bIns="0" rtlCol="0" anchor="t"/>
          <a:lstStyle/>
          <a:p>
            <a:pPr indent="0" marL="0">
              <a:buNone/>
            </a:pPr>
            <a:r>
              <a:rPr lang="en-US" sz="1050" dirty="0">
                <a:solidFill>
                  <a:srgbClr val="A6C8FF"/>
                </a:solidFill>
              </a:rPr>
              <a:t>charging energy cost</a:t>
            </a:r>
            <a:endParaRPr lang="en-US" sz="1050" dirty="0"/>
          </a:p>
          <a:p>
            <a:pPr indent="0" marL="0">
              <a:buNone/>
            </a:pPr>
            <a:r>
              <a:rPr lang="en-US" sz="1050" dirty="0">
                <a:solidFill>
                  <a:srgbClr val="A6C8FF"/>
                </a:solidFill>
              </a:rPr>
              <a:t>per day</a:t>
            </a:r>
            <a:endParaRPr lang="en-US" sz="1050" dirty="0"/>
          </a:p>
        </p:txBody>
      </p:sp>
      <p:sp>
        <p:nvSpPr>
          <p:cNvPr id="14" name="Text 10"/>
          <p:cNvSpPr txBox="1"/>
          <p:nvPr/>
        </p:nvSpPr>
        <p:spPr>
          <a:xfrm>
            <a:off x="2423160" y="4526280"/>
            <a:ext cx="1645920" cy="502920"/>
          </a:xfrm>
          <a:prstGeom prst="rect">
            <a:avLst/>
          </a:prstGeom>
          <a:noFill/>
          <a:ln/>
        </p:spPr>
        <p:txBody>
          <a:bodyPr wrap="square" lIns="0" tIns="0" rIns="0" bIns="0" rtlCol="0" anchor="t"/>
          <a:lstStyle/>
          <a:p>
            <a:pPr indent="0" marL="0">
              <a:buNone/>
            </a:pPr>
            <a:r>
              <a:rPr lang="en-US" sz="3000" dirty="0">
                <a:solidFill>
                  <a:srgbClr val="FFFFFF"/>
                </a:solidFill>
                <a:latin typeface="+mj-lt" pitchFamily="34" charset="0"/>
                <a:ea typeface="+mj-lt" pitchFamily="34" charset="-122"/>
                <a:cs typeface="+mj-lt" pitchFamily="34" charset="-120"/>
              </a:rPr>
              <a:t>93.9%</a:t>
            </a:r>
            <a:endParaRPr lang="en-US" sz="3000" dirty="0"/>
          </a:p>
        </p:txBody>
      </p:sp>
      <p:sp>
        <p:nvSpPr>
          <p:cNvPr id="15" name="Text 11"/>
          <p:cNvSpPr txBox="1"/>
          <p:nvPr/>
        </p:nvSpPr>
        <p:spPr>
          <a:xfrm>
            <a:off x="2423160" y="5047488"/>
            <a:ext cx="1645920" cy="420624"/>
          </a:xfrm>
          <a:prstGeom prst="rect">
            <a:avLst/>
          </a:prstGeom>
          <a:noFill/>
          <a:ln/>
        </p:spPr>
        <p:txBody>
          <a:bodyPr wrap="square" lIns="0" tIns="0" rIns="0" bIns="0" rtlCol="0" anchor="t"/>
          <a:lstStyle/>
          <a:p>
            <a:pPr indent="0" marL="0">
              <a:buNone/>
            </a:pPr>
            <a:r>
              <a:rPr lang="en-US" sz="1050" dirty="0">
                <a:solidFill>
                  <a:srgbClr val="A6C8FF"/>
                </a:solidFill>
              </a:rPr>
              <a:t>projected departure</a:t>
            </a:r>
            <a:endParaRPr lang="en-US" sz="1050" dirty="0"/>
          </a:p>
          <a:p>
            <a:pPr indent="0" marL="0">
              <a:buNone/>
            </a:pPr>
            <a:r>
              <a:rPr lang="en-US" sz="1050" dirty="0">
                <a:solidFill>
                  <a:srgbClr val="A6C8FF"/>
                </a:solidFill>
              </a:rPr>
              <a:t>readiness</a:t>
            </a:r>
            <a:endParaRPr lang="en-US" sz="1050" dirty="0"/>
          </a:p>
        </p:txBody>
      </p:sp>
      <p:sp>
        <p:nvSpPr>
          <p:cNvPr id="16" name="Shape 12"/>
          <p:cNvSpPr/>
          <p:nvPr/>
        </p:nvSpPr>
        <p:spPr>
          <a:xfrm>
            <a:off x="2240280" y="4590288"/>
            <a:ext cx="0" cy="822960"/>
          </a:xfrm>
          <a:prstGeom prst="line">
            <a:avLst/>
          </a:prstGeom>
          <a:noFill/>
          <a:ln w="9525">
            <a:solidFill>
              <a:srgbClr val="FFFFFF">
                <a:alpha val="25000"/>
              </a:srgbClr>
            </a:solidFill>
            <a:prstDash val="solid"/>
          </a:ln>
        </p:spPr>
      </p:sp>
      <p:sp>
        <p:nvSpPr>
          <p:cNvPr id="17" name="Text 13"/>
          <p:cNvSpPr txBox="1"/>
          <p:nvPr/>
        </p:nvSpPr>
        <p:spPr>
          <a:xfrm>
            <a:off x="4206240" y="4526280"/>
            <a:ext cx="1645920" cy="502920"/>
          </a:xfrm>
          <a:prstGeom prst="rect">
            <a:avLst/>
          </a:prstGeom>
          <a:noFill/>
          <a:ln/>
        </p:spPr>
        <p:txBody>
          <a:bodyPr wrap="square" lIns="0" tIns="0" rIns="0" bIns="0" rtlCol="0" anchor="t"/>
          <a:lstStyle/>
          <a:p>
            <a:pPr indent="0" marL="0">
              <a:buNone/>
            </a:pPr>
            <a:r>
              <a:rPr lang="en-US" sz="3000" dirty="0">
                <a:solidFill>
                  <a:srgbClr val="FFFFFF"/>
                </a:solidFill>
                <a:latin typeface="+mj-lt" pitchFamily="34" charset="0"/>
                <a:ea typeface="+mj-lt" pitchFamily="34" charset="-122"/>
                <a:cs typeface="+mj-lt" pitchFamily="34" charset="-120"/>
              </a:rPr>
              <a:t>93 ms</a:t>
            </a:r>
            <a:endParaRPr lang="en-US" sz="3000" dirty="0"/>
          </a:p>
        </p:txBody>
      </p:sp>
      <p:sp>
        <p:nvSpPr>
          <p:cNvPr id="18" name="Text 14"/>
          <p:cNvSpPr txBox="1"/>
          <p:nvPr/>
        </p:nvSpPr>
        <p:spPr>
          <a:xfrm>
            <a:off x="4206240" y="5047488"/>
            <a:ext cx="1645920" cy="420624"/>
          </a:xfrm>
          <a:prstGeom prst="rect">
            <a:avLst/>
          </a:prstGeom>
          <a:noFill/>
          <a:ln/>
        </p:spPr>
        <p:txBody>
          <a:bodyPr wrap="square" lIns="0" tIns="0" rIns="0" bIns="0" rtlCol="0" anchor="t"/>
          <a:lstStyle/>
          <a:p>
            <a:pPr indent="0" marL="0">
              <a:buNone/>
            </a:pPr>
            <a:r>
              <a:rPr lang="en-US" sz="1050" dirty="0">
                <a:solidFill>
                  <a:srgbClr val="A6C8FF"/>
                </a:solidFill>
              </a:rPr>
              <a:t>full-fleet re-plan</a:t>
            </a:r>
            <a:endParaRPr lang="en-US" sz="1050" dirty="0"/>
          </a:p>
          <a:p>
            <a:pPr indent="0" marL="0">
              <a:buNone/>
            </a:pPr>
            <a:r>
              <a:rPr lang="en-US" sz="1050" dirty="0">
                <a:solidFill>
                  <a:srgbClr val="A6C8FF"/>
                </a:solidFill>
              </a:rPr>
              <a:t>for 100 EVs</a:t>
            </a:r>
            <a:endParaRPr lang="en-US" sz="1050" dirty="0"/>
          </a:p>
        </p:txBody>
      </p:sp>
      <p:sp>
        <p:nvSpPr>
          <p:cNvPr id="19" name="Shape 15"/>
          <p:cNvSpPr/>
          <p:nvPr/>
        </p:nvSpPr>
        <p:spPr>
          <a:xfrm>
            <a:off x="4023360" y="4590288"/>
            <a:ext cx="0" cy="822960"/>
          </a:xfrm>
          <a:prstGeom prst="line">
            <a:avLst/>
          </a:prstGeom>
          <a:noFill/>
          <a:ln w="9525">
            <a:solidFill>
              <a:srgbClr val="FFFFFF">
                <a:alpha val="25000"/>
              </a:srgbClr>
            </a:solidFill>
            <a:prstDash val="solid"/>
          </a:ln>
        </p:spPr>
      </p:sp>
      <p:sp>
        <p:nvSpPr>
          <p:cNvPr id="20" name="Shape 16"/>
          <p:cNvSpPr/>
          <p:nvPr/>
        </p:nvSpPr>
        <p:spPr>
          <a:xfrm>
            <a:off x="640080" y="5779008"/>
            <a:ext cx="2011680" cy="365760"/>
          </a:xfrm>
          <a:prstGeom prst="roundRect">
            <a:avLst>
              <a:gd name="adj" fmla="val 50000"/>
            </a:avLst>
          </a:prstGeom>
          <a:solidFill>
            <a:srgbClr val="0F62FE"/>
          </a:solidFill>
          <a:ln/>
        </p:spPr>
      </p:sp>
      <p:pic>
        <p:nvPicPr>
          <p:cNvPr id="21" name="Image 2" descr="preencoded.png">    </p:cNvPr>
          <p:cNvPicPr>
            <a:picLocks noChangeAspect="1"/>
          </p:cNvPicPr>
          <p:nvPr/>
        </p:nvPicPr>
        <p:blipFill>
          <a:blip r:embed="rId3"/>
          <a:stretch>
            <a:fillRect/>
          </a:stretch>
        </p:blipFill>
        <p:spPr>
          <a:xfrm>
            <a:off x="768096" y="5852160"/>
            <a:ext cx="219456" cy="219456"/>
          </a:xfrm>
          <a:prstGeom prst="rect">
            <a:avLst/>
          </a:prstGeom>
        </p:spPr>
      </p:pic>
      <p:sp>
        <p:nvSpPr>
          <p:cNvPr id="22" name="Text 17"/>
          <p:cNvSpPr txBox="1"/>
          <p:nvPr/>
        </p:nvSpPr>
        <p:spPr>
          <a:xfrm>
            <a:off x="1042416" y="5779008"/>
            <a:ext cx="1554480" cy="365760"/>
          </a:xfrm>
          <a:prstGeom prst="rect">
            <a:avLst/>
          </a:prstGeom>
          <a:noFill/>
          <a:ln/>
        </p:spPr>
        <p:txBody>
          <a:bodyPr wrap="square" lIns="0" tIns="0" rIns="0" bIns="0" rtlCol="0" anchor="ctr"/>
          <a:lstStyle/>
          <a:p>
            <a:pPr indent="0" marL="0">
              <a:buNone/>
            </a:pPr>
            <a:r>
              <a:rPr lang="en-US" sz="1100" dirty="0">
                <a:solidFill>
                  <a:srgbClr val="FFFFFF"/>
                </a:solidFill>
                <a:latin typeface="+mj-lt" pitchFamily="34" charset="0"/>
                <a:ea typeface="+mj-lt" pitchFamily="34" charset="-122"/>
                <a:cs typeface="+mj-lt" pitchFamily="34" charset="-120"/>
              </a:rPr>
              <a:t>Built with IBM Bob</a:t>
            </a:r>
            <a:endParaRPr lang="en-US" sz="1100" dirty="0"/>
          </a:p>
        </p:txBody>
      </p:sp>
      <p:sp>
        <p:nvSpPr>
          <p:cNvPr id="23" name="Shape 18"/>
          <p:cNvSpPr/>
          <p:nvPr/>
        </p:nvSpPr>
        <p:spPr>
          <a:xfrm>
            <a:off x="2779776" y="5779008"/>
            <a:ext cx="2331720" cy="365760"/>
          </a:xfrm>
          <a:prstGeom prst="roundRect">
            <a:avLst>
              <a:gd name="adj" fmla="val 50000"/>
            </a:avLst>
          </a:prstGeom>
          <a:solidFill>
            <a:srgbClr val="8A3FFC">
              <a:alpha val="85000"/>
            </a:srgbClr>
          </a:solidFill>
          <a:ln/>
        </p:spPr>
      </p:sp>
      <p:pic>
        <p:nvPicPr>
          <p:cNvPr id="24" name="Image 3" descr="preencoded.png">    </p:cNvPr>
          <p:cNvPicPr>
            <a:picLocks noChangeAspect="1"/>
          </p:cNvPicPr>
          <p:nvPr/>
        </p:nvPicPr>
        <p:blipFill>
          <a:blip r:embed="rId4"/>
          <a:stretch>
            <a:fillRect/>
          </a:stretch>
        </p:blipFill>
        <p:spPr>
          <a:xfrm>
            <a:off x="2907792" y="5852160"/>
            <a:ext cx="219456" cy="219456"/>
          </a:xfrm>
          <a:prstGeom prst="rect">
            <a:avLst/>
          </a:prstGeom>
        </p:spPr>
      </p:pic>
      <p:sp>
        <p:nvSpPr>
          <p:cNvPr id="25" name="Text 19"/>
          <p:cNvSpPr txBox="1"/>
          <p:nvPr/>
        </p:nvSpPr>
        <p:spPr>
          <a:xfrm>
            <a:off x="3182112" y="5779008"/>
            <a:ext cx="1874520" cy="365760"/>
          </a:xfrm>
          <a:prstGeom prst="rect">
            <a:avLst/>
          </a:prstGeom>
          <a:noFill/>
          <a:ln/>
        </p:spPr>
        <p:txBody>
          <a:bodyPr wrap="square" lIns="0" tIns="0" rIns="0" bIns="0" rtlCol="0" anchor="ctr"/>
          <a:lstStyle/>
          <a:p>
            <a:pPr indent="0" marL="0">
              <a:buNone/>
            </a:pPr>
            <a:r>
              <a:rPr lang="en-US" sz="1100" dirty="0">
                <a:solidFill>
                  <a:srgbClr val="FFFFFF"/>
                </a:solidFill>
                <a:latin typeface="+mj-lt" pitchFamily="34" charset="0"/>
                <a:ea typeface="+mj-lt" pitchFamily="34" charset="-122"/>
                <a:cs typeface="+mj-lt" pitchFamily="34" charset="-120"/>
              </a:rPr>
              <a:t>watsonx-ready design</a:t>
            </a:r>
            <a:endParaRPr lang="en-US" sz="1100" dirty="0"/>
          </a:p>
        </p:txBody>
      </p:sp>
      <p:sp>
        <p:nvSpPr>
          <p:cNvPr id="26" name="Text 20"/>
          <p:cNvSpPr txBox="1"/>
          <p:nvPr/>
        </p:nvSpPr>
        <p:spPr>
          <a:xfrm>
            <a:off x="640080" y="6355080"/>
            <a:ext cx="6583680" cy="274320"/>
          </a:xfrm>
          <a:prstGeom prst="rect">
            <a:avLst/>
          </a:prstGeom>
          <a:noFill/>
          <a:ln/>
        </p:spPr>
        <p:txBody>
          <a:bodyPr wrap="square" lIns="0" tIns="0" rIns="0" bIns="0" rtlCol="0" anchor="t"/>
          <a:lstStyle/>
          <a:p>
            <a:pPr indent="0" marL="0">
              <a:buNone/>
            </a:pPr>
            <a:r>
              <a:rPr lang="en-US" sz="900" dirty="0">
                <a:solidFill>
                  <a:srgbClr val="8EA4D2"/>
                </a:solidFill>
              </a:rPr>
              <a:t>Figures modelled on a simulated 100-EV fleet: static first-come-first-served baseline vs ChargeOpt rules, same snapshot.</a:t>
            </a:r>
            <a:endParaRPr lang="en-US" sz="900" dirty="0"/>
          </a:p>
        </p:txBody>
      </p:sp>
      <p:sp>
        <p:nvSpPr>
          <p:cNvPr id="27" name="Shape 21"/>
          <p:cNvSpPr/>
          <p:nvPr/>
        </p:nvSpPr>
        <p:spPr>
          <a:xfrm>
            <a:off x="6172200" y="4846320"/>
            <a:ext cx="2697480" cy="676656"/>
          </a:xfrm>
          <a:prstGeom prst="roundRect">
            <a:avLst>
              <a:gd name="adj" fmla="val 13514"/>
            </a:avLst>
          </a:prstGeom>
          <a:solidFill>
            <a:srgbClr val="FFFFFF"/>
          </a:solidFill>
          <a:ln/>
          <a:effectLst>
            <a:outerShdw sx="100000" sy="100000" kx="0" ky="0" algn="bl" rotWithShape="0" blurRad="228600" dist="50800" dir="5400000">
              <a:srgbClr val="0A1E4A">
                <a:alpha val="35000"/>
              </a:srgbClr>
            </a:outerShdw>
          </a:effectLst>
        </p:spPr>
      </p:sp>
      <p:sp>
        <p:nvSpPr>
          <p:cNvPr id="28" name="Shape 22"/>
          <p:cNvSpPr/>
          <p:nvPr/>
        </p:nvSpPr>
        <p:spPr>
          <a:xfrm>
            <a:off x="6300216" y="4983480"/>
            <a:ext cx="402336" cy="402336"/>
          </a:xfrm>
          <a:prstGeom prst="ellipse">
            <a:avLst/>
          </a:prstGeom>
          <a:solidFill>
            <a:srgbClr val="DA1E28"/>
          </a:solidFill>
          <a:ln/>
        </p:spPr>
      </p:sp>
      <p:pic>
        <p:nvPicPr>
          <p:cNvPr id="29" name="Image 4" descr="preencoded.png">    </p:cNvPr>
          <p:cNvPicPr>
            <a:picLocks noChangeAspect="1"/>
          </p:cNvPicPr>
          <p:nvPr/>
        </p:nvPicPr>
        <p:blipFill>
          <a:blip r:embed="rId5"/>
          <a:stretch>
            <a:fillRect/>
          </a:stretch>
        </p:blipFill>
        <p:spPr>
          <a:xfrm>
            <a:off x="6388730" y="5071994"/>
            <a:ext cx="225308" cy="225308"/>
          </a:xfrm>
          <a:prstGeom prst="rect">
            <a:avLst/>
          </a:prstGeom>
        </p:spPr>
      </p:pic>
      <p:sp>
        <p:nvSpPr>
          <p:cNvPr id="30" name="Text 23"/>
          <p:cNvSpPr txBox="1"/>
          <p:nvPr/>
        </p:nvSpPr>
        <p:spPr>
          <a:xfrm>
            <a:off x="6812280" y="4956048"/>
            <a:ext cx="1965960" cy="237744"/>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EV-042 · P1 emergency</a:t>
            </a:r>
            <a:endParaRPr lang="en-US" sz="1100" dirty="0"/>
          </a:p>
        </p:txBody>
      </p:sp>
      <p:sp>
        <p:nvSpPr>
          <p:cNvPr id="31" name="Text 24"/>
          <p:cNvSpPr txBox="1"/>
          <p:nvPr/>
        </p:nvSpPr>
        <p:spPr>
          <a:xfrm>
            <a:off x="6812280" y="5202936"/>
            <a:ext cx="1965960" cy="219456"/>
          </a:xfrm>
          <a:prstGeom prst="rect">
            <a:avLst/>
          </a:prstGeom>
          <a:noFill/>
          <a:ln/>
        </p:spPr>
        <p:txBody>
          <a:bodyPr wrap="square" lIns="0" tIns="0" rIns="0" bIns="0" rtlCol="0" anchor="t"/>
          <a:lstStyle/>
          <a:p>
            <a:pPr indent="0" marL="0">
              <a:buNone/>
            </a:pPr>
            <a:r>
              <a:rPr lang="en-US" sz="1000" dirty="0">
                <a:solidFill>
                  <a:srgbClr val="525252"/>
                </a:solidFill>
              </a:rPr>
              <a:t>Overrides tariff, charges now</a:t>
            </a:r>
            <a:endParaRPr lang="en-US" sz="1000" dirty="0"/>
          </a:p>
        </p:txBody>
      </p:sp>
      <p:sp>
        <p:nvSpPr>
          <p:cNvPr id="32" name="Shape 25"/>
          <p:cNvSpPr/>
          <p:nvPr/>
        </p:nvSpPr>
        <p:spPr>
          <a:xfrm>
            <a:off x="9281160" y="566928"/>
            <a:ext cx="2606040" cy="676656"/>
          </a:xfrm>
          <a:prstGeom prst="roundRect">
            <a:avLst>
              <a:gd name="adj" fmla="val 13514"/>
            </a:avLst>
          </a:prstGeom>
          <a:solidFill>
            <a:srgbClr val="FFFFFF"/>
          </a:solidFill>
          <a:ln/>
          <a:effectLst>
            <a:outerShdw sx="100000" sy="100000" kx="0" ky="0" algn="bl" rotWithShape="0" blurRad="228600" dist="50800" dir="5400000">
              <a:srgbClr val="0A1E4A">
                <a:alpha val="35000"/>
              </a:srgbClr>
            </a:outerShdw>
          </a:effectLst>
        </p:spPr>
      </p:sp>
      <p:sp>
        <p:nvSpPr>
          <p:cNvPr id="33" name="Shape 26"/>
          <p:cNvSpPr/>
          <p:nvPr/>
        </p:nvSpPr>
        <p:spPr>
          <a:xfrm>
            <a:off x="9409176" y="704088"/>
            <a:ext cx="402336" cy="402336"/>
          </a:xfrm>
          <a:prstGeom prst="ellipse">
            <a:avLst/>
          </a:prstGeom>
          <a:solidFill>
            <a:srgbClr val="009D9A"/>
          </a:solidFill>
          <a:ln/>
        </p:spPr>
      </p:sp>
      <p:pic>
        <p:nvPicPr>
          <p:cNvPr id="34" name="Image 5" descr="preencoded.png">    </p:cNvPr>
          <p:cNvPicPr>
            <a:picLocks noChangeAspect="1"/>
          </p:cNvPicPr>
          <p:nvPr/>
        </p:nvPicPr>
        <p:blipFill>
          <a:blip r:embed="rId6"/>
          <a:stretch>
            <a:fillRect/>
          </a:stretch>
        </p:blipFill>
        <p:spPr>
          <a:xfrm>
            <a:off x="9497690" y="792602"/>
            <a:ext cx="225308" cy="225308"/>
          </a:xfrm>
          <a:prstGeom prst="rect">
            <a:avLst/>
          </a:prstGeom>
        </p:spPr>
      </p:pic>
      <p:sp>
        <p:nvSpPr>
          <p:cNvPr id="35" name="Text 27"/>
          <p:cNvSpPr txBox="1"/>
          <p:nvPr/>
        </p:nvSpPr>
        <p:spPr>
          <a:xfrm>
            <a:off x="9921240" y="676656"/>
            <a:ext cx="1874520" cy="237744"/>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Shifted to off-peak</a:t>
            </a:r>
            <a:endParaRPr lang="en-US" sz="1100" dirty="0"/>
          </a:p>
        </p:txBody>
      </p:sp>
      <p:sp>
        <p:nvSpPr>
          <p:cNvPr id="36" name="Text 28"/>
          <p:cNvSpPr txBox="1"/>
          <p:nvPr/>
        </p:nvSpPr>
        <p:spPr>
          <a:xfrm>
            <a:off x="9921240" y="923544"/>
            <a:ext cx="1874520" cy="219456"/>
          </a:xfrm>
          <a:prstGeom prst="rect">
            <a:avLst/>
          </a:prstGeom>
          <a:noFill/>
          <a:ln/>
        </p:spPr>
        <p:txBody>
          <a:bodyPr wrap="square" lIns="0" tIns="0" rIns="0" bIns="0" rtlCol="0" anchor="t"/>
          <a:lstStyle/>
          <a:p>
            <a:pPr indent="0" marL="0">
              <a:buNone/>
            </a:pPr>
            <a:r>
              <a:rPr lang="en-US" sz="1000" dirty="0">
                <a:solidFill>
                  <a:srgbClr val="525252"/>
                </a:solidFill>
              </a:rPr>
              <a:t>₹11.40 → ₹5.60 per kWh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7315200" cy="237744"/>
          </a:xfrm>
          <a:prstGeom prst="rect">
            <a:avLst/>
          </a:prstGeom>
          <a:noFill/>
          <a:ln/>
        </p:spPr>
        <p:txBody>
          <a:bodyPr wrap="square" lIns="0" tIns="0" rIns="0" bIns="0" rtlCol="0" anchor="t"/>
          <a:lstStyle/>
          <a:p>
            <a:pPr indent="0" marL="0">
              <a:buNone/>
            </a:pPr>
            <a:r>
              <a:rPr lang="en-US" sz="1050" spc="200" kern="0" dirty="0">
                <a:solidFill>
                  <a:srgbClr val="0F62FE"/>
                </a:solidFill>
                <a:latin typeface="Consolas" pitchFamily="34" charset="0"/>
                <a:ea typeface="Consolas" pitchFamily="34" charset="-122"/>
                <a:cs typeface="Consolas" pitchFamily="34" charset="-120"/>
              </a:rPr>
              <a:t>02  ·  THE PROBLEM  ·  STATEMENT A3</a:t>
            </a:r>
            <a:endParaRPr lang="en-US" sz="1050" dirty="0"/>
          </a:p>
        </p:txBody>
      </p:sp>
      <p:sp>
        <p:nvSpPr>
          <p:cNvPr id="3" name="Text 1"/>
          <p:cNvSpPr/>
          <p:nvPr>
            <p:ph idx="103" type="title" hasCustomPrompt="1"/>
          </p:nvPr>
        </p:nvSpPr>
        <p:spPr>
          <a:xfrm>
            <a:off x="548640" y="640080"/>
            <a:ext cx="11091672" cy="548640"/>
          </a:xfrm>
          <a:prstGeom prst="rect">
            <a:avLst/>
          </a:prstGeom>
          <a:noFill/>
          <a:ln/>
        </p:spPr>
        <p:txBody>
          <a:bodyPr wrap="square" lIns="0" tIns="0" rIns="0" bIns="0" rtlCol="0" anchor="t"/>
          <a:lstStyle/>
          <a:p>
            <a:pPr indent="0" marL="0">
              <a:buNone/>
            </a:pPr>
            <a:r>
              <a:rPr lang="en-US" sz="2600" dirty="0">
                <a:solidFill>
                  <a:srgbClr val="161616"/>
                </a:solidFill>
              </a:rPr>
              <a:t>Static charging pays peak prices and still misses departures</a:t>
            </a:r>
            <a:endParaRPr lang="en-US" sz="2600" dirty="0"/>
          </a:p>
        </p:txBody>
      </p:sp>
      <p:sp>
        <p:nvSpPr>
          <p:cNvPr id="4" name="Text 1"/>
          <p:cNvSpPr/>
          <p:nvPr>
            <p:ph idx="104" type="body" hasCustomPrompt="1"/>
          </p:nvPr>
        </p:nvSpPr>
        <p:spPr>
          <a:xfrm>
            <a:off x="548640" y="1188720"/>
            <a:ext cx="11091672" cy="310896"/>
          </a:xfrm>
          <a:prstGeom prst="rect">
            <a:avLst/>
          </a:prstGeom>
          <a:noFill/>
          <a:ln/>
        </p:spPr>
        <p:txBody>
          <a:bodyPr wrap="square" lIns="0" tIns="0" rIns="0" bIns="0" rtlCol="0" anchor="t"/>
          <a:lstStyle/>
          <a:p>
            <a:pPr indent="0" marL="0">
              <a:buNone/>
            </a:pPr>
            <a:r>
              <a:rPr lang="en-US" sz="1400" dirty="0">
                <a:solidFill>
                  <a:srgbClr val="525252"/>
                </a:solidFill>
              </a:rPr>
              <a:t>EV fleets charge on fixed schedules that ignore tariff windows, trip deadlines, charger limits and battery health.</a:t>
            </a:r>
            <a:endParaRPr lang="en-US" sz="1400" dirty="0"/>
          </a:p>
        </p:txBody>
      </p:sp>
      <p:sp>
        <p:nvSpPr>
          <p:cNvPr id="5" name="Shape 3"/>
          <p:cNvSpPr/>
          <p:nvPr/>
        </p:nvSpPr>
        <p:spPr>
          <a:xfrm>
            <a:off x="548640" y="1783080"/>
            <a:ext cx="3246120" cy="2423160"/>
          </a:xfrm>
          <a:prstGeom prst="roundRect">
            <a:avLst>
              <a:gd name="adj" fmla="val 3019"/>
            </a:avLst>
          </a:prstGeom>
          <a:solidFill>
            <a:srgbClr val="F2F4F8"/>
          </a:solidFill>
          <a:ln/>
        </p:spPr>
      </p:sp>
      <p:sp>
        <p:nvSpPr>
          <p:cNvPr id="6" name="Text 4"/>
          <p:cNvSpPr txBox="1"/>
          <p:nvPr/>
        </p:nvSpPr>
        <p:spPr>
          <a:xfrm>
            <a:off x="777240" y="1938528"/>
            <a:ext cx="27432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WHO FEELS IT</a:t>
            </a:r>
            <a:endParaRPr lang="en-US" sz="1000" dirty="0"/>
          </a:p>
        </p:txBody>
      </p:sp>
      <p:sp>
        <p:nvSpPr>
          <p:cNvPr id="7" name="Shape 5"/>
          <p:cNvSpPr/>
          <p:nvPr/>
        </p:nvSpPr>
        <p:spPr>
          <a:xfrm>
            <a:off x="777240" y="2286000"/>
            <a:ext cx="384048" cy="384048"/>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61731" y="2370491"/>
            <a:ext cx="215067" cy="215067"/>
          </a:xfrm>
          <a:prstGeom prst="rect">
            <a:avLst/>
          </a:prstGeom>
        </p:spPr>
      </p:pic>
      <p:sp>
        <p:nvSpPr>
          <p:cNvPr id="9" name="Text 6"/>
          <p:cNvSpPr txBox="1"/>
          <p:nvPr/>
        </p:nvSpPr>
        <p:spPr>
          <a:xfrm>
            <a:off x="1298448" y="2267712"/>
            <a:ext cx="2377440" cy="219456"/>
          </a:xfrm>
          <a:prstGeom prst="rect">
            <a:avLst/>
          </a:prstGeom>
          <a:noFill/>
          <a:ln/>
        </p:spPr>
        <p:txBody>
          <a:bodyPr wrap="square" lIns="0" tIns="0" rIns="0" bIns="0" rtlCol="0" anchor="t"/>
          <a:lstStyle/>
          <a:p>
            <a:pPr indent="0" marL="0">
              <a:buNone/>
            </a:pPr>
            <a:r>
              <a:rPr lang="en-US" sz="1200" dirty="0">
                <a:solidFill>
                  <a:srgbClr val="161616"/>
                </a:solidFill>
                <a:latin typeface="+mj-lt" pitchFamily="34" charset="0"/>
                <a:ea typeface="+mj-lt" pitchFamily="34" charset="-122"/>
                <a:cs typeface="+mj-lt" pitchFamily="34" charset="-120"/>
              </a:rPr>
              <a:t>Fleet operators</a:t>
            </a:r>
            <a:endParaRPr lang="en-US" sz="1200" dirty="0"/>
          </a:p>
        </p:txBody>
      </p:sp>
      <p:sp>
        <p:nvSpPr>
          <p:cNvPr id="10" name="Text 7"/>
          <p:cNvSpPr txBox="1"/>
          <p:nvPr/>
        </p:nvSpPr>
        <p:spPr>
          <a:xfrm>
            <a:off x="1298448" y="2487168"/>
            <a:ext cx="2377440" cy="201168"/>
          </a:xfrm>
          <a:prstGeom prst="rect">
            <a:avLst/>
          </a:prstGeom>
          <a:noFill/>
          <a:ln/>
        </p:spPr>
        <p:txBody>
          <a:bodyPr wrap="square" lIns="0" tIns="0" rIns="0" bIns="0" rtlCol="0" anchor="t"/>
          <a:lstStyle/>
          <a:p>
            <a:pPr indent="0" marL="0">
              <a:buNone/>
            </a:pPr>
            <a:r>
              <a:rPr lang="en-US" sz="1000" dirty="0">
                <a:solidFill>
                  <a:srgbClr val="525252"/>
                </a:solidFill>
              </a:rPr>
              <a:t>Pay the bill, own the uptime</a:t>
            </a:r>
            <a:endParaRPr lang="en-US" sz="1000" dirty="0"/>
          </a:p>
        </p:txBody>
      </p:sp>
      <p:sp>
        <p:nvSpPr>
          <p:cNvPr id="11" name="Shape 8"/>
          <p:cNvSpPr/>
          <p:nvPr/>
        </p:nvSpPr>
        <p:spPr>
          <a:xfrm>
            <a:off x="777240" y="2752344"/>
            <a:ext cx="384048" cy="384048"/>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861731" y="2836835"/>
            <a:ext cx="215067" cy="215067"/>
          </a:xfrm>
          <a:prstGeom prst="rect">
            <a:avLst/>
          </a:prstGeom>
        </p:spPr>
      </p:pic>
      <p:sp>
        <p:nvSpPr>
          <p:cNvPr id="13" name="Text 9"/>
          <p:cNvSpPr txBox="1"/>
          <p:nvPr/>
        </p:nvSpPr>
        <p:spPr>
          <a:xfrm>
            <a:off x="1298448" y="2734056"/>
            <a:ext cx="2377440" cy="219456"/>
          </a:xfrm>
          <a:prstGeom prst="rect">
            <a:avLst/>
          </a:prstGeom>
          <a:noFill/>
          <a:ln/>
        </p:spPr>
        <p:txBody>
          <a:bodyPr wrap="square" lIns="0" tIns="0" rIns="0" bIns="0" rtlCol="0" anchor="t"/>
          <a:lstStyle/>
          <a:p>
            <a:pPr indent="0" marL="0">
              <a:buNone/>
            </a:pPr>
            <a:r>
              <a:rPr lang="en-US" sz="1200" dirty="0">
                <a:solidFill>
                  <a:srgbClr val="161616"/>
                </a:solidFill>
                <a:latin typeface="+mj-lt" pitchFamily="34" charset="0"/>
                <a:ea typeface="+mj-lt" pitchFamily="34" charset="-122"/>
                <a:cs typeface="+mj-lt" pitchFamily="34" charset="-120"/>
              </a:rPr>
              <a:t>Depot charging teams</a:t>
            </a:r>
            <a:endParaRPr lang="en-US" sz="1200" dirty="0"/>
          </a:p>
        </p:txBody>
      </p:sp>
      <p:sp>
        <p:nvSpPr>
          <p:cNvPr id="14" name="Text 10"/>
          <p:cNvSpPr txBox="1"/>
          <p:nvPr/>
        </p:nvSpPr>
        <p:spPr>
          <a:xfrm>
            <a:off x="1298448" y="2953512"/>
            <a:ext cx="2377440" cy="201168"/>
          </a:xfrm>
          <a:prstGeom prst="rect">
            <a:avLst/>
          </a:prstGeom>
          <a:noFill/>
          <a:ln/>
        </p:spPr>
        <p:txBody>
          <a:bodyPr wrap="square" lIns="0" tIns="0" rIns="0" bIns="0" rtlCol="0" anchor="t"/>
          <a:lstStyle/>
          <a:p>
            <a:pPr indent="0" marL="0">
              <a:buNone/>
            </a:pPr>
            <a:r>
              <a:rPr lang="en-US" sz="1000" dirty="0">
                <a:solidFill>
                  <a:srgbClr val="525252"/>
                </a:solidFill>
              </a:rPr>
              <a:t>Juggle too few chargers by hand</a:t>
            </a:r>
            <a:endParaRPr lang="en-US" sz="1000" dirty="0"/>
          </a:p>
        </p:txBody>
      </p:sp>
      <p:sp>
        <p:nvSpPr>
          <p:cNvPr id="15" name="Shape 11"/>
          <p:cNvSpPr/>
          <p:nvPr/>
        </p:nvSpPr>
        <p:spPr>
          <a:xfrm>
            <a:off x="777240" y="3218688"/>
            <a:ext cx="384048" cy="38404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61731" y="3303179"/>
            <a:ext cx="215067" cy="215067"/>
          </a:xfrm>
          <a:prstGeom prst="rect">
            <a:avLst/>
          </a:prstGeom>
        </p:spPr>
      </p:pic>
      <p:sp>
        <p:nvSpPr>
          <p:cNvPr id="17" name="Text 12"/>
          <p:cNvSpPr txBox="1"/>
          <p:nvPr/>
        </p:nvSpPr>
        <p:spPr>
          <a:xfrm>
            <a:off x="1298448" y="3200400"/>
            <a:ext cx="2377440" cy="219456"/>
          </a:xfrm>
          <a:prstGeom prst="rect">
            <a:avLst/>
          </a:prstGeom>
          <a:noFill/>
          <a:ln/>
        </p:spPr>
        <p:txBody>
          <a:bodyPr wrap="square" lIns="0" tIns="0" rIns="0" bIns="0" rtlCol="0" anchor="t"/>
          <a:lstStyle/>
          <a:p>
            <a:pPr indent="0" marL="0">
              <a:buNone/>
            </a:pPr>
            <a:r>
              <a:rPr lang="en-US" sz="1200" dirty="0">
                <a:solidFill>
                  <a:srgbClr val="161616"/>
                </a:solidFill>
                <a:latin typeface="+mj-lt" pitchFamily="34" charset="0"/>
                <a:ea typeface="+mj-lt" pitchFamily="34" charset="-122"/>
                <a:cs typeface="+mj-lt" pitchFamily="34" charset="-120"/>
              </a:rPr>
              <a:t>Drivers &amp; dispatch</a:t>
            </a:r>
            <a:endParaRPr lang="en-US" sz="1200" dirty="0"/>
          </a:p>
        </p:txBody>
      </p:sp>
      <p:sp>
        <p:nvSpPr>
          <p:cNvPr id="18" name="Text 13"/>
          <p:cNvSpPr txBox="1"/>
          <p:nvPr/>
        </p:nvSpPr>
        <p:spPr>
          <a:xfrm>
            <a:off x="1298448" y="3419856"/>
            <a:ext cx="2377440" cy="201168"/>
          </a:xfrm>
          <a:prstGeom prst="rect">
            <a:avLst/>
          </a:prstGeom>
          <a:noFill/>
          <a:ln/>
        </p:spPr>
        <p:txBody>
          <a:bodyPr wrap="square" lIns="0" tIns="0" rIns="0" bIns="0" rtlCol="0" anchor="t"/>
          <a:lstStyle/>
          <a:p>
            <a:pPr indent="0" marL="0">
              <a:buNone/>
            </a:pPr>
            <a:r>
              <a:rPr lang="en-US" sz="1000" dirty="0">
                <a:solidFill>
                  <a:srgbClr val="525252"/>
                </a:solidFill>
              </a:rPr>
              <a:t>Start shifts on a half-full battery</a:t>
            </a:r>
            <a:endParaRPr lang="en-US" sz="1000" dirty="0"/>
          </a:p>
        </p:txBody>
      </p:sp>
      <p:sp>
        <p:nvSpPr>
          <p:cNvPr id="19" name="Shape 14"/>
          <p:cNvSpPr/>
          <p:nvPr/>
        </p:nvSpPr>
        <p:spPr>
          <a:xfrm>
            <a:off x="777240" y="3685032"/>
            <a:ext cx="384048" cy="384048"/>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861731" y="3769523"/>
            <a:ext cx="215067" cy="215067"/>
          </a:xfrm>
          <a:prstGeom prst="rect">
            <a:avLst/>
          </a:prstGeom>
        </p:spPr>
      </p:pic>
      <p:sp>
        <p:nvSpPr>
          <p:cNvPr id="21" name="Text 15"/>
          <p:cNvSpPr txBox="1"/>
          <p:nvPr/>
        </p:nvSpPr>
        <p:spPr>
          <a:xfrm>
            <a:off x="1298448" y="3666744"/>
            <a:ext cx="2377440" cy="219456"/>
          </a:xfrm>
          <a:prstGeom prst="rect">
            <a:avLst/>
          </a:prstGeom>
          <a:noFill/>
          <a:ln/>
        </p:spPr>
        <p:txBody>
          <a:bodyPr wrap="square" lIns="0" tIns="0" rIns="0" bIns="0" rtlCol="0" anchor="t"/>
          <a:lstStyle/>
          <a:p>
            <a:pPr indent="0" marL="0">
              <a:buNone/>
            </a:pPr>
            <a:r>
              <a:rPr lang="en-US" sz="1200" dirty="0">
                <a:solidFill>
                  <a:srgbClr val="161616"/>
                </a:solidFill>
                <a:latin typeface="+mj-lt" pitchFamily="34" charset="0"/>
                <a:ea typeface="+mj-lt" pitchFamily="34" charset="-122"/>
                <a:cs typeface="+mj-lt" pitchFamily="34" charset="-120"/>
              </a:rPr>
              <a:t>Grid &amp; utilities</a:t>
            </a:r>
            <a:endParaRPr lang="en-US" sz="1200" dirty="0"/>
          </a:p>
        </p:txBody>
      </p:sp>
      <p:sp>
        <p:nvSpPr>
          <p:cNvPr id="22" name="Text 16"/>
          <p:cNvSpPr txBox="1"/>
          <p:nvPr/>
        </p:nvSpPr>
        <p:spPr>
          <a:xfrm>
            <a:off x="1298448" y="3886200"/>
            <a:ext cx="2377440" cy="201168"/>
          </a:xfrm>
          <a:prstGeom prst="rect">
            <a:avLst/>
          </a:prstGeom>
          <a:noFill/>
          <a:ln/>
        </p:spPr>
        <p:txBody>
          <a:bodyPr wrap="square" lIns="0" tIns="0" rIns="0" bIns="0" rtlCol="0" anchor="t"/>
          <a:lstStyle/>
          <a:p>
            <a:pPr indent="0" marL="0">
              <a:buNone/>
            </a:pPr>
            <a:r>
              <a:rPr lang="en-US" sz="1000" dirty="0">
                <a:solidFill>
                  <a:srgbClr val="525252"/>
                </a:solidFill>
              </a:rPr>
              <a:t>Absorb the 6 pm demand spike</a:t>
            </a:r>
            <a:endParaRPr lang="en-US" sz="1000" dirty="0"/>
          </a:p>
        </p:txBody>
      </p:sp>
      <p:sp>
        <p:nvSpPr>
          <p:cNvPr id="23" name="Shape 17"/>
          <p:cNvSpPr/>
          <p:nvPr/>
        </p:nvSpPr>
        <p:spPr>
          <a:xfrm>
            <a:off x="4023360" y="1783080"/>
            <a:ext cx="7616952" cy="2423160"/>
          </a:xfrm>
          <a:prstGeom prst="roundRect">
            <a:avLst>
              <a:gd name="adj" fmla="val 3019"/>
            </a:avLst>
          </a:prstGeom>
          <a:solidFill>
            <a:srgbClr val="FFFFFF"/>
          </a:solidFill>
          <a:ln w="9525">
            <a:solidFill>
              <a:srgbClr val="E0E0E0"/>
            </a:solidFill>
            <a:prstDash val="solid"/>
          </a:ln>
          <a:effectLst>
            <a:outerShdw sx="100000" sy="100000" kx="0" ky="0" algn="bl" rotWithShape="0" blurRad="177800" dist="38100" dir="5400000">
              <a:srgbClr val="0A1E4A">
                <a:alpha val="8000"/>
              </a:srgbClr>
            </a:outerShdw>
          </a:effectLst>
        </p:spPr>
      </p:sp>
      <p:sp>
        <p:nvSpPr>
          <p:cNvPr id="24" name="Text 18"/>
          <p:cNvSpPr txBox="1"/>
          <p:nvPr/>
        </p:nvSpPr>
        <p:spPr>
          <a:xfrm>
            <a:off x="4251960" y="1938528"/>
            <a:ext cx="50292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ONE DAY AT A 100-EV DEPOT  ·  STATIC SCHEDULE</a:t>
            </a:r>
            <a:endParaRPr lang="en-US" sz="1000" dirty="0"/>
          </a:p>
        </p:txBody>
      </p:sp>
      <p:sp>
        <p:nvSpPr>
          <p:cNvPr id="25" name="Shape 19"/>
          <p:cNvSpPr/>
          <p:nvPr/>
        </p:nvSpPr>
        <p:spPr>
          <a:xfrm>
            <a:off x="6501384" y="2724912"/>
            <a:ext cx="1088136" cy="841248"/>
          </a:xfrm>
          <a:prstGeom prst="rect">
            <a:avLst/>
          </a:prstGeom>
          <a:solidFill>
            <a:srgbClr val="EDF5FF"/>
          </a:solidFill>
          <a:ln w="9525">
            <a:solidFill>
              <a:srgbClr val="0F62FE"/>
            </a:solidFill>
            <a:prstDash val="dash"/>
          </a:ln>
        </p:spPr>
      </p:sp>
      <p:sp>
        <p:nvSpPr>
          <p:cNvPr id="26" name="Text 20"/>
          <p:cNvSpPr txBox="1"/>
          <p:nvPr/>
        </p:nvSpPr>
        <p:spPr>
          <a:xfrm>
            <a:off x="6574536" y="2798064"/>
            <a:ext cx="1097280" cy="384048"/>
          </a:xfrm>
          <a:prstGeom prst="rect">
            <a:avLst/>
          </a:prstGeom>
          <a:noFill/>
          <a:ln/>
        </p:spPr>
        <p:txBody>
          <a:bodyPr wrap="square" lIns="0" tIns="0" rIns="0" bIns="0" rtlCol="0" anchor="t"/>
          <a:lstStyle/>
          <a:p>
            <a:pPr indent="0" marL="0">
              <a:buNone/>
            </a:pPr>
            <a:r>
              <a:rPr lang="en-US" sz="1000" dirty="0">
                <a:solidFill>
                  <a:srgbClr val="0043CE"/>
                </a:solidFill>
                <a:latin typeface="+mj-lt" pitchFamily="34" charset="0"/>
                <a:ea typeface="+mj-lt" pitchFamily="34" charset="-122"/>
                <a:cs typeface="+mj-lt" pitchFamily="34" charset="-120"/>
              </a:rPr>
              <a:t>Off-peak ₹5.60</a:t>
            </a:r>
            <a:endParaRPr lang="en-US" sz="1000" dirty="0"/>
          </a:p>
          <a:p>
            <a:pPr indent="0" marL="0">
              <a:buNone/>
            </a:pPr>
            <a:r>
              <a:rPr lang="en-US" sz="1000" dirty="0">
                <a:solidFill>
                  <a:srgbClr val="0043CE"/>
                </a:solidFill>
                <a:latin typeface="+mj-lt" pitchFamily="34" charset="0"/>
                <a:ea typeface="+mj-lt" pitchFamily="34" charset="-122"/>
                <a:cs typeface="+mj-lt" pitchFamily="34" charset="-120"/>
              </a:rPr>
              <a:t>chargers idle</a:t>
            </a:r>
            <a:endParaRPr lang="en-US" sz="1000" dirty="0"/>
          </a:p>
        </p:txBody>
      </p:sp>
      <p:sp>
        <p:nvSpPr>
          <p:cNvPr id="27" name="Shape 21"/>
          <p:cNvSpPr/>
          <p:nvPr/>
        </p:nvSpPr>
        <p:spPr>
          <a:xfrm>
            <a:off x="4274820" y="3463747"/>
            <a:ext cx="141732" cy="102413"/>
          </a:xfrm>
          <a:prstGeom prst="rect">
            <a:avLst/>
          </a:prstGeom>
          <a:solidFill>
            <a:srgbClr val="009D9A"/>
          </a:solidFill>
          <a:ln/>
        </p:spPr>
      </p:sp>
      <p:sp>
        <p:nvSpPr>
          <p:cNvPr id="28" name="Shape 22"/>
          <p:cNvSpPr/>
          <p:nvPr/>
        </p:nvSpPr>
        <p:spPr>
          <a:xfrm>
            <a:off x="4251960" y="3621024"/>
            <a:ext cx="169164" cy="73152"/>
          </a:xfrm>
          <a:prstGeom prst="rect">
            <a:avLst/>
          </a:prstGeom>
          <a:solidFill>
            <a:srgbClr val="009D9A"/>
          </a:solidFill>
          <a:ln/>
        </p:spPr>
      </p:sp>
      <p:sp>
        <p:nvSpPr>
          <p:cNvPr id="29" name="Shape 23"/>
          <p:cNvSpPr/>
          <p:nvPr/>
        </p:nvSpPr>
        <p:spPr>
          <a:xfrm>
            <a:off x="4462272" y="3463747"/>
            <a:ext cx="141732" cy="102413"/>
          </a:xfrm>
          <a:prstGeom prst="rect">
            <a:avLst/>
          </a:prstGeom>
          <a:solidFill>
            <a:srgbClr val="009D9A"/>
          </a:solidFill>
          <a:ln/>
        </p:spPr>
      </p:sp>
      <p:sp>
        <p:nvSpPr>
          <p:cNvPr id="30" name="Shape 24"/>
          <p:cNvSpPr/>
          <p:nvPr/>
        </p:nvSpPr>
        <p:spPr>
          <a:xfrm>
            <a:off x="4439412" y="3621024"/>
            <a:ext cx="169164" cy="73152"/>
          </a:xfrm>
          <a:prstGeom prst="rect">
            <a:avLst/>
          </a:prstGeom>
          <a:solidFill>
            <a:srgbClr val="009D9A"/>
          </a:solidFill>
          <a:ln/>
        </p:spPr>
      </p:sp>
      <p:sp>
        <p:nvSpPr>
          <p:cNvPr id="31" name="Shape 25"/>
          <p:cNvSpPr/>
          <p:nvPr/>
        </p:nvSpPr>
        <p:spPr>
          <a:xfrm>
            <a:off x="4649724" y="3438144"/>
            <a:ext cx="141732" cy="128016"/>
          </a:xfrm>
          <a:prstGeom prst="rect">
            <a:avLst/>
          </a:prstGeom>
          <a:solidFill>
            <a:srgbClr val="009D9A"/>
          </a:solidFill>
          <a:ln/>
        </p:spPr>
      </p:sp>
      <p:sp>
        <p:nvSpPr>
          <p:cNvPr id="32" name="Shape 26"/>
          <p:cNvSpPr/>
          <p:nvPr/>
        </p:nvSpPr>
        <p:spPr>
          <a:xfrm>
            <a:off x="4626864" y="3621024"/>
            <a:ext cx="169164" cy="73152"/>
          </a:xfrm>
          <a:prstGeom prst="rect">
            <a:avLst/>
          </a:prstGeom>
          <a:solidFill>
            <a:srgbClr val="009D9A"/>
          </a:solidFill>
          <a:ln/>
        </p:spPr>
      </p:sp>
      <p:sp>
        <p:nvSpPr>
          <p:cNvPr id="33" name="Shape 27"/>
          <p:cNvSpPr/>
          <p:nvPr/>
        </p:nvSpPr>
        <p:spPr>
          <a:xfrm>
            <a:off x="4837176" y="3438144"/>
            <a:ext cx="141732" cy="128016"/>
          </a:xfrm>
          <a:prstGeom prst="rect">
            <a:avLst/>
          </a:prstGeom>
          <a:solidFill>
            <a:srgbClr val="009D9A"/>
          </a:solidFill>
          <a:ln/>
        </p:spPr>
      </p:sp>
      <p:sp>
        <p:nvSpPr>
          <p:cNvPr id="34" name="Shape 28"/>
          <p:cNvSpPr/>
          <p:nvPr/>
        </p:nvSpPr>
        <p:spPr>
          <a:xfrm>
            <a:off x="4814316" y="3621024"/>
            <a:ext cx="169164" cy="73152"/>
          </a:xfrm>
          <a:prstGeom prst="rect">
            <a:avLst/>
          </a:prstGeom>
          <a:solidFill>
            <a:srgbClr val="009D9A"/>
          </a:solidFill>
          <a:ln/>
        </p:spPr>
      </p:sp>
      <p:sp>
        <p:nvSpPr>
          <p:cNvPr id="35" name="Shape 29"/>
          <p:cNvSpPr/>
          <p:nvPr/>
        </p:nvSpPr>
        <p:spPr>
          <a:xfrm>
            <a:off x="5024628" y="3412541"/>
            <a:ext cx="141732" cy="153619"/>
          </a:xfrm>
          <a:prstGeom prst="rect">
            <a:avLst/>
          </a:prstGeom>
          <a:solidFill>
            <a:srgbClr val="009D9A"/>
          </a:solidFill>
          <a:ln/>
        </p:spPr>
      </p:sp>
      <p:sp>
        <p:nvSpPr>
          <p:cNvPr id="36" name="Shape 30"/>
          <p:cNvSpPr/>
          <p:nvPr/>
        </p:nvSpPr>
        <p:spPr>
          <a:xfrm>
            <a:off x="5001768" y="3621024"/>
            <a:ext cx="169164" cy="73152"/>
          </a:xfrm>
          <a:prstGeom prst="rect">
            <a:avLst/>
          </a:prstGeom>
          <a:solidFill>
            <a:srgbClr val="009D9A"/>
          </a:solidFill>
          <a:ln/>
        </p:spPr>
      </p:sp>
      <p:sp>
        <p:nvSpPr>
          <p:cNvPr id="37" name="Shape 31"/>
          <p:cNvSpPr/>
          <p:nvPr/>
        </p:nvSpPr>
        <p:spPr>
          <a:xfrm>
            <a:off x="5212080" y="3246120"/>
            <a:ext cx="141732" cy="320040"/>
          </a:xfrm>
          <a:prstGeom prst="rect">
            <a:avLst/>
          </a:prstGeom>
          <a:solidFill>
            <a:srgbClr val="009D9A"/>
          </a:solidFill>
          <a:ln/>
        </p:spPr>
      </p:sp>
      <p:sp>
        <p:nvSpPr>
          <p:cNvPr id="38" name="Shape 32"/>
          <p:cNvSpPr/>
          <p:nvPr/>
        </p:nvSpPr>
        <p:spPr>
          <a:xfrm>
            <a:off x="5189220" y="3621024"/>
            <a:ext cx="169164" cy="73152"/>
          </a:xfrm>
          <a:prstGeom prst="rect">
            <a:avLst/>
          </a:prstGeom>
          <a:solidFill>
            <a:srgbClr val="009D9A"/>
          </a:solidFill>
          <a:ln/>
        </p:spPr>
      </p:sp>
      <p:sp>
        <p:nvSpPr>
          <p:cNvPr id="39" name="Shape 33"/>
          <p:cNvSpPr/>
          <p:nvPr/>
        </p:nvSpPr>
        <p:spPr>
          <a:xfrm>
            <a:off x="5399532" y="2414016"/>
            <a:ext cx="141732" cy="1152144"/>
          </a:xfrm>
          <a:prstGeom prst="rect">
            <a:avLst/>
          </a:prstGeom>
          <a:solidFill>
            <a:srgbClr val="FF832B"/>
          </a:solidFill>
          <a:ln/>
        </p:spPr>
      </p:sp>
      <p:sp>
        <p:nvSpPr>
          <p:cNvPr id="40" name="Shape 34"/>
          <p:cNvSpPr/>
          <p:nvPr/>
        </p:nvSpPr>
        <p:spPr>
          <a:xfrm>
            <a:off x="5376672" y="3621024"/>
            <a:ext cx="169164" cy="73152"/>
          </a:xfrm>
          <a:prstGeom prst="rect">
            <a:avLst/>
          </a:prstGeom>
          <a:solidFill>
            <a:srgbClr val="FF832B"/>
          </a:solidFill>
          <a:ln/>
        </p:spPr>
      </p:sp>
      <p:sp>
        <p:nvSpPr>
          <p:cNvPr id="41" name="Shape 35"/>
          <p:cNvSpPr/>
          <p:nvPr/>
        </p:nvSpPr>
        <p:spPr>
          <a:xfrm>
            <a:off x="5586984" y="2286000"/>
            <a:ext cx="141732" cy="1280160"/>
          </a:xfrm>
          <a:prstGeom prst="rect">
            <a:avLst/>
          </a:prstGeom>
          <a:solidFill>
            <a:srgbClr val="FF832B"/>
          </a:solidFill>
          <a:ln/>
        </p:spPr>
      </p:sp>
      <p:sp>
        <p:nvSpPr>
          <p:cNvPr id="42" name="Shape 36"/>
          <p:cNvSpPr/>
          <p:nvPr/>
        </p:nvSpPr>
        <p:spPr>
          <a:xfrm>
            <a:off x="5564124" y="3621024"/>
            <a:ext cx="169164" cy="73152"/>
          </a:xfrm>
          <a:prstGeom prst="rect">
            <a:avLst/>
          </a:prstGeom>
          <a:solidFill>
            <a:srgbClr val="FF832B"/>
          </a:solidFill>
          <a:ln/>
        </p:spPr>
      </p:sp>
      <p:sp>
        <p:nvSpPr>
          <p:cNvPr id="43" name="Shape 37"/>
          <p:cNvSpPr/>
          <p:nvPr/>
        </p:nvSpPr>
        <p:spPr>
          <a:xfrm>
            <a:off x="5774436" y="2350008"/>
            <a:ext cx="141732" cy="1216152"/>
          </a:xfrm>
          <a:prstGeom prst="rect">
            <a:avLst/>
          </a:prstGeom>
          <a:solidFill>
            <a:srgbClr val="FF832B"/>
          </a:solidFill>
          <a:ln/>
        </p:spPr>
      </p:sp>
      <p:sp>
        <p:nvSpPr>
          <p:cNvPr id="44" name="Shape 38"/>
          <p:cNvSpPr/>
          <p:nvPr/>
        </p:nvSpPr>
        <p:spPr>
          <a:xfrm>
            <a:off x="5751576" y="3621024"/>
            <a:ext cx="169164" cy="73152"/>
          </a:xfrm>
          <a:prstGeom prst="rect">
            <a:avLst/>
          </a:prstGeom>
          <a:solidFill>
            <a:srgbClr val="FF832B"/>
          </a:solidFill>
          <a:ln/>
        </p:spPr>
      </p:sp>
      <p:sp>
        <p:nvSpPr>
          <p:cNvPr id="45" name="Shape 39"/>
          <p:cNvSpPr/>
          <p:nvPr/>
        </p:nvSpPr>
        <p:spPr>
          <a:xfrm>
            <a:off x="5961888" y="2542032"/>
            <a:ext cx="141732" cy="1024128"/>
          </a:xfrm>
          <a:prstGeom prst="rect">
            <a:avLst/>
          </a:prstGeom>
          <a:solidFill>
            <a:srgbClr val="FF832B"/>
          </a:solidFill>
          <a:ln/>
        </p:spPr>
      </p:sp>
      <p:sp>
        <p:nvSpPr>
          <p:cNvPr id="46" name="Shape 40"/>
          <p:cNvSpPr/>
          <p:nvPr/>
        </p:nvSpPr>
        <p:spPr>
          <a:xfrm>
            <a:off x="5939028" y="3621024"/>
            <a:ext cx="169164" cy="73152"/>
          </a:xfrm>
          <a:prstGeom prst="rect">
            <a:avLst/>
          </a:prstGeom>
          <a:solidFill>
            <a:srgbClr val="FF832B"/>
          </a:solidFill>
          <a:ln/>
        </p:spPr>
      </p:sp>
      <p:sp>
        <p:nvSpPr>
          <p:cNvPr id="47" name="Shape 41"/>
          <p:cNvSpPr/>
          <p:nvPr/>
        </p:nvSpPr>
        <p:spPr>
          <a:xfrm>
            <a:off x="6149340" y="2862072"/>
            <a:ext cx="141732" cy="704088"/>
          </a:xfrm>
          <a:prstGeom prst="rect">
            <a:avLst/>
          </a:prstGeom>
          <a:solidFill>
            <a:srgbClr val="009D9A"/>
          </a:solidFill>
          <a:ln/>
        </p:spPr>
      </p:sp>
      <p:sp>
        <p:nvSpPr>
          <p:cNvPr id="48" name="Shape 42"/>
          <p:cNvSpPr/>
          <p:nvPr/>
        </p:nvSpPr>
        <p:spPr>
          <a:xfrm>
            <a:off x="6126480" y="3621024"/>
            <a:ext cx="169164" cy="73152"/>
          </a:xfrm>
          <a:prstGeom prst="rect">
            <a:avLst/>
          </a:prstGeom>
          <a:solidFill>
            <a:srgbClr val="009D9A"/>
          </a:solidFill>
          <a:ln/>
        </p:spPr>
      </p:sp>
      <p:sp>
        <p:nvSpPr>
          <p:cNvPr id="49" name="Shape 43"/>
          <p:cNvSpPr/>
          <p:nvPr/>
        </p:nvSpPr>
        <p:spPr>
          <a:xfrm>
            <a:off x="6336792" y="3118104"/>
            <a:ext cx="141732" cy="448056"/>
          </a:xfrm>
          <a:prstGeom prst="rect">
            <a:avLst/>
          </a:prstGeom>
          <a:solidFill>
            <a:srgbClr val="009D9A"/>
          </a:solidFill>
          <a:ln/>
        </p:spPr>
      </p:sp>
      <p:sp>
        <p:nvSpPr>
          <p:cNvPr id="50" name="Shape 44"/>
          <p:cNvSpPr/>
          <p:nvPr/>
        </p:nvSpPr>
        <p:spPr>
          <a:xfrm>
            <a:off x="6313932" y="3621024"/>
            <a:ext cx="169164" cy="73152"/>
          </a:xfrm>
          <a:prstGeom prst="rect">
            <a:avLst/>
          </a:prstGeom>
          <a:solidFill>
            <a:srgbClr val="009D9A"/>
          </a:solidFill>
          <a:ln/>
        </p:spPr>
      </p:sp>
      <p:sp>
        <p:nvSpPr>
          <p:cNvPr id="51" name="Shape 45"/>
          <p:cNvSpPr/>
          <p:nvPr/>
        </p:nvSpPr>
        <p:spPr>
          <a:xfrm>
            <a:off x="6524244" y="3374136"/>
            <a:ext cx="141732" cy="192024"/>
          </a:xfrm>
          <a:prstGeom prst="rect">
            <a:avLst/>
          </a:prstGeom>
          <a:solidFill>
            <a:srgbClr val="0F62FE"/>
          </a:solidFill>
          <a:ln/>
        </p:spPr>
      </p:sp>
      <p:sp>
        <p:nvSpPr>
          <p:cNvPr id="52" name="Shape 46"/>
          <p:cNvSpPr/>
          <p:nvPr/>
        </p:nvSpPr>
        <p:spPr>
          <a:xfrm>
            <a:off x="6501384" y="3621024"/>
            <a:ext cx="169164" cy="73152"/>
          </a:xfrm>
          <a:prstGeom prst="rect">
            <a:avLst/>
          </a:prstGeom>
          <a:solidFill>
            <a:srgbClr val="0F62FE"/>
          </a:solidFill>
          <a:ln/>
        </p:spPr>
      </p:sp>
      <p:sp>
        <p:nvSpPr>
          <p:cNvPr id="53" name="Shape 47"/>
          <p:cNvSpPr/>
          <p:nvPr/>
        </p:nvSpPr>
        <p:spPr>
          <a:xfrm>
            <a:off x="6711696" y="3489350"/>
            <a:ext cx="141732" cy="76810"/>
          </a:xfrm>
          <a:prstGeom prst="rect">
            <a:avLst/>
          </a:prstGeom>
          <a:solidFill>
            <a:srgbClr val="0F62FE"/>
          </a:solidFill>
          <a:ln/>
        </p:spPr>
      </p:sp>
      <p:sp>
        <p:nvSpPr>
          <p:cNvPr id="54" name="Shape 48"/>
          <p:cNvSpPr/>
          <p:nvPr/>
        </p:nvSpPr>
        <p:spPr>
          <a:xfrm>
            <a:off x="6688836" y="3621024"/>
            <a:ext cx="169164" cy="73152"/>
          </a:xfrm>
          <a:prstGeom prst="rect">
            <a:avLst/>
          </a:prstGeom>
          <a:solidFill>
            <a:srgbClr val="0F62FE"/>
          </a:solidFill>
          <a:ln/>
        </p:spPr>
      </p:sp>
      <p:sp>
        <p:nvSpPr>
          <p:cNvPr id="55" name="Shape 49"/>
          <p:cNvSpPr/>
          <p:nvPr/>
        </p:nvSpPr>
        <p:spPr>
          <a:xfrm>
            <a:off x="6899148" y="3527755"/>
            <a:ext cx="141732" cy="38405"/>
          </a:xfrm>
          <a:prstGeom prst="rect">
            <a:avLst/>
          </a:prstGeom>
          <a:solidFill>
            <a:srgbClr val="0F62FE"/>
          </a:solidFill>
          <a:ln/>
        </p:spPr>
      </p:sp>
      <p:sp>
        <p:nvSpPr>
          <p:cNvPr id="56" name="Shape 50"/>
          <p:cNvSpPr/>
          <p:nvPr/>
        </p:nvSpPr>
        <p:spPr>
          <a:xfrm>
            <a:off x="6876288" y="3621024"/>
            <a:ext cx="169164" cy="73152"/>
          </a:xfrm>
          <a:prstGeom prst="rect">
            <a:avLst/>
          </a:prstGeom>
          <a:solidFill>
            <a:srgbClr val="0F62FE"/>
          </a:solidFill>
          <a:ln/>
        </p:spPr>
      </p:sp>
      <p:sp>
        <p:nvSpPr>
          <p:cNvPr id="57" name="Shape 51"/>
          <p:cNvSpPr/>
          <p:nvPr/>
        </p:nvSpPr>
        <p:spPr>
          <a:xfrm>
            <a:off x="7086600" y="3538728"/>
            <a:ext cx="141732" cy="27432"/>
          </a:xfrm>
          <a:prstGeom prst="rect">
            <a:avLst/>
          </a:prstGeom>
          <a:solidFill>
            <a:srgbClr val="0F62FE"/>
          </a:solidFill>
          <a:ln/>
        </p:spPr>
      </p:sp>
      <p:sp>
        <p:nvSpPr>
          <p:cNvPr id="58" name="Shape 52"/>
          <p:cNvSpPr/>
          <p:nvPr/>
        </p:nvSpPr>
        <p:spPr>
          <a:xfrm>
            <a:off x="7063740" y="3621024"/>
            <a:ext cx="169164" cy="73152"/>
          </a:xfrm>
          <a:prstGeom prst="rect">
            <a:avLst/>
          </a:prstGeom>
          <a:solidFill>
            <a:srgbClr val="0F62FE"/>
          </a:solidFill>
          <a:ln/>
        </p:spPr>
      </p:sp>
      <p:sp>
        <p:nvSpPr>
          <p:cNvPr id="59" name="Shape 53"/>
          <p:cNvSpPr/>
          <p:nvPr/>
        </p:nvSpPr>
        <p:spPr>
          <a:xfrm>
            <a:off x="7274052" y="3538728"/>
            <a:ext cx="141732" cy="27432"/>
          </a:xfrm>
          <a:prstGeom prst="rect">
            <a:avLst/>
          </a:prstGeom>
          <a:solidFill>
            <a:srgbClr val="0F62FE"/>
          </a:solidFill>
          <a:ln/>
        </p:spPr>
      </p:sp>
      <p:sp>
        <p:nvSpPr>
          <p:cNvPr id="60" name="Shape 54"/>
          <p:cNvSpPr/>
          <p:nvPr/>
        </p:nvSpPr>
        <p:spPr>
          <a:xfrm>
            <a:off x="7251192" y="3621024"/>
            <a:ext cx="169164" cy="73152"/>
          </a:xfrm>
          <a:prstGeom prst="rect">
            <a:avLst/>
          </a:prstGeom>
          <a:solidFill>
            <a:srgbClr val="0F62FE"/>
          </a:solidFill>
          <a:ln/>
        </p:spPr>
      </p:sp>
      <p:sp>
        <p:nvSpPr>
          <p:cNvPr id="61" name="Shape 55"/>
          <p:cNvSpPr/>
          <p:nvPr/>
        </p:nvSpPr>
        <p:spPr>
          <a:xfrm>
            <a:off x="7461504" y="3538728"/>
            <a:ext cx="141732" cy="27432"/>
          </a:xfrm>
          <a:prstGeom prst="rect">
            <a:avLst/>
          </a:prstGeom>
          <a:solidFill>
            <a:srgbClr val="0F62FE"/>
          </a:solidFill>
          <a:ln/>
        </p:spPr>
      </p:sp>
      <p:sp>
        <p:nvSpPr>
          <p:cNvPr id="62" name="Shape 56"/>
          <p:cNvSpPr/>
          <p:nvPr/>
        </p:nvSpPr>
        <p:spPr>
          <a:xfrm>
            <a:off x="7438644" y="3621024"/>
            <a:ext cx="169164" cy="73152"/>
          </a:xfrm>
          <a:prstGeom prst="rect">
            <a:avLst/>
          </a:prstGeom>
          <a:solidFill>
            <a:srgbClr val="0F62FE"/>
          </a:solidFill>
          <a:ln/>
        </p:spPr>
      </p:sp>
      <p:sp>
        <p:nvSpPr>
          <p:cNvPr id="63" name="Shape 57"/>
          <p:cNvSpPr/>
          <p:nvPr/>
        </p:nvSpPr>
        <p:spPr>
          <a:xfrm>
            <a:off x="7648956" y="3502152"/>
            <a:ext cx="141732" cy="64008"/>
          </a:xfrm>
          <a:prstGeom prst="rect">
            <a:avLst/>
          </a:prstGeom>
          <a:solidFill>
            <a:srgbClr val="009D9A"/>
          </a:solidFill>
          <a:ln/>
        </p:spPr>
      </p:sp>
      <p:sp>
        <p:nvSpPr>
          <p:cNvPr id="64" name="Shape 58"/>
          <p:cNvSpPr/>
          <p:nvPr/>
        </p:nvSpPr>
        <p:spPr>
          <a:xfrm>
            <a:off x="7626096" y="3621024"/>
            <a:ext cx="169164" cy="73152"/>
          </a:xfrm>
          <a:prstGeom prst="rect">
            <a:avLst/>
          </a:prstGeom>
          <a:solidFill>
            <a:srgbClr val="009D9A"/>
          </a:solidFill>
          <a:ln/>
        </p:spPr>
      </p:sp>
      <p:sp>
        <p:nvSpPr>
          <p:cNvPr id="65" name="Shape 59"/>
          <p:cNvSpPr/>
          <p:nvPr/>
        </p:nvSpPr>
        <p:spPr>
          <a:xfrm>
            <a:off x="7836408" y="3463747"/>
            <a:ext cx="141732" cy="102413"/>
          </a:xfrm>
          <a:prstGeom prst="rect">
            <a:avLst/>
          </a:prstGeom>
          <a:solidFill>
            <a:srgbClr val="009D9A"/>
          </a:solidFill>
          <a:ln/>
        </p:spPr>
      </p:sp>
      <p:sp>
        <p:nvSpPr>
          <p:cNvPr id="66" name="Shape 60"/>
          <p:cNvSpPr/>
          <p:nvPr/>
        </p:nvSpPr>
        <p:spPr>
          <a:xfrm>
            <a:off x="7813548" y="3621024"/>
            <a:ext cx="169164" cy="73152"/>
          </a:xfrm>
          <a:prstGeom prst="rect">
            <a:avLst/>
          </a:prstGeom>
          <a:solidFill>
            <a:srgbClr val="009D9A"/>
          </a:solidFill>
          <a:ln/>
        </p:spPr>
      </p:sp>
      <p:sp>
        <p:nvSpPr>
          <p:cNvPr id="67" name="Shape 61"/>
          <p:cNvSpPr/>
          <p:nvPr/>
        </p:nvSpPr>
        <p:spPr>
          <a:xfrm>
            <a:off x="8023860" y="3463747"/>
            <a:ext cx="141732" cy="102413"/>
          </a:xfrm>
          <a:prstGeom prst="rect">
            <a:avLst/>
          </a:prstGeom>
          <a:solidFill>
            <a:srgbClr val="009D9A"/>
          </a:solidFill>
          <a:ln/>
        </p:spPr>
      </p:sp>
      <p:sp>
        <p:nvSpPr>
          <p:cNvPr id="68" name="Shape 62"/>
          <p:cNvSpPr/>
          <p:nvPr/>
        </p:nvSpPr>
        <p:spPr>
          <a:xfrm>
            <a:off x="8001000" y="3621024"/>
            <a:ext cx="169164" cy="73152"/>
          </a:xfrm>
          <a:prstGeom prst="rect">
            <a:avLst/>
          </a:prstGeom>
          <a:solidFill>
            <a:srgbClr val="009D9A"/>
          </a:solidFill>
          <a:ln/>
        </p:spPr>
      </p:sp>
      <p:sp>
        <p:nvSpPr>
          <p:cNvPr id="69" name="Shape 63"/>
          <p:cNvSpPr/>
          <p:nvPr/>
        </p:nvSpPr>
        <p:spPr>
          <a:xfrm>
            <a:off x="8211312" y="3489350"/>
            <a:ext cx="141732" cy="76810"/>
          </a:xfrm>
          <a:prstGeom prst="rect">
            <a:avLst/>
          </a:prstGeom>
          <a:solidFill>
            <a:srgbClr val="009D9A"/>
          </a:solidFill>
          <a:ln/>
        </p:spPr>
      </p:sp>
      <p:sp>
        <p:nvSpPr>
          <p:cNvPr id="70" name="Shape 64"/>
          <p:cNvSpPr/>
          <p:nvPr/>
        </p:nvSpPr>
        <p:spPr>
          <a:xfrm>
            <a:off x="8188452" y="3621024"/>
            <a:ext cx="169164" cy="73152"/>
          </a:xfrm>
          <a:prstGeom prst="rect">
            <a:avLst/>
          </a:prstGeom>
          <a:solidFill>
            <a:srgbClr val="009D9A"/>
          </a:solidFill>
          <a:ln/>
        </p:spPr>
      </p:sp>
      <p:sp>
        <p:nvSpPr>
          <p:cNvPr id="71" name="Shape 65"/>
          <p:cNvSpPr/>
          <p:nvPr/>
        </p:nvSpPr>
        <p:spPr>
          <a:xfrm>
            <a:off x="8398764" y="3489350"/>
            <a:ext cx="141732" cy="76810"/>
          </a:xfrm>
          <a:prstGeom prst="rect">
            <a:avLst/>
          </a:prstGeom>
          <a:solidFill>
            <a:srgbClr val="009D9A"/>
          </a:solidFill>
          <a:ln/>
        </p:spPr>
      </p:sp>
      <p:sp>
        <p:nvSpPr>
          <p:cNvPr id="72" name="Shape 66"/>
          <p:cNvSpPr/>
          <p:nvPr/>
        </p:nvSpPr>
        <p:spPr>
          <a:xfrm>
            <a:off x="8375904" y="3621024"/>
            <a:ext cx="169164" cy="73152"/>
          </a:xfrm>
          <a:prstGeom prst="rect">
            <a:avLst/>
          </a:prstGeom>
          <a:solidFill>
            <a:srgbClr val="009D9A"/>
          </a:solidFill>
          <a:ln/>
        </p:spPr>
      </p:sp>
      <p:sp>
        <p:nvSpPr>
          <p:cNvPr id="73" name="Shape 67"/>
          <p:cNvSpPr/>
          <p:nvPr/>
        </p:nvSpPr>
        <p:spPr>
          <a:xfrm>
            <a:off x="8586216" y="3476549"/>
            <a:ext cx="141732" cy="89611"/>
          </a:xfrm>
          <a:prstGeom prst="rect">
            <a:avLst/>
          </a:prstGeom>
          <a:solidFill>
            <a:srgbClr val="009D9A"/>
          </a:solidFill>
          <a:ln/>
        </p:spPr>
      </p:sp>
      <p:sp>
        <p:nvSpPr>
          <p:cNvPr id="74" name="Shape 68"/>
          <p:cNvSpPr/>
          <p:nvPr/>
        </p:nvSpPr>
        <p:spPr>
          <a:xfrm>
            <a:off x="8563356" y="3621024"/>
            <a:ext cx="169164" cy="73152"/>
          </a:xfrm>
          <a:prstGeom prst="rect">
            <a:avLst/>
          </a:prstGeom>
          <a:solidFill>
            <a:srgbClr val="009D9A"/>
          </a:solidFill>
          <a:ln/>
        </p:spPr>
      </p:sp>
      <p:sp>
        <p:nvSpPr>
          <p:cNvPr id="75" name="Text 69"/>
          <p:cNvSpPr txBox="1"/>
          <p:nvPr/>
        </p:nvSpPr>
        <p:spPr>
          <a:xfrm>
            <a:off x="4206240" y="3749040"/>
            <a:ext cx="548640" cy="182880"/>
          </a:xfrm>
          <a:prstGeom prst="rect">
            <a:avLst/>
          </a:prstGeom>
          <a:noFill/>
          <a:ln/>
        </p:spPr>
        <p:txBody>
          <a:bodyPr wrap="square" lIns="0" tIns="0" rIns="0" bIns="0" rtlCol="0" anchor="t"/>
          <a:lstStyle/>
          <a:p>
            <a:pPr indent="0" marL="0">
              <a:buNone/>
            </a:pPr>
            <a:r>
              <a:rPr lang="en-US" sz="900" dirty="0">
                <a:solidFill>
                  <a:srgbClr val="8D8D8D"/>
                </a:solidFill>
                <a:latin typeface="Consolas" pitchFamily="34" charset="0"/>
                <a:ea typeface="Consolas" pitchFamily="34" charset="-122"/>
                <a:cs typeface="Consolas" pitchFamily="34" charset="-120"/>
              </a:rPr>
              <a:t>12:00</a:t>
            </a:r>
            <a:endParaRPr lang="en-US" sz="900" dirty="0"/>
          </a:p>
        </p:txBody>
      </p:sp>
      <p:sp>
        <p:nvSpPr>
          <p:cNvPr id="76" name="Text 70"/>
          <p:cNvSpPr txBox="1"/>
          <p:nvPr/>
        </p:nvSpPr>
        <p:spPr>
          <a:xfrm>
            <a:off x="5330952" y="3749040"/>
            <a:ext cx="548640" cy="182880"/>
          </a:xfrm>
          <a:prstGeom prst="rect">
            <a:avLst/>
          </a:prstGeom>
          <a:noFill/>
          <a:ln/>
        </p:spPr>
        <p:txBody>
          <a:bodyPr wrap="square" lIns="0" tIns="0" rIns="0" bIns="0" rtlCol="0" anchor="t"/>
          <a:lstStyle/>
          <a:p>
            <a:pPr indent="0" marL="0">
              <a:buNone/>
            </a:pPr>
            <a:r>
              <a:rPr lang="en-US" sz="900" dirty="0">
                <a:solidFill>
                  <a:srgbClr val="8D8D8D"/>
                </a:solidFill>
                <a:latin typeface="Consolas" pitchFamily="34" charset="0"/>
                <a:ea typeface="Consolas" pitchFamily="34" charset="-122"/>
                <a:cs typeface="Consolas" pitchFamily="34" charset="-120"/>
              </a:rPr>
              <a:t>18:00</a:t>
            </a:r>
            <a:endParaRPr lang="en-US" sz="900" dirty="0"/>
          </a:p>
        </p:txBody>
      </p:sp>
      <p:sp>
        <p:nvSpPr>
          <p:cNvPr id="77" name="Text 71"/>
          <p:cNvSpPr txBox="1"/>
          <p:nvPr/>
        </p:nvSpPr>
        <p:spPr>
          <a:xfrm>
            <a:off x="6455664" y="3749040"/>
            <a:ext cx="548640" cy="182880"/>
          </a:xfrm>
          <a:prstGeom prst="rect">
            <a:avLst/>
          </a:prstGeom>
          <a:noFill/>
          <a:ln/>
        </p:spPr>
        <p:txBody>
          <a:bodyPr wrap="square" lIns="0" tIns="0" rIns="0" bIns="0" rtlCol="0" anchor="t"/>
          <a:lstStyle/>
          <a:p>
            <a:pPr indent="0" marL="0">
              <a:buNone/>
            </a:pPr>
            <a:r>
              <a:rPr lang="en-US" sz="900" dirty="0">
                <a:solidFill>
                  <a:srgbClr val="8D8D8D"/>
                </a:solidFill>
                <a:latin typeface="Consolas" pitchFamily="34" charset="0"/>
                <a:ea typeface="Consolas" pitchFamily="34" charset="-122"/>
                <a:cs typeface="Consolas" pitchFamily="34" charset="-120"/>
              </a:rPr>
              <a:t>00:00</a:t>
            </a:r>
            <a:endParaRPr lang="en-US" sz="900" dirty="0"/>
          </a:p>
        </p:txBody>
      </p:sp>
      <p:sp>
        <p:nvSpPr>
          <p:cNvPr id="78" name="Text 72"/>
          <p:cNvSpPr txBox="1"/>
          <p:nvPr/>
        </p:nvSpPr>
        <p:spPr>
          <a:xfrm>
            <a:off x="7580376" y="3749040"/>
            <a:ext cx="548640" cy="182880"/>
          </a:xfrm>
          <a:prstGeom prst="rect">
            <a:avLst/>
          </a:prstGeom>
          <a:noFill/>
          <a:ln/>
        </p:spPr>
        <p:txBody>
          <a:bodyPr wrap="square" lIns="0" tIns="0" rIns="0" bIns="0" rtlCol="0" anchor="t"/>
          <a:lstStyle/>
          <a:p>
            <a:pPr indent="0" marL="0">
              <a:buNone/>
            </a:pPr>
            <a:r>
              <a:rPr lang="en-US" sz="900" dirty="0">
                <a:solidFill>
                  <a:srgbClr val="8D8D8D"/>
                </a:solidFill>
                <a:latin typeface="Consolas" pitchFamily="34" charset="0"/>
                <a:ea typeface="Consolas" pitchFamily="34" charset="-122"/>
                <a:cs typeface="Consolas" pitchFamily="34" charset="-120"/>
              </a:rPr>
              <a:t>06:00</a:t>
            </a:r>
            <a:endParaRPr lang="en-US" sz="900" dirty="0"/>
          </a:p>
        </p:txBody>
      </p:sp>
      <p:sp>
        <p:nvSpPr>
          <p:cNvPr id="79" name="Shape 73"/>
          <p:cNvSpPr/>
          <p:nvPr/>
        </p:nvSpPr>
        <p:spPr>
          <a:xfrm>
            <a:off x="6355080" y="2331720"/>
            <a:ext cx="109728" cy="109728"/>
          </a:xfrm>
          <a:prstGeom prst="ellipse">
            <a:avLst/>
          </a:prstGeom>
          <a:solidFill>
            <a:srgbClr val="FF832B"/>
          </a:solidFill>
          <a:ln/>
        </p:spPr>
      </p:sp>
      <p:sp>
        <p:nvSpPr>
          <p:cNvPr id="80" name="Text 74"/>
          <p:cNvSpPr txBox="1"/>
          <p:nvPr/>
        </p:nvSpPr>
        <p:spPr>
          <a:xfrm>
            <a:off x="6528816" y="2258568"/>
            <a:ext cx="2286000" cy="384048"/>
          </a:xfrm>
          <a:prstGeom prst="rect">
            <a:avLst/>
          </a:prstGeom>
          <a:noFill/>
          <a:ln/>
        </p:spPr>
        <p:txBody>
          <a:bodyPr wrap="square" lIns="0" tIns="0" rIns="0" bIns="0" rtlCol="0" anchor="t"/>
          <a:lstStyle/>
          <a:p>
            <a:pPr indent="0" marL="0">
              <a:buNone/>
            </a:pPr>
            <a:r>
              <a:rPr lang="en-US" sz="1000" dirty="0">
                <a:solidFill>
                  <a:srgbClr val="161616"/>
                </a:solidFill>
              </a:rPr>
              <a:t>Everyone plugs in at 6 pm and pays</a:t>
            </a:r>
            <a:endParaRPr lang="en-US" sz="1000" dirty="0"/>
          </a:p>
          <a:p>
            <a:pPr indent="0" marL="0">
              <a:buNone/>
            </a:pPr>
            <a:r>
              <a:rPr lang="en-US" sz="1000" dirty="0">
                <a:solidFill>
                  <a:srgbClr val="161616"/>
                </a:solidFill>
              </a:rPr>
              <a:t>the ₹11.40/kWh evening peak</a:t>
            </a:r>
            <a:endParaRPr lang="en-US" sz="1000" dirty="0"/>
          </a:p>
        </p:txBody>
      </p:sp>
      <p:sp>
        <p:nvSpPr>
          <p:cNvPr id="81" name="Shape 75"/>
          <p:cNvSpPr/>
          <p:nvPr/>
        </p:nvSpPr>
        <p:spPr>
          <a:xfrm>
            <a:off x="4251960" y="3995928"/>
            <a:ext cx="91440" cy="91440"/>
          </a:xfrm>
          <a:prstGeom prst="rect">
            <a:avLst/>
          </a:prstGeom>
          <a:solidFill>
            <a:srgbClr val="FF832B"/>
          </a:solidFill>
          <a:ln/>
        </p:spPr>
      </p:sp>
      <p:sp>
        <p:nvSpPr>
          <p:cNvPr id="82" name="Text 76"/>
          <p:cNvSpPr txBox="1"/>
          <p:nvPr/>
        </p:nvSpPr>
        <p:spPr>
          <a:xfrm>
            <a:off x="4389120" y="3931920"/>
            <a:ext cx="502920" cy="201168"/>
          </a:xfrm>
          <a:prstGeom prst="rect">
            <a:avLst/>
          </a:prstGeom>
          <a:noFill/>
          <a:ln/>
        </p:spPr>
        <p:txBody>
          <a:bodyPr wrap="square" lIns="0" tIns="0" rIns="0" bIns="0" rtlCol="0" anchor="t"/>
          <a:lstStyle/>
          <a:p>
            <a:pPr indent="0" marL="0">
              <a:buNone/>
            </a:pPr>
            <a:r>
              <a:rPr lang="en-US" sz="900" dirty="0">
                <a:solidFill>
                  <a:srgbClr val="525252"/>
                </a:solidFill>
              </a:rPr>
              <a:t>Peak</a:t>
            </a:r>
            <a:endParaRPr lang="en-US" sz="900" dirty="0"/>
          </a:p>
        </p:txBody>
      </p:sp>
      <p:sp>
        <p:nvSpPr>
          <p:cNvPr id="83" name="Shape 77"/>
          <p:cNvSpPr/>
          <p:nvPr/>
        </p:nvSpPr>
        <p:spPr>
          <a:xfrm>
            <a:off x="4892040" y="3995928"/>
            <a:ext cx="91440" cy="91440"/>
          </a:xfrm>
          <a:prstGeom prst="rect">
            <a:avLst/>
          </a:prstGeom>
          <a:solidFill>
            <a:srgbClr val="009D9A"/>
          </a:solidFill>
          <a:ln/>
        </p:spPr>
      </p:sp>
      <p:sp>
        <p:nvSpPr>
          <p:cNvPr id="84" name="Text 78"/>
          <p:cNvSpPr txBox="1"/>
          <p:nvPr/>
        </p:nvSpPr>
        <p:spPr>
          <a:xfrm>
            <a:off x="5029200" y="3931920"/>
            <a:ext cx="731520" cy="201168"/>
          </a:xfrm>
          <a:prstGeom prst="rect">
            <a:avLst/>
          </a:prstGeom>
          <a:noFill/>
          <a:ln/>
        </p:spPr>
        <p:txBody>
          <a:bodyPr wrap="square" lIns="0" tIns="0" rIns="0" bIns="0" rtlCol="0" anchor="t"/>
          <a:lstStyle/>
          <a:p>
            <a:pPr indent="0" marL="0">
              <a:buNone/>
            </a:pPr>
            <a:r>
              <a:rPr lang="en-US" sz="900" dirty="0">
                <a:solidFill>
                  <a:srgbClr val="525252"/>
                </a:solidFill>
              </a:rPr>
              <a:t>Shoulder</a:t>
            </a:r>
            <a:endParaRPr lang="en-US" sz="900" dirty="0"/>
          </a:p>
        </p:txBody>
      </p:sp>
      <p:sp>
        <p:nvSpPr>
          <p:cNvPr id="85" name="Shape 79"/>
          <p:cNvSpPr/>
          <p:nvPr/>
        </p:nvSpPr>
        <p:spPr>
          <a:xfrm>
            <a:off x="5760720" y="3995928"/>
            <a:ext cx="91440" cy="91440"/>
          </a:xfrm>
          <a:prstGeom prst="rect">
            <a:avLst/>
          </a:prstGeom>
          <a:solidFill>
            <a:srgbClr val="0F62FE"/>
          </a:solidFill>
          <a:ln/>
        </p:spPr>
      </p:sp>
      <p:sp>
        <p:nvSpPr>
          <p:cNvPr id="86" name="Text 80"/>
          <p:cNvSpPr txBox="1"/>
          <p:nvPr/>
        </p:nvSpPr>
        <p:spPr>
          <a:xfrm>
            <a:off x="5897880" y="3931920"/>
            <a:ext cx="685800" cy="201168"/>
          </a:xfrm>
          <a:prstGeom prst="rect">
            <a:avLst/>
          </a:prstGeom>
          <a:noFill/>
          <a:ln/>
        </p:spPr>
        <p:txBody>
          <a:bodyPr wrap="square" lIns="0" tIns="0" rIns="0" bIns="0" rtlCol="0" anchor="t"/>
          <a:lstStyle/>
          <a:p>
            <a:pPr indent="0" marL="0">
              <a:buNone/>
            </a:pPr>
            <a:r>
              <a:rPr lang="en-US" sz="900" dirty="0">
                <a:solidFill>
                  <a:srgbClr val="525252"/>
                </a:solidFill>
              </a:rPr>
              <a:t>Off-peak</a:t>
            </a:r>
            <a:endParaRPr lang="en-US" sz="900" dirty="0"/>
          </a:p>
        </p:txBody>
      </p:sp>
      <p:sp>
        <p:nvSpPr>
          <p:cNvPr id="87" name="Shape 81"/>
          <p:cNvSpPr/>
          <p:nvPr/>
        </p:nvSpPr>
        <p:spPr>
          <a:xfrm>
            <a:off x="9006840" y="1965960"/>
            <a:ext cx="0" cy="2057400"/>
          </a:xfrm>
          <a:prstGeom prst="line">
            <a:avLst/>
          </a:prstGeom>
          <a:noFill/>
          <a:ln w="9525">
            <a:solidFill>
              <a:srgbClr val="E0E0E0"/>
            </a:solidFill>
            <a:prstDash val="solid"/>
          </a:ln>
        </p:spPr>
      </p:sp>
      <p:sp>
        <p:nvSpPr>
          <p:cNvPr id="88" name="Text 82"/>
          <p:cNvSpPr txBox="1"/>
          <p:nvPr/>
        </p:nvSpPr>
        <p:spPr>
          <a:xfrm>
            <a:off x="9235440" y="1901952"/>
            <a:ext cx="2286000" cy="566928"/>
          </a:xfrm>
          <a:prstGeom prst="rect">
            <a:avLst/>
          </a:prstGeom>
          <a:noFill/>
          <a:ln/>
        </p:spPr>
        <p:txBody>
          <a:bodyPr wrap="square" lIns="0" tIns="0" rIns="0" bIns="0" rtlCol="0" anchor="t"/>
          <a:lstStyle/>
          <a:p>
            <a:pPr indent="0" marL="0">
              <a:buNone/>
            </a:pPr>
            <a:r>
              <a:rPr lang="en-US" sz="3800" dirty="0">
                <a:solidFill>
                  <a:srgbClr val="BA4E00"/>
                </a:solidFill>
                <a:latin typeface="+mj-lt" pitchFamily="34" charset="0"/>
                <a:ea typeface="+mj-lt" pitchFamily="34" charset="-122"/>
                <a:cs typeface="+mj-lt" pitchFamily="34" charset="-120"/>
              </a:rPr>
              <a:t>82%</a:t>
            </a:r>
            <a:endParaRPr lang="en-US" sz="3800" dirty="0"/>
          </a:p>
        </p:txBody>
      </p:sp>
      <p:sp>
        <p:nvSpPr>
          <p:cNvPr id="89" name="Text 83"/>
          <p:cNvSpPr txBox="1"/>
          <p:nvPr/>
        </p:nvSpPr>
        <p:spPr>
          <a:xfrm>
            <a:off x="9235440" y="2487168"/>
            <a:ext cx="2331720" cy="384048"/>
          </a:xfrm>
          <a:prstGeom prst="rect">
            <a:avLst/>
          </a:prstGeom>
          <a:noFill/>
          <a:ln/>
        </p:spPr>
        <p:txBody>
          <a:bodyPr wrap="square" lIns="0" tIns="0" rIns="0" bIns="0" rtlCol="0" anchor="t"/>
          <a:lstStyle/>
          <a:p>
            <a:pPr indent="0" marL="0">
              <a:buNone/>
            </a:pPr>
            <a:r>
              <a:rPr lang="en-US" sz="1050" dirty="0">
                <a:solidFill>
                  <a:srgbClr val="525252"/>
                </a:solidFill>
              </a:rPr>
              <a:t>of charging energy lands in the</a:t>
            </a:r>
            <a:endParaRPr lang="en-US" sz="1050" dirty="0"/>
          </a:p>
          <a:p>
            <a:pPr indent="0" marL="0">
              <a:buNone/>
            </a:pPr>
            <a:r>
              <a:rPr lang="en-US" sz="1050" dirty="0">
                <a:solidFill>
                  <a:srgbClr val="525252"/>
                </a:solidFill>
              </a:rPr>
              <a:t>₹11.40 evening peak window</a:t>
            </a:r>
            <a:endParaRPr lang="en-US" sz="1050" dirty="0"/>
          </a:p>
        </p:txBody>
      </p:sp>
      <p:sp>
        <p:nvSpPr>
          <p:cNvPr id="90" name="Text 84"/>
          <p:cNvSpPr txBox="1"/>
          <p:nvPr/>
        </p:nvSpPr>
        <p:spPr>
          <a:xfrm>
            <a:off x="9235440" y="2990088"/>
            <a:ext cx="2286000" cy="457200"/>
          </a:xfrm>
          <a:prstGeom prst="rect">
            <a:avLst/>
          </a:prstGeom>
          <a:noFill/>
          <a:ln/>
        </p:spPr>
        <p:txBody>
          <a:bodyPr wrap="square" lIns="0" tIns="0" rIns="0" bIns="0" rtlCol="0" anchor="t"/>
          <a:lstStyle/>
          <a:p>
            <a:pPr indent="0" marL="0">
              <a:buNone/>
            </a:pPr>
            <a:r>
              <a:rPr lang="en-US" sz="2600" dirty="0">
                <a:solidFill>
                  <a:srgbClr val="DA1E28"/>
                </a:solidFill>
                <a:latin typeface="+mj-lt" pitchFamily="34" charset="0"/>
                <a:ea typeface="+mj-lt" pitchFamily="34" charset="-122"/>
                <a:cs typeface="+mj-lt" pitchFamily="34" charset="-120"/>
              </a:rPr>
              <a:t>8 of 66</a:t>
            </a:r>
            <a:endParaRPr lang="en-US" sz="2600" dirty="0"/>
          </a:p>
        </p:txBody>
      </p:sp>
      <p:sp>
        <p:nvSpPr>
          <p:cNvPr id="91" name="Text 85"/>
          <p:cNvSpPr txBox="1"/>
          <p:nvPr/>
        </p:nvSpPr>
        <p:spPr>
          <a:xfrm>
            <a:off x="9235440" y="3456432"/>
            <a:ext cx="2331720" cy="384048"/>
          </a:xfrm>
          <a:prstGeom prst="rect">
            <a:avLst/>
          </a:prstGeom>
          <a:noFill/>
          <a:ln/>
        </p:spPr>
        <p:txBody>
          <a:bodyPr wrap="square" lIns="0" tIns="0" rIns="0" bIns="0" rtlCol="0" anchor="t"/>
          <a:lstStyle/>
          <a:p>
            <a:pPr indent="0" marL="0">
              <a:buNone/>
            </a:pPr>
            <a:r>
              <a:rPr lang="en-US" sz="1050" dirty="0">
                <a:solidFill>
                  <a:srgbClr val="525252"/>
                </a:solidFill>
              </a:rPr>
              <a:t>departures at risk, 478 kWh short</a:t>
            </a:r>
            <a:endParaRPr lang="en-US" sz="1050" dirty="0"/>
          </a:p>
          <a:p>
            <a:pPr indent="0" marL="0">
              <a:buNone/>
            </a:pPr>
            <a:r>
              <a:rPr lang="en-US" sz="1050" dirty="0">
                <a:solidFill>
                  <a:srgbClr val="525252"/>
                </a:solidFill>
              </a:rPr>
              <a:t>of the charge they need</a:t>
            </a:r>
            <a:endParaRPr lang="en-US" sz="1050" dirty="0"/>
          </a:p>
        </p:txBody>
      </p:sp>
      <p:sp>
        <p:nvSpPr>
          <p:cNvPr id="92" name="Shape 86"/>
          <p:cNvSpPr/>
          <p:nvPr/>
        </p:nvSpPr>
        <p:spPr>
          <a:xfrm>
            <a:off x="548640" y="4407408"/>
            <a:ext cx="4206240" cy="1353312"/>
          </a:xfrm>
          <a:prstGeom prst="roundRect">
            <a:avLst>
              <a:gd name="adj" fmla="val 5405"/>
            </a:avLst>
          </a:prstGeom>
          <a:solidFill>
            <a:srgbClr val="F2F4F8"/>
          </a:solidFill>
          <a:ln/>
        </p:spPr>
      </p:sp>
      <p:sp>
        <p:nvSpPr>
          <p:cNvPr id="93" name="Text 87"/>
          <p:cNvSpPr txBox="1"/>
          <p:nvPr/>
        </p:nvSpPr>
        <p:spPr>
          <a:xfrm>
            <a:off x="777240" y="4544568"/>
            <a:ext cx="27432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WHY IT EXISTS</a:t>
            </a:r>
            <a:endParaRPr lang="en-US" sz="1000" dirty="0"/>
          </a:p>
        </p:txBody>
      </p:sp>
      <p:sp>
        <p:nvSpPr>
          <p:cNvPr id="94" name="Shape 88"/>
          <p:cNvSpPr/>
          <p:nvPr/>
        </p:nvSpPr>
        <p:spPr>
          <a:xfrm>
            <a:off x="777240" y="4846320"/>
            <a:ext cx="1892808" cy="347472"/>
          </a:xfrm>
          <a:prstGeom prst="roundRect">
            <a:avLst>
              <a:gd name="adj" fmla="val 15789"/>
            </a:avLst>
          </a:prstGeom>
          <a:solidFill>
            <a:srgbClr val="FFFFFF"/>
          </a:solidFill>
          <a:ln/>
        </p:spPr>
      </p:sp>
      <p:pic>
        <p:nvPicPr>
          <p:cNvPr id="95" name="Image 4" descr="preencoded.png">    </p:cNvPr>
          <p:cNvPicPr>
            <a:picLocks noChangeAspect="1"/>
          </p:cNvPicPr>
          <p:nvPr/>
        </p:nvPicPr>
        <p:blipFill>
          <a:blip r:embed="rId5"/>
          <a:stretch>
            <a:fillRect/>
          </a:stretch>
        </p:blipFill>
        <p:spPr>
          <a:xfrm>
            <a:off x="868680" y="4919472"/>
            <a:ext cx="201168" cy="201168"/>
          </a:xfrm>
          <a:prstGeom prst="rect">
            <a:avLst/>
          </a:prstGeom>
        </p:spPr>
      </p:pic>
      <p:sp>
        <p:nvSpPr>
          <p:cNvPr id="96" name="Text 89"/>
          <p:cNvSpPr txBox="1"/>
          <p:nvPr/>
        </p:nvSpPr>
        <p:spPr>
          <a:xfrm>
            <a:off x="1143000" y="4846320"/>
            <a:ext cx="1508760" cy="347472"/>
          </a:xfrm>
          <a:prstGeom prst="rect">
            <a:avLst/>
          </a:prstGeom>
          <a:noFill/>
          <a:ln/>
        </p:spPr>
        <p:txBody>
          <a:bodyPr wrap="square" lIns="0" tIns="0" rIns="0" bIns="0" rtlCol="0" anchor="ctr"/>
          <a:lstStyle/>
          <a:p>
            <a:pPr indent="0" marL="0">
              <a:buNone/>
            </a:pPr>
            <a:r>
              <a:rPr lang="en-US" sz="1050" dirty="0">
                <a:solidFill>
                  <a:srgbClr val="161616"/>
                </a:solidFill>
              </a:rPr>
              <a:t>Plug in = charge now</a:t>
            </a:r>
            <a:endParaRPr lang="en-US" sz="1050" dirty="0"/>
          </a:p>
        </p:txBody>
      </p:sp>
      <p:sp>
        <p:nvSpPr>
          <p:cNvPr id="97" name="Shape 90"/>
          <p:cNvSpPr/>
          <p:nvPr/>
        </p:nvSpPr>
        <p:spPr>
          <a:xfrm>
            <a:off x="2761488" y="4846320"/>
            <a:ext cx="1892808" cy="347472"/>
          </a:xfrm>
          <a:prstGeom prst="roundRect">
            <a:avLst>
              <a:gd name="adj" fmla="val 15789"/>
            </a:avLst>
          </a:prstGeom>
          <a:solidFill>
            <a:srgbClr val="FFFFFF"/>
          </a:solidFill>
          <a:ln/>
        </p:spPr>
      </p:sp>
      <p:pic>
        <p:nvPicPr>
          <p:cNvPr id="98" name="Image 5" descr="preencoded.png">    </p:cNvPr>
          <p:cNvPicPr>
            <a:picLocks noChangeAspect="1"/>
          </p:cNvPicPr>
          <p:nvPr/>
        </p:nvPicPr>
        <p:blipFill>
          <a:blip r:embed="rId6"/>
          <a:stretch>
            <a:fillRect/>
          </a:stretch>
        </p:blipFill>
        <p:spPr>
          <a:xfrm>
            <a:off x="2852928" y="4919472"/>
            <a:ext cx="201168" cy="201168"/>
          </a:xfrm>
          <a:prstGeom prst="rect">
            <a:avLst/>
          </a:prstGeom>
        </p:spPr>
      </p:pic>
      <p:sp>
        <p:nvSpPr>
          <p:cNvPr id="99" name="Text 91"/>
          <p:cNvSpPr txBox="1"/>
          <p:nvPr/>
        </p:nvSpPr>
        <p:spPr>
          <a:xfrm>
            <a:off x="3127248" y="4846320"/>
            <a:ext cx="1508760" cy="347472"/>
          </a:xfrm>
          <a:prstGeom prst="rect">
            <a:avLst/>
          </a:prstGeom>
          <a:noFill/>
          <a:ln/>
        </p:spPr>
        <p:txBody>
          <a:bodyPr wrap="square" lIns="0" tIns="0" rIns="0" bIns="0" rtlCol="0" anchor="ctr"/>
          <a:lstStyle/>
          <a:p>
            <a:pPr indent="0" marL="0">
              <a:buNone/>
            </a:pPr>
            <a:r>
              <a:rPr lang="en-US" sz="1050" dirty="0">
                <a:solidFill>
                  <a:srgbClr val="161616"/>
                </a:solidFill>
              </a:rPr>
              <a:t>Tariff windows ignored</a:t>
            </a:r>
            <a:endParaRPr lang="en-US" sz="1050" dirty="0"/>
          </a:p>
        </p:txBody>
      </p:sp>
      <p:sp>
        <p:nvSpPr>
          <p:cNvPr id="100" name="Shape 92"/>
          <p:cNvSpPr/>
          <p:nvPr/>
        </p:nvSpPr>
        <p:spPr>
          <a:xfrm>
            <a:off x="777240" y="5266944"/>
            <a:ext cx="1892808" cy="347472"/>
          </a:xfrm>
          <a:prstGeom prst="roundRect">
            <a:avLst>
              <a:gd name="adj" fmla="val 15789"/>
            </a:avLst>
          </a:prstGeom>
          <a:solidFill>
            <a:srgbClr val="FFFFFF"/>
          </a:solidFill>
          <a:ln/>
        </p:spPr>
      </p:sp>
      <p:pic>
        <p:nvPicPr>
          <p:cNvPr id="101" name="Image 6" descr="preencoded.png">    </p:cNvPr>
          <p:cNvPicPr>
            <a:picLocks noChangeAspect="1"/>
          </p:cNvPicPr>
          <p:nvPr/>
        </p:nvPicPr>
        <p:blipFill>
          <a:blip r:embed="rId7"/>
          <a:stretch>
            <a:fillRect/>
          </a:stretch>
        </p:blipFill>
        <p:spPr>
          <a:xfrm>
            <a:off x="868680" y="5340096"/>
            <a:ext cx="201168" cy="201168"/>
          </a:xfrm>
          <a:prstGeom prst="rect">
            <a:avLst/>
          </a:prstGeom>
        </p:spPr>
      </p:pic>
      <p:sp>
        <p:nvSpPr>
          <p:cNvPr id="102" name="Text 93"/>
          <p:cNvSpPr txBox="1"/>
          <p:nvPr/>
        </p:nvSpPr>
        <p:spPr>
          <a:xfrm>
            <a:off x="1143000" y="5266944"/>
            <a:ext cx="1508760" cy="347472"/>
          </a:xfrm>
          <a:prstGeom prst="rect">
            <a:avLst/>
          </a:prstGeom>
          <a:noFill/>
          <a:ln/>
        </p:spPr>
        <p:txBody>
          <a:bodyPr wrap="square" lIns="0" tIns="0" rIns="0" bIns="0" rtlCol="0" anchor="ctr"/>
          <a:lstStyle/>
          <a:p>
            <a:pPr indent="0" marL="0">
              <a:buNone/>
            </a:pPr>
            <a:r>
              <a:rPr lang="en-US" sz="1050" dirty="0">
                <a:solidFill>
                  <a:srgbClr val="161616"/>
                </a:solidFill>
              </a:rPr>
              <a:t>First-come chargers</a:t>
            </a:r>
            <a:endParaRPr lang="en-US" sz="1050" dirty="0"/>
          </a:p>
        </p:txBody>
      </p:sp>
      <p:sp>
        <p:nvSpPr>
          <p:cNvPr id="103" name="Shape 94"/>
          <p:cNvSpPr/>
          <p:nvPr/>
        </p:nvSpPr>
        <p:spPr>
          <a:xfrm>
            <a:off x="2761488" y="5266944"/>
            <a:ext cx="1892808" cy="347472"/>
          </a:xfrm>
          <a:prstGeom prst="roundRect">
            <a:avLst>
              <a:gd name="adj" fmla="val 15789"/>
            </a:avLst>
          </a:prstGeom>
          <a:solidFill>
            <a:srgbClr val="FFFFFF"/>
          </a:solidFill>
          <a:ln/>
        </p:spPr>
      </p:sp>
      <p:pic>
        <p:nvPicPr>
          <p:cNvPr id="104" name="Image 7" descr="preencoded.png">    </p:cNvPr>
          <p:cNvPicPr>
            <a:picLocks noChangeAspect="1"/>
          </p:cNvPicPr>
          <p:nvPr/>
        </p:nvPicPr>
        <p:blipFill>
          <a:blip r:embed="rId8"/>
          <a:stretch>
            <a:fillRect/>
          </a:stretch>
        </p:blipFill>
        <p:spPr>
          <a:xfrm>
            <a:off x="2852928" y="5340096"/>
            <a:ext cx="201168" cy="201168"/>
          </a:xfrm>
          <a:prstGeom prst="rect">
            <a:avLst/>
          </a:prstGeom>
        </p:spPr>
      </p:pic>
      <p:sp>
        <p:nvSpPr>
          <p:cNvPr id="105" name="Text 95"/>
          <p:cNvSpPr txBox="1"/>
          <p:nvPr/>
        </p:nvSpPr>
        <p:spPr>
          <a:xfrm>
            <a:off x="3127248" y="5266944"/>
            <a:ext cx="1508760" cy="347472"/>
          </a:xfrm>
          <a:prstGeom prst="rect">
            <a:avLst/>
          </a:prstGeom>
          <a:noFill/>
          <a:ln/>
        </p:spPr>
        <p:txBody>
          <a:bodyPr wrap="square" lIns="0" tIns="0" rIns="0" bIns="0" rtlCol="0" anchor="ctr"/>
          <a:lstStyle/>
          <a:p>
            <a:pPr indent="0" marL="0">
              <a:buNone/>
            </a:pPr>
            <a:r>
              <a:rPr lang="en-US" sz="1050" dirty="0">
                <a:solidFill>
                  <a:srgbClr val="161616"/>
                </a:solidFill>
              </a:rPr>
              <a:t>No departure priority</a:t>
            </a:r>
            <a:endParaRPr lang="en-US" sz="1050" dirty="0"/>
          </a:p>
        </p:txBody>
      </p:sp>
      <p:sp>
        <p:nvSpPr>
          <p:cNvPr id="106" name="Shape 96"/>
          <p:cNvSpPr/>
          <p:nvPr/>
        </p:nvSpPr>
        <p:spPr>
          <a:xfrm>
            <a:off x="4983480" y="4407408"/>
            <a:ext cx="2103120" cy="1353312"/>
          </a:xfrm>
          <a:prstGeom prst="roundRect">
            <a:avLst>
              <a:gd name="adj" fmla="val 5405"/>
            </a:avLst>
          </a:prstGeom>
          <a:solidFill>
            <a:srgbClr val="FFFFFF"/>
          </a:solidFill>
          <a:ln w="9525">
            <a:solidFill>
              <a:srgbClr val="E0E0E0"/>
            </a:solidFill>
            <a:prstDash val="solid"/>
          </a:ln>
          <a:effectLst>
            <a:outerShdw sx="100000" sy="100000" kx="0" ky="0" algn="bl" rotWithShape="0" blurRad="177800" dist="38100" dir="5400000">
              <a:srgbClr val="0A1E4A">
                <a:alpha val="8000"/>
              </a:srgbClr>
            </a:outerShdw>
          </a:effectLst>
        </p:spPr>
      </p:sp>
      <p:sp>
        <p:nvSpPr>
          <p:cNvPr id="107" name="Text 97"/>
          <p:cNvSpPr txBox="1"/>
          <p:nvPr/>
        </p:nvSpPr>
        <p:spPr>
          <a:xfrm>
            <a:off x="5166360" y="4553712"/>
            <a:ext cx="1828800" cy="457200"/>
          </a:xfrm>
          <a:prstGeom prst="rect">
            <a:avLst/>
          </a:prstGeom>
          <a:noFill/>
          <a:ln/>
        </p:spPr>
        <p:txBody>
          <a:bodyPr wrap="square" lIns="0" tIns="0" rIns="0" bIns="0" rtlCol="0" anchor="t"/>
          <a:lstStyle/>
          <a:p>
            <a:pPr indent="0" marL="0">
              <a:buNone/>
            </a:pPr>
            <a:r>
              <a:rPr lang="en-US" sz="2400" dirty="0">
                <a:solidFill>
                  <a:srgbClr val="BA4E00"/>
                </a:solidFill>
                <a:latin typeface="+mj-lt" pitchFamily="34" charset="0"/>
                <a:ea typeface="+mj-lt" pitchFamily="34" charset="-122"/>
                <a:cs typeface="+mj-lt" pitchFamily="34" charset="-120"/>
              </a:rPr>
              <a:t>+30–50%</a:t>
            </a:r>
            <a:endParaRPr lang="en-US" sz="2400" dirty="0"/>
          </a:p>
        </p:txBody>
      </p:sp>
      <p:sp>
        <p:nvSpPr>
          <p:cNvPr id="108" name="Text 98"/>
          <p:cNvSpPr txBox="1"/>
          <p:nvPr/>
        </p:nvSpPr>
        <p:spPr>
          <a:xfrm>
            <a:off x="5166360" y="5029200"/>
            <a:ext cx="1828800" cy="402336"/>
          </a:xfrm>
          <a:prstGeom prst="rect">
            <a:avLst/>
          </a:prstGeom>
          <a:noFill/>
          <a:ln/>
        </p:spPr>
        <p:txBody>
          <a:bodyPr wrap="square" lIns="0" tIns="0" rIns="0" bIns="0" rtlCol="0" anchor="t"/>
          <a:lstStyle/>
          <a:p>
            <a:pPr indent="0" marL="0">
              <a:buNone/>
            </a:pPr>
            <a:r>
              <a:rPr lang="en-US" sz="1050" dirty="0">
                <a:solidFill>
                  <a:srgbClr val="525252"/>
                </a:solidFill>
              </a:rPr>
              <a:t>added to electricity cost</a:t>
            </a:r>
            <a:endParaRPr lang="en-US" sz="1050" dirty="0"/>
          </a:p>
          <a:p>
            <a:pPr indent="0" marL="0">
              <a:buNone/>
            </a:pPr>
            <a:r>
              <a:rPr lang="en-US" sz="1050" dirty="0">
                <a:solidFill>
                  <a:srgbClr val="525252"/>
                </a:solidFill>
              </a:rPr>
              <a:t>by peak demand charges</a:t>
            </a:r>
            <a:endParaRPr lang="en-US" sz="1050" dirty="0"/>
          </a:p>
        </p:txBody>
      </p:sp>
      <p:sp>
        <p:nvSpPr>
          <p:cNvPr id="109" name="Text 99"/>
          <p:cNvSpPr txBox="1"/>
          <p:nvPr/>
        </p:nvSpPr>
        <p:spPr>
          <a:xfrm>
            <a:off x="5166360" y="5468112"/>
            <a:ext cx="1828800" cy="182880"/>
          </a:xfrm>
          <a:prstGeom prst="rect">
            <a:avLst/>
          </a:prstGeom>
          <a:noFill/>
          <a:ln/>
        </p:spPr>
        <p:txBody>
          <a:bodyPr wrap="square" lIns="0" tIns="0" rIns="0" bIns="0" rtlCol="0" anchor="t"/>
          <a:lstStyle/>
          <a:p>
            <a:pPr indent="0" marL="0">
              <a:buNone/>
            </a:pPr>
            <a:r>
              <a:rPr lang="en-US" sz="900" dirty="0">
                <a:solidFill>
                  <a:srgbClr val="8D8D8D"/>
                </a:solidFill>
              </a:rPr>
              <a:t>Source: PS A3</a:t>
            </a:r>
            <a:endParaRPr lang="en-US" sz="900" dirty="0"/>
          </a:p>
        </p:txBody>
      </p:sp>
      <p:sp>
        <p:nvSpPr>
          <p:cNvPr id="110" name="Shape 100"/>
          <p:cNvSpPr/>
          <p:nvPr/>
        </p:nvSpPr>
        <p:spPr>
          <a:xfrm>
            <a:off x="7251192" y="4407408"/>
            <a:ext cx="2103120" cy="1353312"/>
          </a:xfrm>
          <a:prstGeom prst="roundRect">
            <a:avLst>
              <a:gd name="adj" fmla="val 5405"/>
            </a:avLst>
          </a:prstGeom>
          <a:solidFill>
            <a:srgbClr val="FFFFFF"/>
          </a:solidFill>
          <a:ln w="9525">
            <a:solidFill>
              <a:srgbClr val="E0E0E0"/>
            </a:solidFill>
            <a:prstDash val="solid"/>
          </a:ln>
          <a:effectLst>
            <a:outerShdw sx="100000" sy="100000" kx="0" ky="0" algn="bl" rotWithShape="0" blurRad="177800" dist="38100" dir="5400000">
              <a:srgbClr val="0A1E4A">
                <a:alpha val="8000"/>
              </a:srgbClr>
            </a:outerShdw>
          </a:effectLst>
        </p:spPr>
      </p:sp>
      <p:sp>
        <p:nvSpPr>
          <p:cNvPr id="111" name="Text 101"/>
          <p:cNvSpPr txBox="1"/>
          <p:nvPr/>
        </p:nvSpPr>
        <p:spPr>
          <a:xfrm>
            <a:off x="7434072" y="4553712"/>
            <a:ext cx="1828800" cy="457200"/>
          </a:xfrm>
          <a:prstGeom prst="rect">
            <a:avLst/>
          </a:prstGeom>
          <a:noFill/>
          <a:ln/>
        </p:spPr>
        <p:txBody>
          <a:bodyPr wrap="square" lIns="0" tIns="0" rIns="0" bIns="0" rtlCol="0" anchor="t"/>
          <a:lstStyle/>
          <a:p>
            <a:pPr indent="0" marL="0">
              <a:buNone/>
            </a:pPr>
            <a:r>
              <a:rPr lang="en-US" sz="2400" dirty="0">
                <a:solidFill>
                  <a:srgbClr val="DA1E28"/>
                </a:solidFill>
                <a:latin typeface="+mj-lt" pitchFamily="34" charset="0"/>
                <a:ea typeface="+mj-lt" pitchFamily="34" charset="-122"/>
                <a:cs typeface="+mj-lt" pitchFamily="34" charset="-120"/>
              </a:rPr>
              <a:t>$150–300K</a:t>
            </a:r>
            <a:endParaRPr lang="en-US" sz="2400" dirty="0"/>
          </a:p>
        </p:txBody>
      </p:sp>
      <p:sp>
        <p:nvSpPr>
          <p:cNvPr id="112" name="Text 102"/>
          <p:cNvSpPr txBox="1"/>
          <p:nvPr/>
        </p:nvSpPr>
        <p:spPr>
          <a:xfrm>
            <a:off x="7434072" y="5029200"/>
            <a:ext cx="1828800" cy="402336"/>
          </a:xfrm>
          <a:prstGeom prst="rect">
            <a:avLst/>
          </a:prstGeom>
          <a:noFill/>
          <a:ln/>
        </p:spPr>
        <p:txBody>
          <a:bodyPr wrap="square" lIns="0" tIns="0" rIns="0" bIns="0" rtlCol="0" anchor="t"/>
          <a:lstStyle/>
          <a:p>
            <a:pPr indent="0" marL="0">
              <a:buNone/>
            </a:pPr>
            <a:r>
              <a:rPr lang="en-US" sz="1050" dirty="0">
                <a:solidFill>
                  <a:srgbClr val="525252"/>
                </a:solidFill>
              </a:rPr>
              <a:t>wasted per year on a</a:t>
            </a:r>
            <a:endParaRPr lang="en-US" sz="1050" dirty="0"/>
          </a:p>
          <a:p>
            <a:pPr indent="0" marL="0">
              <a:buNone/>
            </a:pPr>
            <a:r>
              <a:rPr lang="en-US" sz="1050" dirty="0">
                <a:solidFill>
                  <a:srgbClr val="525252"/>
                </a:solidFill>
              </a:rPr>
              <a:t>100-vehicle EV fleet</a:t>
            </a:r>
            <a:endParaRPr lang="en-US" sz="1050" dirty="0"/>
          </a:p>
        </p:txBody>
      </p:sp>
      <p:sp>
        <p:nvSpPr>
          <p:cNvPr id="113" name="Text 103"/>
          <p:cNvSpPr txBox="1"/>
          <p:nvPr/>
        </p:nvSpPr>
        <p:spPr>
          <a:xfrm>
            <a:off x="7434072" y="5468112"/>
            <a:ext cx="1828800" cy="182880"/>
          </a:xfrm>
          <a:prstGeom prst="rect">
            <a:avLst/>
          </a:prstGeom>
          <a:noFill/>
          <a:ln/>
        </p:spPr>
        <p:txBody>
          <a:bodyPr wrap="square" lIns="0" tIns="0" rIns="0" bIns="0" rtlCol="0" anchor="t"/>
          <a:lstStyle/>
          <a:p>
            <a:pPr indent="0" marL="0">
              <a:buNone/>
            </a:pPr>
            <a:r>
              <a:rPr lang="en-US" sz="900" dirty="0">
                <a:solidFill>
                  <a:srgbClr val="8D8D8D"/>
                </a:solidFill>
              </a:rPr>
              <a:t>Source: PS A3</a:t>
            </a:r>
            <a:endParaRPr lang="en-US" sz="900" dirty="0"/>
          </a:p>
        </p:txBody>
      </p:sp>
      <p:sp>
        <p:nvSpPr>
          <p:cNvPr id="114" name="Shape 104"/>
          <p:cNvSpPr/>
          <p:nvPr/>
        </p:nvSpPr>
        <p:spPr>
          <a:xfrm>
            <a:off x="9518904" y="4407408"/>
            <a:ext cx="2103120" cy="1353312"/>
          </a:xfrm>
          <a:prstGeom prst="roundRect">
            <a:avLst>
              <a:gd name="adj" fmla="val 5405"/>
            </a:avLst>
          </a:prstGeom>
          <a:solidFill>
            <a:srgbClr val="FFFFFF"/>
          </a:solidFill>
          <a:ln w="9525">
            <a:solidFill>
              <a:srgbClr val="E0E0E0"/>
            </a:solidFill>
            <a:prstDash val="solid"/>
          </a:ln>
          <a:effectLst>
            <a:outerShdw sx="100000" sy="100000" kx="0" ky="0" algn="bl" rotWithShape="0" blurRad="177800" dist="38100" dir="5400000">
              <a:srgbClr val="0A1E4A">
                <a:alpha val="8000"/>
              </a:srgbClr>
            </a:outerShdw>
          </a:effectLst>
        </p:spPr>
      </p:sp>
      <p:sp>
        <p:nvSpPr>
          <p:cNvPr id="115" name="Text 105"/>
          <p:cNvSpPr txBox="1"/>
          <p:nvPr/>
        </p:nvSpPr>
        <p:spPr>
          <a:xfrm>
            <a:off x="9701784" y="4553712"/>
            <a:ext cx="1828800" cy="457200"/>
          </a:xfrm>
          <a:prstGeom prst="rect">
            <a:avLst/>
          </a:prstGeom>
          <a:noFill/>
          <a:ln/>
        </p:spPr>
        <p:txBody>
          <a:bodyPr wrap="square" lIns="0" tIns="0" rIns="0" bIns="0" rtlCol="0" anchor="t"/>
          <a:lstStyle/>
          <a:p>
            <a:pPr indent="0" marL="0">
              <a:buNone/>
            </a:pPr>
            <a:r>
              <a:rPr lang="en-US" sz="2400" dirty="0">
                <a:solidFill>
                  <a:srgbClr val="8A3FFC"/>
                </a:solidFill>
                <a:latin typeface="+mj-lt" pitchFamily="34" charset="0"/>
                <a:ea typeface="+mj-lt" pitchFamily="34" charset="-122"/>
                <a:cs typeface="+mj-lt" pitchFamily="34" charset="-120"/>
              </a:rPr>
              <a:t>−15–20%</a:t>
            </a:r>
            <a:endParaRPr lang="en-US" sz="2400" dirty="0"/>
          </a:p>
        </p:txBody>
      </p:sp>
      <p:sp>
        <p:nvSpPr>
          <p:cNvPr id="116" name="Text 106"/>
          <p:cNvSpPr txBox="1"/>
          <p:nvPr/>
        </p:nvSpPr>
        <p:spPr>
          <a:xfrm>
            <a:off x="9701784" y="5029200"/>
            <a:ext cx="1828800" cy="402336"/>
          </a:xfrm>
          <a:prstGeom prst="rect">
            <a:avLst/>
          </a:prstGeom>
          <a:noFill/>
          <a:ln/>
        </p:spPr>
        <p:txBody>
          <a:bodyPr wrap="square" lIns="0" tIns="0" rIns="0" bIns="0" rtlCol="0" anchor="t"/>
          <a:lstStyle/>
          <a:p>
            <a:pPr indent="0" marL="0">
              <a:buNone/>
            </a:pPr>
            <a:r>
              <a:rPr lang="en-US" sz="1050" dirty="0">
                <a:solidFill>
                  <a:srgbClr val="525252"/>
                </a:solidFill>
              </a:rPr>
              <a:t>battery lifespan lost to</a:t>
            </a:r>
            <a:endParaRPr lang="en-US" sz="1050" dirty="0"/>
          </a:p>
          <a:p>
            <a:pPr indent="0" marL="0">
              <a:buNone/>
            </a:pPr>
            <a:r>
              <a:rPr lang="en-US" sz="1050" dirty="0">
                <a:solidFill>
                  <a:srgbClr val="525252"/>
                </a:solidFill>
              </a:rPr>
              <a:t>suboptimal charge cycles</a:t>
            </a:r>
            <a:endParaRPr lang="en-US" sz="1050" dirty="0"/>
          </a:p>
        </p:txBody>
      </p:sp>
      <p:sp>
        <p:nvSpPr>
          <p:cNvPr id="117" name="Text 107"/>
          <p:cNvSpPr txBox="1"/>
          <p:nvPr/>
        </p:nvSpPr>
        <p:spPr>
          <a:xfrm>
            <a:off x="9701784" y="5468112"/>
            <a:ext cx="1828800" cy="182880"/>
          </a:xfrm>
          <a:prstGeom prst="rect">
            <a:avLst/>
          </a:prstGeom>
          <a:noFill/>
          <a:ln/>
        </p:spPr>
        <p:txBody>
          <a:bodyPr wrap="square" lIns="0" tIns="0" rIns="0" bIns="0" rtlCol="0" anchor="t"/>
          <a:lstStyle/>
          <a:p>
            <a:pPr indent="0" marL="0">
              <a:buNone/>
            </a:pPr>
            <a:r>
              <a:rPr lang="en-US" sz="900" dirty="0">
                <a:solidFill>
                  <a:srgbClr val="8D8D8D"/>
                </a:solidFill>
              </a:rPr>
              <a:t>Source: PS A3</a:t>
            </a:r>
            <a:endParaRPr lang="en-US" sz="900" dirty="0"/>
          </a:p>
        </p:txBody>
      </p:sp>
      <p:sp>
        <p:nvSpPr>
          <p:cNvPr id="118" name="Shape 108"/>
          <p:cNvSpPr/>
          <p:nvPr/>
        </p:nvSpPr>
        <p:spPr>
          <a:xfrm>
            <a:off x="548640" y="5916168"/>
            <a:ext cx="1600200" cy="310896"/>
          </a:xfrm>
          <a:prstGeom prst="roundRect">
            <a:avLst>
              <a:gd name="adj" fmla="val 50000"/>
            </a:avLst>
          </a:prstGeom>
          <a:solidFill>
            <a:srgbClr val="001141"/>
          </a:solidFill>
          <a:ln/>
        </p:spPr>
      </p:sp>
      <p:sp>
        <p:nvSpPr>
          <p:cNvPr id="119" name="Text 109"/>
          <p:cNvSpPr txBox="1"/>
          <p:nvPr/>
        </p:nvSpPr>
        <p:spPr>
          <a:xfrm>
            <a:off x="548640" y="5916168"/>
            <a:ext cx="1600200" cy="310896"/>
          </a:xfrm>
          <a:prstGeom prst="rect">
            <a:avLst/>
          </a:prstGeom>
          <a:noFill/>
          <a:ln/>
        </p:spPr>
        <p:txBody>
          <a:bodyPr wrap="square" lIns="0" tIns="0" rIns="0" bIns="0" rtlCol="0" anchor="ctr"/>
          <a:lstStyle/>
          <a:p>
            <a:pPr algn="ctr" indent="0" marL="0">
              <a:buNone/>
            </a:pPr>
            <a:r>
              <a:rPr lang="en-US" sz="950" b="1" spc="120" kern="0" dirty="0">
                <a:solidFill>
                  <a:srgbClr val="FFFFFF"/>
                </a:solidFill>
                <a:latin typeface="Consolas" pitchFamily="34" charset="0"/>
                <a:ea typeface="Consolas" pitchFamily="34" charset="-122"/>
                <a:cs typeface="Consolas" pitchFamily="34" charset="-120"/>
              </a:rPr>
              <a:t>WHY IT MATTERS</a:t>
            </a:r>
            <a:endParaRPr lang="en-US" sz="950" dirty="0"/>
          </a:p>
        </p:txBody>
      </p:sp>
      <p:sp>
        <p:nvSpPr>
          <p:cNvPr id="120" name="Text 110"/>
          <p:cNvSpPr txBox="1"/>
          <p:nvPr/>
        </p:nvSpPr>
        <p:spPr>
          <a:xfrm>
            <a:off x="2286000" y="5916168"/>
            <a:ext cx="9326880" cy="310896"/>
          </a:xfrm>
          <a:prstGeom prst="rect">
            <a:avLst/>
          </a:prstGeom>
          <a:noFill/>
          <a:ln/>
        </p:spPr>
        <p:txBody>
          <a:bodyPr wrap="square" lIns="0" tIns="0" rIns="0" bIns="0" rtlCol="0" anchor="ctr"/>
          <a:lstStyle/>
          <a:p>
            <a:pPr indent="0" marL="0">
              <a:buNone/>
            </a:pPr>
            <a:r>
              <a:rPr lang="en-US" sz="1300" dirty="0">
                <a:solidFill>
                  <a:srgbClr val="001141"/>
                </a:solidFill>
                <a:latin typeface="+mj-lt" pitchFamily="34" charset="0"/>
                <a:ea typeface="+mj-lt" pitchFamily="34" charset="-122"/>
                <a:cs typeface="+mj-lt" pitchFamily="34" charset="-120"/>
              </a:rPr>
              <a:t>Charging is the biggest cost a fleet can still control. Get it wrong and electrification stalls.</a:t>
            </a:r>
            <a:endParaRPr lang="en-US" sz="1300" dirty="0"/>
          </a:p>
        </p:txBody>
      </p:sp>
      <p:sp>
        <p:nvSpPr>
          <p:cNvPr id="25" name="Slide Number Placeholder 0"/>
          <p:cNvSpPr>
            <a:spLocks noGrp="1"/>
          </p:cNvSpPr>
          <p:nvPr>
            <p:ph type="sldNum" sz="quarter" idx="4294967295"/>
          </p:nvPr>
        </p:nvSpPr>
        <p:spPr>
          <a:xfrm>
            <a:off x="11274552" y="6419088"/>
            <a:ext cx="36576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8D8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7315200" cy="237744"/>
          </a:xfrm>
          <a:prstGeom prst="rect">
            <a:avLst/>
          </a:prstGeom>
          <a:noFill/>
          <a:ln/>
        </p:spPr>
        <p:txBody>
          <a:bodyPr wrap="square" lIns="0" tIns="0" rIns="0" bIns="0" rtlCol="0" anchor="t"/>
          <a:lstStyle/>
          <a:p>
            <a:pPr indent="0" marL="0">
              <a:buNone/>
            </a:pPr>
            <a:r>
              <a:rPr lang="en-US" sz="1050" spc="200" kern="0" dirty="0">
                <a:solidFill>
                  <a:srgbClr val="0F62FE"/>
                </a:solidFill>
                <a:latin typeface="Consolas" pitchFamily="34" charset="0"/>
                <a:ea typeface="Consolas" pitchFamily="34" charset="-122"/>
                <a:cs typeface="Consolas" pitchFamily="34" charset="-120"/>
              </a:rPr>
              <a:t>03  ·  THE SOLUTION</a:t>
            </a:r>
            <a:endParaRPr lang="en-US" sz="1050" dirty="0"/>
          </a:p>
        </p:txBody>
      </p:sp>
      <p:sp>
        <p:nvSpPr>
          <p:cNvPr id="3" name="Text 1"/>
          <p:cNvSpPr/>
          <p:nvPr>
            <p:ph idx="103" type="title" hasCustomPrompt="1"/>
          </p:nvPr>
        </p:nvSpPr>
        <p:spPr>
          <a:xfrm>
            <a:off x="548640" y="640080"/>
            <a:ext cx="11091672" cy="548640"/>
          </a:xfrm>
          <a:prstGeom prst="rect">
            <a:avLst/>
          </a:prstGeom>
          <a:noFill/>
          <a:ln/>
        </p:spPr>
        <p:txBody>
          <a:bodyPr wrap="square" lIns="0" tIns="0" rIns="0" bIns="0" rtlCol="0" anchor="t"/>
          <a:lstStyle/>
          <a:p>
            <a:pPr indent="0" marL="0">
              <a:buNone/>
            </a:pPr>
            <a:r>
              <a:rPr lang="en-US" sz="2600" dirty="0">
                <a:solidFill>
                  <a:srgbClr val="161616"/>
                </a:solidFill>
              </a:rPr>
              <a:t>ChargeOpt plans every charge around the next departure</a:t>
            </a:r>
            <a:endParaRPr lang="en-US" sz="2600" dirty="0"/>
          </a:p>
        </p:txBody>
      </p:sp>
      <p:sp>
        <p:nvSpPr>
          <p:cNvPr id="4" name="Text 1"/>
          <p:cNvSpPr/>
          <p:nvPr>
            <p:ph idx="104" type="body" hasCustomPrompt="1"/>
          </p:nvPr>
        </p:nvSpPr>
        <p:spPr>
          <a:xfrm>
            <a:off x="548640" y="1188720"/>
            <a:ext cx="11091672" cy="310896"/>
          </a:xfrm>
          <a:prstGeom prst="rect">
            <a:avLst/>
          </a:prstGeom>
          <a:noFill/>
          <a:ln/>
        </p:spPr>
        <p:txBody>
          <a:bodyPr wrap="square" lIns="0" tIns="0" rIns="0" bIns="0" rtlCol="0" anchor="t"/>
          <a:lstStyle/>
          <a:p>
            <a:pPr indent="0" marL="0">
              <a:buNone/>
            </a:pPr>
            <a:r>
              <a:rPr lang="en-US" sz="1400" dirty="0">
                <a:solidFill>
                  <a:srgbClr val="525252"/>
                </a:solidFill>
              </a:rPr>
              <a:t>A deterministic rule engine that puts readiness first and cost second, and explains every decision it makes.</a:t>
            </a:r>
            <a:endParaRPr lang="en-US" sz="1400" dirty="0"/>
          </a:p>
        </p:txBody>
      </p:sp>
      <p:sp>
        <p:nvSpPr>
          <p:cNvPr id="5" name="Shape 3"/>
          <p:cNvSpPr/>
          <p:nvPr/>
        </p:nvSpPr>
        <p:spPr>
          <a:xfrm>
            <a:off x="1856994" y="2011680"/>
            <a:ext cx="1080516" cy="0"/>
          </a:xfrm>
          <a:prstGeom prst="line">
            <a:avLst/>
          </a:prstGeom>
          <a:noFill/>
          <a:ln w="19050">
            <a:solidFill>
              <a:srgbClr val="C6C6C6"/>
            </a:solidFill>
            <a:prstDash val="solid"/>
            <a:tailEnd type="triangle"/>
          </a:ln>
        </p:spPr>
      </p:sp>
      <p:sp>
        <p:nvSpPr>
          <p:cNvPr id="6" name="Shape 4"/>
          <p:cNvSpPr/>
          <p:nvPr/>
        </p:nvSpPr>
        <p:spPr>
          <a:xfrm>
            <a:off x="1198626" y="1737360"/>
            <a:ext cx="548640" cy="548640"/>
          </a:xfrm>
          <a:prstGeom prst="ellipse">
            <a:avLst/>
          </a:prstGeom>
          <a:solidFill>
            <a:srgbClr val="0F62FE"/>
          </a:solidFill>
          <a:ln/>
        </p:spPr>
      </p:sp>
      <p:pic>
        <p:nvPicPr>
          <p:cNvPr id="7" name="Image 0" descr="preencoded.png">    </p:cNvPr>
          <p:cNvPicPr>
            <a:picLocks noChangeAspect="1"/>
          </p:cNvPicPr>
          <p:nvPr/>
        </p:nvPicPr>
        <p:blipFill>
          <a:blip r:embed="rId1"/>
          <a:stretch>
            <a:fillRect/>
          </a:stretch>
        </p:blipFill>
        <p:spPr>
          <a:xfrm>
            <a:off x="1319327" y="1858061"/>
            <a:ext cx="307238" cy="307238"/>
          </a:xfrm>
          <a:prstGeom prst="rect">
            <a:avLst/>
          </a:prstGeom>
        </p:spPr>
      </p:pic>
      <p:sp>
        <p:nvSpPr>
          <p:cNvPr id="8" name="Text 5"/>
          <p:cNvSpPr txBox="1"/>
          <p:nvPr/>
        </p:nvSpPr>
        <p:spPr>
          <a:xfrm>
            <a:off x="604266" y="2377440"/>
            <a:ext cx="1737360" cy="237744"/>
          </a:xfrm>
          <a:prstGeom prst="rect">
            <a:avLst/>
          </a:prstGeom>
          <a:noFill/>
          <a:ln/>
        </p:spPr>
        <p:txBody>
          <a:bodyPr wrap="square" lIns="0" tIns="0" rIns="0" bIns="0" rtlCol="0" anchor="t"/>
          <a:lstStyle/>
          <a:p>
            <a:pPr algn="ctr" indent="0" marL="0">
              <a:buNone/>
            </a:pPr>
            <a:r>
              <a:rPr lang="en-US" sz="1250" dirty="0">
                <a:solidFill>
                  <a:srgbClr val="0F62FE"/>
                </a:solidFill>
                <a:latin typeface="Consolas" pitchFamily="34" charset="0"/>
                <a:ea typeface="Consolas" pitchFamily="34" charset="-122"/>
                <a:cs typeface="Consolas" pitchFamily="34" charset="-120"/>
              </a:rPr>
              <a:t>1  </a:t>
            </a:r>
            <a:pPr algn="ctr" indent="0" marL="0">
              <a:buNone/>
            </a:pPr>
            <a:r>
              <a:rPr lang="en-US" sz="1250" dirty="0">
                <a:solidFill>
                  <a:srgbClr val="161616"/>
                </a:solidFill>
                <a:latin typeface="+mj-lt" pitchFamily="34" charset="0"/>
                <a:ea typeface="+mj-lt" pitchFamily="34" charset="-122"/>
                <a:cs typeface="+mj-lt" pitchFamily="34" charset="-120"/>
              </a:rPr>
              <a:t>Sense</a:t>
            </a:r>
            <a:endParaRPr lang="en-US" sz="1250" dirty="0"/>
          </a:p>
        </p:txBody>
      </p:sp>
      <p:sp>
        <p:nvSpPr>
          <p:cNvPr id="9" name="Text 6"/>
          <p:cNvSpPr txBox="1"/>
          <p:nvPr/>
        </p:nvSpPr>
        <p:spPr>
          <a:xfrm>
            <a:off x="604266" y="2633472"/>
            <a:ext cx="1737360" cy="365760"/>
          </a:xfrm>
          <a:prstGeom prst="rect">
            <a:avLst/>
          </a:prstGeom>
          <a:noFill/>
          <a:ln/>
        </p:spPr>
        <p:txBody>
          <a:bodyPr wrap="square" lIns="0" tIns="0" rIns="0" bIns="0" rtlCol="0" anchor="t"/>
          <a:lstStyle/>
          <a:p>
            <a:pPr algn="ctr" indent="0" marL="0">
              <a:buNone/>
            </a:pPr>
            <a:r>
              <a:rPr lang="en-US" sz="1000" dirty="0">
                <a:solidFill>
                  <a:srgbClr val="525252"/>
                </a:solidFill>
              </a:rPr>
              <a:t>SoC, trips, chargers</a:t>
            </a:r>
            <a:endParaRPr lang="en-US" sz="1000" dirty="0"/>
          </a:p>
          <a:p>
            <a:pPr algn="ctr" indent="0" marL="0">
              <a:buNone/>
            </a:pPr>
            <a:r>
              <a:rPr lang="en-US" sz="1000" dirty="0">
                <a:solidFill>
                  <a:srgbClr val="525252"/>
                </a:solidFill>
              </a:rPr>
              <a:t>and live tariffs</a:t>
            </a:r>
            <a:endParaRPr lang="en-US" sz="1000" dirty="0"/>
          </a:p>
        </p:txBody>
      </p:sp>
      <p:sp>
        <p:nvSpPr>
          <p:cNvPr id="10" name="Shape 7"/>
          <p:cNvSpPr/>
          <p:nvPr/>
        </p:nvSpPr>
        <p:spPr>
          <a:xfrm>
            <a:off x="3705606" y="2011680"/>
            <a:ext cx="1080516" cy="0"/>
          </a:xfrm>
          <a:prstGeom prst="line">
            <a:avLst/>
          </a:prstGeom>
          <a:noFill/>
          <a:ln w="19050">
            <a:solidFill>
              <a:srgbClr val="C6C6C6"/>
            </a:solidFill>
            <a:prstDash val="solid"/>
            <a:tailEnd type="triangle"/>
          </a:ln>
        </p:spPr>
      </p:sp>
      <p:sp>
        <p:nvSpPr>
          <p:cNvPr id="11" name="Shape 8"/>
          <p:cNvSpPr/>
          <p:nvPr/>
        </p:nvSpPr>
        <p:spPr>
          <a:xfrm>
            <a:off x="3047238" y="1737360"/>
            <a:ext cx="548640" cy="548640"/>
          </a:xfrm>
          <a:prstGeom prst="ellipse">
            <a:avLst/>
          </a:prstGeom>
          <a:solidFill>
            <a:srgbClr val="0F62FE"/>
          </a:solidFill>
          <a:ln/>
        </p:spPr>
      </p:sp>
      <p:pic>
        <p:nvPicPr>
          <p:cNvPr id="12" name="Image 1" descr="preencoded.png">    </p:cNvPr>
          <p:cNvPicPr>
            <a:picLocks noChangeAspect="1"/>
          </p:cNvPicPr>
          <p:nvPr/>
        </p:nvPicPr>
        <p:blipFill>
          <a:blip r:embed="rId2"/>
          <a:stretch>
            <a:fillRect/>
          </a:stretch>
        </p:blipFill>
        <p:spPr>
          <a:xfrm>
            <a:off x="3167939" y="1858061"/>
            <a:ext cx="307238" cy="307238"/>
          </a:xfrm>
          <a:prstGeom prst="rect">
            <a:avLst/>
          </a:prstGeom>
        </p:spPr>
      </p:pic>
      <p:sp>
        <p:nvSpPr>
          <p:cNvPr id="13" name="Text 9"/>
          <p:cNvSpPr txBox="1"/>
          <p:nvPr/>
        </p:nvSpPr>
        <p:spPr>
          <a:xfrm>
            <a:off x="2452878" y="2377440"/>
            <a:ext cx="1737360" cy="237744"/>
          </a:xfrm>
          <a:prstGeom prst="rect">
            <a:avLst/>
          </a:prstGeom>
          <a:noFill/>
          <a:ln/>
        </p:spPr>
        <p:txBody>
          <a:bodyPr wrap="square" lIns="0" tIns="0" rIns="0" bIns="0" rtlCol="0" anchor="t"/>
          <a:lstStyle/>
          <a:p>
            <a:pPr algn="ctr" indent="0" marL="0">
              <a:buNone/>
            </a:pPr>
            <a:r>
              <a:rPr lang="en-US" sz="1250" dirty="0">
                <a:solidFill>
                  <a:srgbClr val="0F62FE"/>
                </a:solidFill>
                <a:latin typeface="Consolas" pitchFamily="34" charset="0"/>
                <a:ea typeface="Consolas" pitchFamily="34" charset="-122"/>
                <a:cs typeface="Consolas" pitchFamily="34" charset="-120"/>
              </a:rPr>
              <a:t>2  </a:t>
            </a:r>
            <a:pPr algn="ctr" indent="0" marL="0">
              <a:buNone/>
            </a:pPr>
            <a:r>
              <a:rPr lang="en-US" sz="1250" dirty="0">
                <a:solidFill>
                  <a:srgbClr val="161616"/>
                </a:solidFill>
                <a:latin typeface="+mj-lt" pitchFamily="34" charset="0"/>
                <a:ea typeface="+mj-lt" pitchFamily="34" charset="-122"/>
                <a:cs typeface="+mj-lt" pitchFamily="34" charset="-120"/>
              </a:rPr>
              <a:t>Size</a:t>
            </a:r>
            <a:endParaRPr lang="en-US" sz="1250" dirty="0"/>
          </a:p>
        </p:txBody>
      </p:sp>
      <p:sp>
        <p:nvSpPr>
          <p:cNvPr id="14" name="Text 10"/>
          <p:cNvSpPr txBox="1"/>
          <p:nvPr/>
        </p:nvSpPr>
        <p:spPr>
          <a:xfrm>
            <a:off x="2452878" y="2633472"/>
            <a:ext cx="1737360" cy="365760"/>
          </a:xfrm>
          <a:prstGeom prst="rect">
            <a:avLst/>
          </a:prstGeom>
          <a:noFill/>
          <a:ln/>
        </p:spPr>
        <p:txBody>
          <a:bodyPr wrap="square" lIns="0" tIns="0" rIns="0" bIns="0" rtlCol="0" anchor="t"/>
          <a:lstStyle/>
          <a:p>
            <a:pPr algn="ctr" indent="0" marL="0">
              <a:buNone/>
            </a:pPr>
            <a:r>
              <a:rPr lang="en-US" sz="1000" dirty="0">
                <a:solidFill>
                  <a:srgbClr val="525252"/>
                </a:solidFill>
              </a:rPr>
              <a:t>kWh needed to reach</a:t>
            </a:r>
            <a:endParaRPr lang="en-US" sz="1000" dirty="0"/>
          </a:p>
          <a:p>
            <a:pPr algn="ctr" indent="0" marL="0">
              <a:buNone/>
            </a:pPr>
            <a:r>
              <a:rPr lang="en-US" sz="1000" dirty="0">
                <a:solidFill>
                  <a:srgbClr val="525252"/>
                </a:solidFill>
              </a:rPr>
              <a:t>required SoC</a:t>
            </a:r>
            <a:endParaRPr lang="en-US" sz="1000" dirty="0"/>
          </a:p>
        </p:txBody>
      </p:sp>
      <p:sp>
        <p:nvSpPr>
          <p:cNvPr id="15" name="Shape 11"/>
          <p:cNvSpPr/>
          <p:nvPr/>
        </p:nvSpPr>
        <p:spPr>
          <a:xfrm>
            <a:off x="5554218" y="2011680"/>
            <a:ext cx="1080516" cy="0"/>
          </a:xfrm>
          <a:prstGeom prst="line">
            <a:avLst/>
          </a:prstGeom>
          <a:noFill/>
          <a:ln w="19050">
            <a:solidFill>
              <a:srgbClr val="C6C6C6"/>
            </a:solidFill>
            <a:prstDash val="solid"/>
            <a:tailEnd type="triangle"/>
          </a:ln>
        </p:spPr>
      </p:sp>
      <p:sp>
        <p:nvSpPr>
          <p:cNvPr id="16" name="Shape 12"/>
          <p:cNvSpPr/>
          <p:nvPr/>
        </p:nvSpPr>
        <p:spPr>
          <a:xfrm>
            <a:off x="4895850" y="1737360"/>
            <a:ext cx="548640" cy="548640"/>
          </a:xfrm>
          <a:prstGeom prst="ellipse">
            <a:avLst/>
          </a:prstGeom>
          <a:solidFill>
            <a:srgbClr val="0F62FE"/>
          </a:solidFill>
          <a:ln/>
        </p:spPr>
      </p:sp>
      <p:pic>
        <p:nvPicPr>
          <p:cNvPr id="17" name="Image 2" descr="preencoded.png">    </p:cNvPr>
          <p:cNvPicPr>
            <a:picLocks noChangeAspect="1"/>
          </p:cNvPicPr>
          <p:nvPr/>
        </p:nvPicPr>
        <p:blipFill>
          <a:blip r:embed="rId3"/>
          <a:stretch>
            <a:fillRect/>
          </a:stretch>
        </p:blipFill>
        <p:spPr>
          <a:xfrm>
            <a:off x="5016551" y="1858061"/>
            <a:ext cx="307238" cy="307238"/>
          </a:xfrm>
          <a:prstGeom prst="rect">
            <a:avLst/>
          </a:prstGeom>
        </p:spPr>
      </p:pic>
      <p:sp>
        <p:nvSpPr>
          <p:cNvPr id="18" name="Text 13"/>
          <p:cNvSpPr txBox="1"/>
          <p:nvPr/>
        </p:nvSpPr>
        <p:spPr>
          <a:xfrm>
            <a:off x="4301490" y="2377440"/>
            <a:ext cx="1737360" cy="237744"/>
          </a:xfrm>
          <a:prstGeom prst="rect">
            <a:avLst/>
          </a:prstGeom>
          <a:noFill/>
          <a:ln/>
        </p:spPr>
        <p:txBody>
          <a:bodyPr wrap="square" lIns="0" tIns="0" rIns="0" bIns="0" rtlCol="0" anchor="t"/>
          <a:lstStyle/>
          <a:p>
            <a:pPr algn="ctr" indent="0" marL="0">
              <a:buNone/>
            </a:pPr>
            <a:r>
              <a:rPr lang="en-US" sz="1250" dirty="0">
                <a:solidFill>
                  <a:srgbClr val="0F62FE"/>
                </a:solidFill>
                <a:latin typeface="Consolas" pitchFamily="34" charset="0"/>
                <a:ea typeface="Consolas" pitchFamily="34" charset="-122"/>
                <a:cs typeface="Consolas" pitchFamily="34" charset="-120"/>
              </a:rPr>
              <a:t>3  </a:t>
            </a:r>
            <a:pPr algn="ctr" indent="0" marL="0">
              <a:buNone/>
            </a:pPr>
            <a:r>
              <a:rPr lang="en-US" sz="1250" dirty="0">
                <a:solidFill>
                  <a:srgbClr val="161616"/>
                </a:solidFill>
                <a:latin typeface="+mj-lt" pitchFamily="34" charset="0"/>
                <a:ea typeface="+mj-lt" pitchFamily="34" charset="-122"/>
                <a:cs typeface="+mj-lt" pitchFamily="34" charset="-120"/>
              </a:rPr>
              <a:t>Rank</a:t>
            </a:r>
            <a:endParaRPr lang="en-US" sz="1250" dirty="0"/>
          </a:p>
        </p:txBody>
      </p:sp>
      <p:sp>
        <p:nvSpPr>
          <p:cNvPr id="19" name="Text 14"/>
          <p:cNvSpPr txBox="1"/>
          <p:nvPr/>
        </p:nvSpPr>
        <p:spPr>
          <a:xfrm>
            <a:off x="4301490" y="2633472"/>
            <a:ext cx="1737360" cy="365760"/>
          </a:xfrm>
          <a:prstGeom prst="rect">
            <a:avLst/>
          </a:prstGeom>
          <a:noFill/>
          <a:ln/>
        </p:spPr>
        <p:txBody>
          <a:bodyPr wrap="square" lIns="0" tIns="0" rIns="0" bIns="0" rtlCol="0" anchor="t"/>
          <a:lstStyle/>
          <a:p>
            <a:pPr algn="ctr" indent="0" marL="0">
              <a:buNone/>
            </a:pPr>
            <a:r>
              <a:rPr lang="en-US" sz="1000" dirty="0">
                <a:solidFill>
                  <a:srgbClr val="525252"/>
                </a:solidFill>
              </a:rPr>
              <a:t>P1 emergency</a:t>
            </a:r>
            <a:endParaRPr lang="en-US" sz="1000" dirty="0"/>
          </a:p>
          <a:p>
            <a:pPr algn="ctr" indent="0" marL="0">
              <a:buNone/>
            </a:pPr>
            <a:r>
              <a:rPr lang="en-US" sz="1000" dirty="0">
                <a:solidFill>
                  <a:srgbClr val="525252"/>
                </a:solidFill>
              </a:rPr>
              <a:t>through P5 no trip</a:t>
            </a:r>
            <a:endParaRPr lang="en-US" sz="1000" dirty="0"/>
          </a:p>
        </p:txBody>
      </p:sp>
      <p:sp>
        <p:nvSpPr>
          <p:cNvPr id="20" name="Shape 15"/>
          <p:cNvSpPr/>
          <p:nvPr/>
        </p:nvSpPr>
        <p:spPr>
          <a:xfrm>
            <a:off x="7402830" y="2011680"/>
            <a:ext cx="1080516" cy="0"/>
          </a:xfrm>
          <a:prstGeom prst="line">
            <a:avLst/>
          </a:prstGeom>
          <a:noFill/>
          <a:ln w="19050">
            <a:solidFill>
              <a:srgbClr val="C6C6C6"/>
            </a:solidFill>
            <a:prstDash val="solid"/>
            <a:tailEnd type="triangle"/>
          </a:ln>
        </p:spPr>
      </p:sp>
      <p:sp>
        <p:nvSpPr>
          <p:cNvPr id="21" name="Shape 16"/>
          <p:cNvSpPr/>
          <p:nvPr/>
        </p:nvSpPr>
        <p:spPr>
          <a:xfrm>
            <a:off x="6744462" y="1737360"/>
            <a:ext cx="548640" cy="548640"/>
          </a:xfrm>
          <a:prstGeom prst="ellipse">
            <a:avLst/>
          </a:prstGeom>
          <a:solidFill>
            <a:srgbClr val="009D9A"/>
          </a:solidFill>
          <a:ln/>
        </p:spPr>
      </p:sp>
      <p:pic>
        <p:nvPicPr>
          <p:cNvPr id="22" name="Image 3" descr="preencoded.png">    </p:cNvPr>
          <p:cNvPicPr>
            <a:picLocks noChangeAspect="1"/>
          </p:cNvPicPr>
          <p:nvPr/>
        </p:nvPicPr>
        <p:blipFill>
          <a:blip r:embed="rId4"/>
          <a:stretch>
            <a:fillRect/>
          </a:stretch>
        </p:blipFill>
        <p:spPr>
          <a:xfrm>
            <a:off x="6865163" y="1858061"/>
            <a:ext cx="307238" cy="307238"/>
          </a:xfrm>
          <a:prstGeom prst="rect">
            <a:avLst/>
          </a:prstGeom>
        </p:spPr>
      </p:pic>
      <p:sp>
        <p:nvSpPr>
          <p:cNvPr id="23" name="Text 17"/>
          <p:cNvSpPr txBox="1"/>
          <p:nvPr/>
        </p:nvSpPr>
        <p:spPr>
          <a:xfrm>
            <a:off x="6150102" y="2377440"/>
            <a:ext cx="1737360" cy="237744"/>
          </a:xfrm>
          <a:prstGeom prst="rect">
            <a:avLst/>
          </a:prstGeom>
          <a:noFill/>
          <a:ln/>
        </p:spPr>
        <p:txBody>
          <a:bodyPr wrap="square" lIns="0" tIns="0" rIns="0" bIns="0" rtlCol="0" anchor="t"/>
          <a:lstStyle/>
          <a:p>
            <a:pPr algn="ctr" indent="0" marL="0">
              <a:buNone/>
            </a:pPr>
            <a:r>
              <a:rPr lang="en-US" sz="1250" dirty="0">
                <a:solidFill>
                  <a:srgbClr val="0F62FE"/>
                </a:solidFill>
                <a:latin typeface="Consolas" pitchFamily="34" charset="0"/>
                <a:ea typeface="Consolas" pitchFamily="34" charset="-122"/>
                <a:cs typeface="Consolas" pitchFamily="34" charset="-120"/>
              </a:rPr>
              <a:t>4  </a:t>
            </a:r>
            <a:pPr algn="ctr" indent="0" marL="0">
              <a:buNone/>
            </a:pPr>
            <a:r>
              <a:rPr lang="en-US" sz="1250" dirty="0">
                <a:solidFill>
                  <a:srgbClr val="161616"/>
                </a:solidFill>
                <a:latin typeface="+mj-lt" pitchFamily="34" charset="0"/>
                <a:ea typeface="+mj-lt" pitchFamily="34" charset="-122"/>
                <a:cs typeface="+mj-lt" pitchFamily="34" charset="-120"/>
              </a:rPr>
              <a:t>Shift</a:t>
            </a:r>
            <a:endParaRPr lang="en-US" sz="1250" dirty="0"/>
          </a:p>
        </p:txBody>
      </p:sp>
      <p:sp>
        <p:nvSpPr>
          <p:cNvPr id="24" name="Text 18"/>
          <p:cNvSpPr txBox="1"/>
          <p:nvPr/>
        </p:nvSpPr>
        <p:spPr>
          <a:xfrm>
            <a:off x="6150102" y="2633472"/>
            <a:ext cx="1737360" cy="365760"/>
          </a:xfrm>
          <a:prstGeom prst="rect">
            <a:avLst/>
          </a:prstGeom>
          <a:noFill/>
          <a:ln/>
        </p:spPr>
        <p:txBody>
          <a:bodyPr wrap="square" lIns="0" tIns="0" rIns="0" bIns="0" rtlCol="0" anchor="t"/>
          <a:lstStyle/>
          <a:p>
            <a:pPr algn="ctr" indent="0" marL="0">
              <a:buNone/>
            </a:pPr>
            <a:r>
              <a:rPr lang="en-US" sz="1000" dirty="0">
                <a:solidFill>
                  <a:srgbClr val="525252"/>
                </a:solidFill>
              </a:rPr>
              <a:t>Cheapest window that</a:t>
            </a:r>
            <a:endParaRPr lang="en-US" sz="1000" dirty="0"/>
          </a:p>
          <a:p>
            <a:pPr algn="ctr" indent="0" marL="0">
              <a:buNone/>
            </a:pPr>
            <a:r>
              <a:rPr lang="en-US" sz="1000" dirty="0">
                <a:solidFill>
                  <a:srgbClr val="525252"/>
                </a:solidFill>
              </a:rPr>
              <a:t>still makes departure</a:t>
            </a:r>
            <a:endParaRPr lang="en-US" sz="1000" dirty="0"/>
          </a:p>
        </p:txBody>
      </p:sp>
      <p:sp>
        <p:nvSpPr>
          <p:cNvPr id="25" name="Shape 19"/>
          <p:cNvSpPr/>
          <p:nvPr/>
        </p:nvSpPr>
        <p:spPr>
          <a:xfrm>
            <a:off x="9251442" y="2011680"/>
            <a:ext cx="1080516" cy="0"/>
          </a:xfrm>
          <a:prstGeom prst="line">
            <a:avLst/>
          </a:prstGeom>
          <a:noFill/>
          <a:ln w="19050">
            <a:solidFill>
              <a:srgbClr val="C6C6C6"/>
            </a:solidFill>
            <a:prstDash val="solid"/>
            <a:tailEnd type="triangle"/>
          </a:ln>
        </p:spPr>
      </p:sp>
      <p:sp>
        <p:nvSpPr>
          <p:cNvPr id="26" name="Shape 20"/>
          <p:cNvSpPr/>
          <p:nvPr/>
        </p:nvSpPr>
        <p:spPr>
          <a:xfrm>
            <a:off x="8593074" y="1737360"/>
            <a:ext cx="548640" cy="548640"/>
          </a:xfrm>
          <a:prstGeom prst="ellipse">
            <a:avLst/>
          </a:prstGeom>
          <a:solidFill>
            <a:srgbClr val="0F62FE"/>
          </a:solidFill>
          <a:ln/>
        </p:spPr>
      </p:sp>
      <p:pic>
        <p:nvPicPr>
          <p:cNvPr id="27" name="Image 4" descr="preencoded.png">    </p:cNvPr>
          <p:cNvPicPr>
            <a:picLocks noChangeAspect="1"/>
          </p:cNvPicPr>
          <p:nvPr/>
        </p:nvPicPr>
        <p:blipFill>
          <a:blip r:embed="rId5"/>
          <a:stretch>
            <a:fillRect/>
          </a:stretch>
        </p:blipFill>
        <p:spPr>
          <a:xfrm>
            <a:off x="8713775" y="1858061"/>
            <a:ext cx="307238" cy="307238"/>
          </a:xfrm>
          <a:prstGeom prst="rect">
            <a:avLst/>
          </a:prstGeom>
        </p:spPr>
      </p:pic>
      <p:sp>
        <p:nvSpPr>
          <p:cNvPr id="28" name="Text 21"/>
          <p:cNvSpPr txBox="1"/>
          <p:nvPr/>
        </p:nvSpPr>
        <p:spPr>
          <a:xfrm>
            <a:off x="7998714" y="2377440"/>
            <a:ext cx="1737360" cy="237744"/>
          </a:xfrm>
          <a:prstGeom prst="rect">
            <a:avLst/>
          </a:prstGeom>
          <a:noFill/>
          <a:ln/>
        </p:spPr>
        <p:txBody>
          <a:bodyPr wrap="square" lIns="0" tIns="0" rIns="0" bIns="0" rtlCol="0" anchor="t"/>
          <a:lstStyle/>
          <a:p>
            <a:pPr algn="ctr" indent="0" marL="0">
              <a:buNone/>
            </a:pPr>
            <a:r>
              <a:rPr lang="en-US" sz="1250" dirty="0">
                <a:solidFill>
                  <a:srgbClr val="0F62FE"/>
                </a:solidFill>
                <a:latin typeface="Consolas" pitchFamily="34" charset="0"/>
                <a:ea typeface="Consolas" pitchFamily="34" charset="-122"/>
                <a:cs typeface="Consolas" pitchFamily="34" charset="-120"/>
              </a:rPr>
              <a:t>5  </a:t>
            </a:r>
            <a:pPr algn="ctr" indent="0" marL="0">
              <a:buNone/>
            </a:pPr>
            <a:r>
              <a:rPr lang="en-US" sz="1250" dirty="0">
                <a:solidFill>
                  <a:srgbClr val="161616"/>
                </a:solidFill>
                <a:latin typeface="+mj-lt" pitchFamily="34" charset="0"/>
                <a:ea typeface="+mj-lt" pitchFamily="34" charset="-122"/>
                <a:cs typeface="+mj-lt" pitchFamily="34" charset="-120"/>
              </a:rPr>
              <a:t>Reserve</a:t>
            </a:r>
            <a:endParaRPr lang="en-US" sz="1250" dirty="0"/>
          </a:p>
        </p:txBody>
      </p:sp>
      <p:sp>
        <p:nvSpPr>
          <p:cNvPr id="29" name="Text 22"/>
          <p:cNvSpPr txBox="1"/>
          <p:nvPr/>
        </p:nvSpPr>
        <p:spPr>
          <a:xfrm>
            <a:off x="7998714" y="2633472"/>
            <a:ext cx="1737360" cy="365760"/>
          </a:xfrm>
          <a:prstGeom prst="rect">
            <a:avLst/>
          </a:prstGeom>
          <a:noFill/>
          <a:ln/>
        </p:spPr>
        <p:txBody>
          <a:bodyPr wrap="square" lIns="0" tIns="0" rIns="0" bIns="0" rtlCol="0" anchor="t"/>
          <a:lstStyle/>
          <a:p>
            <a:pPr algn="ctr" indent="0" marL="0">
              <a:buNone/>
            </a:pPr>
            <a:r>
              <a:rPr lang="en-US" sz="1000" dirty="0">
                <a:solidFill>
                  <a:srgbClr val="525252"/>
                </a:solidFill>
              </a:rPr>
              <a:t>Conflict-free</a:t>
            </a:r>
            <a:endParaRPr lang="en-US" sz="1000" dirty="0"/>
          </a:p>
          <a:p>
            <a:pPr algn="ctr" indent="0" marL="0">
              <a:buNone/>
            </a:pPr>
            <a:r>
              <a:rPr lang="en-US" sz="1000" dirty="0">
                <a:solidFill>
                  <a:srgbClr val="525252"/>
                </a:solidFill>
              </a:rPr>
              <a:t>charger slots</a:t>
            </a:r>
            <a:endParaRPr lang="en-US" sz="1000" dirty="0"/>
          </a:p>
        </p:txBody>
      </p:sp>
      <p:sp>
        <p:nvSpPr>
          <p:cNvPr id="30" name="Shape 23"/>
          <p:cNvSpPr/>
          <p:nvPr/>
        </p:nvSpPr>
        <p:spPr>
          <a:xfrm>
            <a:off x="10441686" y="1737360"/>
            <a:ext cx="548640" cy="548640"/>
          </a:xfrm>
          <a:prstGeom prst="ellipse">
            <a:avLst/>
          </a:prstGeom>
          <a:solidFill>
            <a:srgbClr val="0F62FE"/>
          </a:solidFill>
          <a:ln/>
        </p:spPr>
      </p:sp>
      <p:pic>
        <p:nvPicPr>
          <p:cNvPr id="31" name="Image 5" descr="preencoded.png">    </p:cNvPr>
          <p:cNvPicPr>
            <a:picLocks noChangeAspect="1"/>
          </p:cNvPicPr>
          <p:nvPr/>
        </p:nvPicPr>
        <p:blipFill>
          <a:blip r:embed="rId6"/>
          <a:stretch>
            <a:fillRect/>
          </a:stretch>
        </p:blipFill>
        <p:spPr>
          <a:xfrm>
            <a:off x="10562387" y="1858061"/>
            <a:ext cx="307238" cy="307238"/>
          </a:xfrm>
          <a:prstGeom prst="rect">
            <a:avLst/>
          </a:prstGeom>
        </p:spPr>
      </p:pic>
      <p:sp>
        <p:nvSpPr>
          <p:cNvPr id="32" name="Text 24"/>
          <p:cNvSpPr txBox="1"/>
          <p:nvPr/>
        </p:nvSpPr>
        <p:spPr>
          <a:xfrm>
            <a:off x="9847326" y="2377440"/>
            <a:ext cx="1737360" cy="237744"/>
          </a:xfrm>
          <a:prstGeom prst="rect">
            <a:avLst/>
          </a:prstGeom>
          <a:noFill/>
          <a:ln/>
        </p:spPr>
        <p:txBody>
          <a:bodyPr wrap="square" lIns="0" tIns="0" rIns="0" bIns="0" rtlCol="0" anchor="t"/>
          <a:lstStyle/>
          <a:p>
            <a:pPr algn="ctr" indent="0" marL="0">
              <a:buNone/>
            </a:pPr>
            <a:r>
              <a:rPr lang="en-US" sz="1250" dirty="0">
                <a:solidFill>
                  <a:srgbClr val="0F62FE"/>
                </a:solidFill>
                <a:latin typeface="Consolas" pitchFamily="34" charset="0"/>
                <a:ea typeface="Consolas" pitchFamily="34" charset="-122"/>
                <a:cs typeface="Consolas" pitchFamily="34" charset="-120"/>
              </a:rPr>
              <a:t>6  </a:t>
            </a:r>
            <a:pPr algn="ctr" indent="0" marL="0">
              <a:buNone/>
            </a:pPr>
            <a:r>
              <a:rPr lang="en-US" sz="1250" dirty="0">
                <a:solidFill>
                  <a:srgbClr val="161616"/>
                </a:solidFill>
                <a:latin typeface="+mj-lt" pitchFamily="34" charset="0"/>
                <a:ea typeface="+mj-lt" pitchFamily="34" charset="-122"/>
                <a:cs typeface="+mj-lt" pitchFamily="34" charset="-120"/>
              </a:rPr>
              <a:t>Adapt</a:t>
            </a:r>
            <a:endParaRPr lang="en-US" sz="1250" dirty="0"/>
          </a:p>
        </p:txBody>
      </p:sp>
      <p:sp>
        <p:nvSpPr>
          <p:cNvPr id="33" name="Text 25"/>
          <p:cNvSpPr txBox="1"/>
          <p:nvPr/>
        </p:nvSpPr>
        <p:spPr>
          <a:xfrm>
            <a:off x="9847326" y="2633472"/>
            <a:ext cx="1737360" cy="365760"/>
          </a:xfrm>
          <a:prstGeom prst="rect">
            <a:avLst/>
          </a:prstGeom>
          <a:noFill/>
          <a:ln/>
        </p:spPr>
        <p:txBody>
          <a:bodyPr wrap="square" lIns="0" tIns="0" rIns="0" bIns="0" rtlCol="0" anchor="t"/>
          <a:lstStyle/>
          <a:p>
            <a:pPr algn="ctr" indent="0" marL="0">
              <a:buNone/>
            </a:pPr>
            <a:r>
              <a:rPr lang="en-US" sz="1000" dirty="0">
                <a:solidFill>
                  <a:srgbClr val="525252"/>
                </a:solidFill>
              </a:rPr>
              <a:t>Re-plan on arrival,</a:t>
            </a:r>
            <a:endParaRPr lang="en-US" sz="1000" dirty="0"/>
          </a:p>
          <a:p>
            <a:pPr algn="ctr" indent="0" marL="0">
              <a:buNone/>
            </a:pPr>
            <a:r>
              <a:rPr lang="en-US" sz="1000" dirty="0">
                <a:solidFill>
                  <a:srgbClr val="525252"/>
                </a:solidFill>
              </a:rPr>
              <a:t>fault or trip change</a:t>
            </a:r>
            <a:endParaRPr lang="en-US" sz="1000" dirty="0"/>
          </a:p>
        </p:txBody>
      </p:sp>
      <p:pic>
        <p:nvPicPr>
          <p:cNvPr id="34" name="Schedule timeline screenshot" descr="C:\Users\shahr\AppData\Local\Temp\claude\C--Users-shahr-Downloads-ChargeOut-Command-Center\8bdb56c1-84dc-4179-97f0-b10e2c56a1fe\scratchpad\art\timeline_frame.png">    </p:cNvPr>
          <p:cNvPicPr>
            <a:picLocks noChangeAspect="1"/>
          </p:cNvPicPr>
          <p:nvPr/>
        </p:nvPicPr>
        <p:blipFill>
          <a:blip r:embed="rId7"/>
          <a:stretch>
            <a:fillRect/>
          </a:stretch>
        </p:blipFill>
        <p:spPr>
          <a:xfrm>
            <a:off x="354554" y="3006314"/>
            <a:ext cx="5120640" cy="3292995"/>
          </a:xfrm>
          <a:prstGeom prst="rect">
            <a:avLst/>
          </a:prstGeom>
        </p:spPr>
      </p:pic>
      <p:sp>
        <p:nvSpPr>
          <p:cNvPr id="35" name="Shape 26"/>
          <p:cNvSpPr/>
          <p:nvPr/>
        </p:nvSpPr>
        <p:spPr>
          <a:xfrm>
            <a:off x="731520" y="5593159"/>
            <a:ext cx="3246120" cy="347472"/>
          </a:xfrm>
          <a:prstGeom prst="roundRect">
            <a:avLst>
              <a:gd name="adj" fmla="val 50000"/>
            </a:avLst>
          </a:prstGeom>
          <a:solidFill>
            <a:srgbClr val="001141"/>
          </a:solidFill>
          <a:ln/>
          <a:effectLst>
            <a:outerShdw sx="100000" sy="100000" kx="0" ky="0" algn="bl" rotWithShape="0" blurRad="127000" dist="25400" dir="5400000">
              <a:srgbClr val="0A1E4A">
                <a:alpha val="30000"/>
              </a:srgbClr>
            </a:outerShdw>
          </a:effectLst>
        </p:spPr>
      </p:sp>
      <p:pic>
        <p:nvPicPr>
          <p:cNvPr id="36" name="Image 7" descr="preencoded.png">    </p:cNvPr>
          <p:cNvPicPr>
            <a:picLocks noChangeAspect="1"/>
          </p:cNvPicPr>
          <p:nvPr/>
        </p:nvPicPr>
        <p:blipFill>
          <a:blip r:embed="rId8"/>
          <a:stretch>
            <a:fillRect/>
          </a:stretch>
        </p:blipFill>
        <p:spPr>
          <a:xfrm>
            <a:off x="850392" y="5648023"/>
            <a:ext cx="237744" cy="237744"/>
          </a:xfrm>
          <a:prstGeom prst="rect">
            <a:avLst/>
          </a:prstGeom>
        </p:spPr>
      </p:pic>
      <p:sp>
        <p:nvSpPr>
          <p:cNvPr id="37" name="Text 27"/>
          <p:cNvSpPr txBox="1"/>
          <p:nvPr/>
        </p:nvSpPr>
        <p:spPr>
          <a:xfrm>
            <a:off x="1152144" y="5593159"/>
            <a:ext cx="2788920" cy="347472"/>
          </a:xfrm>
          <a:prstGeom prst="rect">
            <a:avLst/>
          </a:prstGeom>
          <a:noFill/>
          <a:ln/>
        </p:spPr>
        <p:txBody>
          <a:bodyPr wrap="square" lIns="0" tIns="0" rIns="0" bIns="0" rtlCol="0" anchor="ctr"/>
          <a:lstStyle/>
          <a:p>
            <a:pPr indent="0" marL="0">
              <a:buNone/>
            </a:pPr>
            <a:r>
              <a:rPr lang="en-US" sz="1050" dirty="0">
                <a:solidFill>
                  <a:srgbClr val="FFFFFF"/>
                </a:solidFill>
              </a:rPr>
              <a:t>Every slot cites its rule: R1–R8, P1–P5</a:t>
            </a:r>
            <a:endParaRPr lang="en-US" sz="1050" dirty="0"/>
          </a:p>
        </p:txBody>
      </p:sp>
      <p:sp>
        <p:nvSpPr>
          <p:cNvPr id="38" name="Text 28"/>
          <p:cNvSpPr txBox="1"/>
          <p:nvPr/>
        </p:nvSpPr>
        <p:spPr>
          <a:xfrm>
            <a:off x="5577840" y="3127248"/>
            <a:ext cx="36576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OPERATOR JOURNEY</a:t>
            </a:r>
            <a:endParaRPr lang="en-US" sz="1000" dirty="0"/>
          </a:p>
        </p:txBody>
      </p:sp>
      <p:sp>
        <p:nvSpPr>
          <p:cNvPr id="39" name="Shape 29"/>
          <p:cNvSpPr/>
          <p:nvPr/>
        </p:nvSpPr>
        <p:spPr>
          <a:xfrm>
            <a:off x="5577840" y="3364992"/>
            <a:ext cx="1051560" cy="292608"/>
          </a:xfrm>
          <a:prstGeom prst="roundRect">
            <a:avLst>
              <a:gd name="adj" fmla="val 50000"/>
            </a:avLst>
          </a:prstGeom>
          <a:solidFill>
            <a:srgbClr val="EDF5FF"/>
          </a:solidFill>
          <a:ln/>
        </p:spPr>
      </p:sp>
      <p:sp>
        <p:nvSpPr>
          <p:cNvPr id="40" name="Text 30"/>
          <p:cNvSpPr txBox="1"/>
          <p:nvPr/>
        </p:nvSpPr>
        <p:spPr>
          <a:xfrm>
            <a:off x="5577840" y="3364992"/>
            <a:ext cx="1051560" cy="292608"/>
          </a:xfrm>
          <a:prstGeom prst="rect">
            <a:avLst/>
          </a:prstGeom>
          <a:noFill/>
          <a:ln/>
        </p:spPr>
        <p:txBody>
          <a:bodyPr wrap="square" lIns="0" tIns="0" rIns="0" bIns="0" rtlCol="0" anchor="ctr"/>
          <a:lstStyle/>
          <a:p>
            <a:pPr algn="ctr" indent="0" marL="0">
              <a:buNone/>
            </a:pPr>
            <a:r>
              <a:rPr lang="en-US" sz="1000" dirty="0">
                <a:solidFill>
                  <a:srgbClr val="0043CE"/>
                </a:solidFill>
                <a:latin typeface="+mj-lt" pitchFamily="34" charset="0"/>
                <a:ea typeface="+mj-lt" pitchFamily="34" charset="-122"/>
                <a:cs typeface="+mj-lt" pitchFamily="34" charset="-120"/>
              </a:rPr>
              <a:t>Review fleet</a:t>
            </a:r>
            <a:endParaRPr lang="en-US" sz="1000" dirty="0"/>
          </a:p>
        </p:txBody>
      </p:sp>
      <p:sp>
        <p:nvSpPr>
          <p:cNvPr id="41" name="Shape 31"/>
          <p:cNvSpPr/>
          <p:nvPr/>
        </p:nvSpPr>
        <p:spPr>
          <a:xfrm>
            <a:off x="6656832" y="3511296"/>
            <a:ext cx="146304" cy="0"/>
          </a:xfrm>
          <a:prstGeom prst="line">
            <a:avLst/>
          </a:prstGeom>
          <a:noFill/>
          <a:ln w="12700">
            <a:solidFill>
              <a:srgbClr val="0F62FE"/>
            </a:solidFill>
            <a:prstDash val="solid"/>
            <a:tailEnd type="triangle"/>
          </a:ln>
        </p:spPr>
      </p:sp>
      <p:sp>
        <p:nvSpPr>
          <p:cNvPr id="42" name="Shape 32"/>
          <p:cNvSpPr/>
          <p:nvPr/>
        </p:nvSpPr>
        <p:spPr>
          <a:xfrm>
            <a:off x="6830568" y="3364992"/>
            <a:ext cx="1051560" cy="292608"/>
          </a:xfrm>
          <a:prstGeom prst="roundRect">
            <a:avLst>
              <a:gd name="adj" fmla="val 50000"/>
            </a:avLst>
          </a:prstGeom>
          <a:solidFill>
            <a:srgbClr val="EDF5FF"/>
          </a:solidFill>
          <a:ln/>
        </p:spPr>
      </p:sp>
      <p:sp>
        <p:nvSpPr>
          <p:cNvPr id="43" name="Text 33"/>
          <p:cNvSpPr txBox="1"/>
          <p:nvPr/>
        </p:nvSpPr>
        <p:spPr>
          <a:xfrm>
            <a:off x="6830568" y="3364992"/>
            <a:ext cx="1051560" cy="292608"/>
          </a:xfrm>
          <a:prstGeom prst="rect">
            <a:avLst/>
          </a:prstGeom>
          <a:noFill/>
          <a:ln/>
        </p:spPr>
        <p:txBody>
          <a:bodyPr wrap="square" lIns="0" tIns="0" rIns="0" bIns="0" rtlCol="0" anchor="ctr"/>
          <a:lstStyle/>
          <a:p>
            <a:pPr algn="ctr" indent="0" marL="0">
              <a:buNone/>
            </a:pPr>
            <a:r>
              <a:rPr lang="en-US" sz="1000" dirty="0">
                <a:solidFill>
                  <a:srgbClr val="0043CE"/>
                </a:solidFill>
                <a:latin typeface="+mj-lt" pitchFamily="34" charset="0"/>
                <a:ea typeface="+mj-lt" pitchFamily="34" charset="-122"/>
                <a:cs typeface="+mj-lt" pitchFamily="34" charset="-120"/>
              </a:rPr>
              <a:t>Compare plans</a:t>
            </a:r>
            <a:endParaRPr lang="en-US" sz="1000" dirty="0"/>
          </a:p>
        </p:txBody>
      </p:sp>
      <p:sp>
        <p:nvSpPr>
          <p:cNvPr id="44" name="Shape 34"/>
          <p:cNvSpPr/>
          <p:nvPr/>
        </p:nvSpPr>
        <p:spPr>
          <a:xfrm>
            <a:off x="7909560" y="3511296"/>
            <a:ext cx="146304" cy="0"/>
          </a:xfrm>
          <a:prstGeom prst="line">
            <a:avLst/>
          </a:prstGeom>
          <a:noFill/>
          <a:ln w="12700">
            <a:solidFill>
              <a:srgbClr val="0F62FE"/>
            </a:solidFill>
            <a:prstDash val="solid"/>
            <a:tailEnd type="triangle"/>
          </a:ln>
        </p:spPr>
      </p:sp>
      <p:sp>
        <p:nvSpPr>
          <p:cNvPr id="45" name="Shape 35"/>
          <p:cNvSpPr/>
          <p:nvPr/>
        </p:nvSpPr>
        <p:spPr>
          <a:xfrm>
            <a:off x="8083296" y="3364992"/>
            <a:ext cx="1051560" cy="292608"/>
          </a:xfrm>
          <a:prstGeom prst="roundRect">
            <a:avLst>
              <a:gd name="adj" fmla="val 50000"/>
            </a:avLst>
          </a:prstGeom>
          <a:solidFill>
            <a:srgbClr val="EDF5FF"/>
          </a:solidFill>
          <a:ln/>
        </p:spPr>
      </p:sp>
      <p:sp>
        <p:nvSpPr>
          <p:cNvPr id="46" name="Text 36"/>
          <p:cNvSpPr txBox="1"/>
          <p:nvPr/>
        </p:nvSpPr>
        <p:spPr>
          <a:xfrm>
            <a:off x="8083296" y="3364992"/>
            <a:ext cx="1051560" cy="292608"/>
          </a:xfrm>
          <a:prstGeom prst="rect">
            <a:avLst/>
          </a:prstGeom>
          <a:noFill/>
          <a:ln/>
        </p:spPr>
        <p:txBody>
          <a:bodyPr wrap="square" lIns="0" tIns="0" rIns="0" bIns="0" rtlCol="0" anchor="ctr"/>
          <a:lstStyle/>
          <a:p>
            <a:pPr algn="ctr" indent="0" marL="0">
              <a:buNone/>
            </a:pPr>
            <a:r>
              <a:rPr lang="en-US" sz="1000" dirty="0">
                <a:solidFill>
                  <a:srgbClr val="0043CE"/>
                </a:solidFill>
                <a:latin typeface="+mj-lt" pitchFamily="34" charset="0"/>
                <a:ea typeface="+mj-lt" pitchFamily="34" charset="-122"/>
                <a:cs typeface="+mj-lt" pitchFamily="34" charset="-120"/>
              </a:rPr>
              <a:t>Activate rules</a:t>
            </a:r>
            <a:endParaRPr lang="en-US" sz="1000" dirty="0"/>
          </a:p>
        </p:txBody>
      </p:sp>
      <p:sp>
        <p:nvSpPr>
          <p:cNvPr id="47" name="Shape 37"/>
          <p:cNvSpPr/>
          <p:nvPr/>
        </p:nvSpPr>
        <p:spPr>
          <a:xfrm>
            <a:off x="9162288" y="3511296"/>
            <a:ext cx="146304" cy="0"/>
          </a:xfrm>
          <a:prstGeom prst="line">
            <a:avLst/>
          </a:prstGeom>
          <a:noFill/>
          <a:ln w="12700">
            <a:solidFill>
              <a:srgbClr val="0F62FE"/>
            </a:solidFill>
            <a:prstDash val="solid"/>
            <a:tailEnd type="triangle"/>
          </a:ln>
        </p:spPr>
      </p:sp>
      <p:sp>
        <p:nvSpPr>
          <p:cNvPr id="48" name="Shape 38"/>
          <p:cNvSpPr/>
          <p:nvPr/>
        </p:nvSpPr>
        <p:spPr>
          <a:xfrm>
            <a:off x="9336024" y="3364992"/>
            <a:ext cx="1051560" cy="292608"/>
          </a:xfrm>
          <a:prstGeom prst="roundRect">
            <a:avLst>
              <a:gd name="adj" fmla="val 50000"/>
            </a:avLst>
          </a:prstGeom>
          <a:solidFill>
            <a:srgbClr val="EDF5FF"/>
          </a:solidFill>
          <a:ln/>
        </p:spPr>
      </p:sp>
      <p:sp>
        <p:nvSpPr>
          <p:cNvPr id="49" name="Text 39"/>
          <p:cNvSpPr txBox="1"/>
          <p:nvPr/>
        </p:nvSpPr>
        <p:spPr>
          <a:xfrm>
            <a:off x="9336024" y="3364992"/>
            <a:ext cx="1051560" cy="292608"/>
          </a:xfrm>
          <a:prstGeom prst="rect">
            <a:avLst/>
          </a:prstGeom>
          <a:noFill/>
          <a:ln/>
        </p:spPr>
        <p:txBody>
          <a:bodyPr wrap="square" lIns="0" tIns="0" rIns="0" bIns="0" rtlCol="0" anchor="ctr"/>
          <a:lstStyle/>
          <a:p>
            <a:pPr algn="ctr" indent="0" marL="0">
              <a:buNone/>
            </a:pPr>
            <a:r>
              <a:rPr lang="en-US" sz="1000" dirty="0">
                <a:solidFill>
                  <a:srgbClr val="0043CE"/>
                </a:solidFill>
                <a:latin typeface="+mj-lt" pitchFamily="34" charset="0"/>
                <a:ea typeface="+mj-lt" pitchFamily="34" charset="-122"/>
                <a:cs typeface="+mj-lt" pitchFamily="34" charset="-120"/>
              </a:rPr>
              <a:t>Watch live</a:t>
            </a:r>
            <a:endParaRPr lang="en-US" sz="1000" dirty="0"/>
          </a:p>
        </p:txBody>
      </p:sp>
      <p:sp>
        <p:nvSpPr>
          <p:cNvPr id="50" name="Shape 40"/>
          <p:cNvSpPr/>
          <p:nvPr/>
        </p:nvSpPr>
        <p:spPr>
          <a:xfrm>
            <a:off x="10415016" y="3511296"/>
            <a:ext cx="146304" cy="0"/>
          </a:xfrm>
          <a:prstGeom prst="line">
            <a:avLst/>
          </a:prstGeom>
          <a:noFill/>
          <a:ln w="12700">
            <a:solidFill>
              <a:srgbClr val="0F62FE"/>
            </a:solidFill>
            <a:prstDash val="solid"/>
            <a:tailEnd type="triangle"/>
          </a:ln>
        </p:spPr>
      </p:sp>
      <p:sp>
        <p:nvSpPr>
          <p:cNvPr id="51" name="Shape 41"/>
          <p:cNvSpPr/>
          <p:nvPr/>
        </p:nvSpPr>
        <p:spPr>
          <a:xfrm>
            <a:off x="10588752" y="3364992"/>
            <a:ext cx="1051560" cy="292608"/>
          </a:xfrm>
          <a:prstGeom prst="roundRect">
            <a:avLst>
              <a:gd name="adj" fmla="val 50000"/>
            </a:avLst>
          </a:prstGeom>
          <a:solidFill>
            <a:srgbClr val="EDF5FF"/>
          </a:solidFill>
          <a:ln/>
        </p:spPr>
      </p:sp>
      <p:sp>
        <p:nvSpPr>
          <p:cNvPr id="52" name="Text 42"/>
          <p:cNvSpPr txBox="1"/>
          <p:nvPr/>
        </p:nvSpPr>
        <p:spPr>
          <a:xfrm>
            <a:off x="10588752" y="3364992"/>
            <a:ext cx="1051560" cy="292608"/>
          </a:xfrm>
          <a:prstGeom prst="rect">
            <a:avLst/>
          </a:prstGeom>
          <a:noFill/>
          <a:ln/>
        </p:spPr>
        <p:txBody>
          <a:bodyPr wrap="square" lIns="0" tIns="0" rIns="0" bIns="0" rtlCol="0" anchor="ctr"/>
          <a:lstStyle/>
          <a:p>
            <a:pPr algn="ctr" indent="0" marL="0">
              <a:buNone/>
            </a:pPr>
            <a:r>
              <a:rPr lang="en-US" sz="1000" dirty="0">
                <a:solidFill>
                  <a:srgbClr val="0043CE"/>
                </a:solidFill>
                <a:latin typeface="+mj-lt" pitchFamily="34" charset="0"/>
                <a:ea typeface="+mj-lt" pitchFamily="34" charset="-122"/>
                <a:cs typeface="+mj-lt" pitchFamily="34" charset="-120"/>
              </a:rPr>
              <a:t>Override</a:t>
            </a:r>
            <a:endParaRPr lang="en-US" sz="1000" dirty="0"/>
          </a:p>
        </p:txBody>
      </p:sp>
      <p:sp>
        <p:nvSpPr>
          <p:cNvPr id="53" name="Shape 43"/>
          <p:cNvSpPr/>
          <p:nvPr/>
        </p:nvSpPr>
        <p:spPr>
          <a:xfrm>
            <a:off x="5577840" y="3803904"/>
            <a:ext cx="2939796" cy="731520"/>
          </a:xfrm>
          <a:prstGeom prst="roundRect">
            <a:avLst>
              <a:gd name="adj" fmla="val 10000"/>
            </a:avLst>
          </a:prstGeom>
          <a:solidFill>
            <a:srgbClr val="0F62FE"/>
          </a:solidFill>
          <a:ln/>
          <a:effectLst>
            <a:outerShdw sx="100000" sy="100000" kx="0" ky="0" algn="bl" rotWithShape="0" blurRad="177800" dist="38100" dir="5400000">
              <a:srgbClr val="0A1E4A">
                <a:alpha val="18000"/>
              </a:srgbClr>
            </a:outerShdw>
          </a:effectLst>
        </p:spPr>
      </p:sp>
      <p:sp>
        <p:nvSpPr>
          <p:cNvPr id="54" name="Shape 44"/>
          <p:cNvSpPr/>
          <p:nvPr/>
        </p:nvSpPr>
        <p:spPr>
          <a:xfrm>
            <a:off x="5724144" y="3959352"/>
            <a:ext cx="420624" cy="420624"/>
          </a:xfrm>
          <a:prstGeom prst="ellipse">
            <a:avLst/>
          </a:prstGeom>
          <a:solidFill>
            <a:srgbClr val="FFFFFF"/>
          </a:solidFill>
          <a:ln/>
        </p:spPr>
      </p:sp>
      <p:pic>
        <p:nvPicPr>
          <p:cNvPr id="55" name="Image 8" descr="preencoded.png">    </p:cNvPr>
          <p:cNvPicPr>
            <a:picLocks noChangeAspect="1"/>
          </p:cNvPicPr>
          <p:nvPr/>
        </p:nvPicPr>
        <p:blipFill>
          <a:blip r:embed="rId9"/>
          <a:stretch>
            <a:fillRect/>
          </a:stretch>
        </p:blipFill>
        <p:spPr>
          <a:xfrm>
            <a:off x="5816681" y="4051889"/>
            <a:ext cx="235549" cy="235549"/>
          </a:xfrm>
          <a:prstGeom prst="rect">
            <a:avLst/>
          </a:prstGeom>
        </p:spPr>
      </p:pic>
      <p:sp>
        <p:nvSpPr>
          <p:cNvPr id="56" name="Text 45"/>
          <p:cNvSpPr txBox="1"/>
          <p:nvPr/>
        </p:nvSpPr>
        <p:spPr>
          <a:xfrm>
            <a:off x="6272784" y="3895344"/>
            <a:ext cx="2153412" cy="219456"/>
          </a:xfrm>
          <a:prstGeom prst="rect">
            <a:avLst/>
          </a:prstGeom>
          <a:noFill/>
          <a:ln/>
        </p:spPr>
        <p:txBody>
          <a:bodyPr wrap="square" lIns="0" tIns="0" rIns="0" bIns="0" rtlCol="0" anchor="t"/>
          <a:lstStyle/>
          <a:p>
            <a:pPr indent="0" marL="0">
              <a:buNone/>
            </a:pPr>
            <a:r>
              <a:rPr lang="en-US" sz="1150" dirty="0">
                <a:solidFill>
                  <a:srgbClr val="FFFFFF"/>
                </a:solidFill>
                <a:latin typeface="+mj-lt" pitchFamily="34" charset="0"/>
                <a:ea typeface="+mj-lt" pitchFamily="34" charset="-122"/>
                <a:cs typeface="+mj-lt" pitchFamily="34" charset="-120"/>
              </a:rPr>
              <a:t>Explainable by design</a:t>
            </a:r>
            <a:endParaRPr lang="en-US" sz="1150" dirty="0"/>
          </a:p>
        </p:txBody>
      </p:sp>
      <p:sp>
        <p:nvSpPr>
          <p:cNvPr id="57" name="Text 46"/>
          <p:cNvSpPr txBox="1"/>
          <p:nvPr/>
        </p:nvSpPr>
        <p:spPr>
          <a:xfrm>
            <a:off x="6272784" y="4123944"/>
            <a:ext cx="2153412" cy="365760"/>
          </a:xfrm>
          <a:prstGeom prst="rect">
            <a:avLst/>
          </a:prstGeom>
          <a:noFill/>
          <a:ln/>
        </p:spPr>
        <p:txBody>
          <a:bodyPr wrap="square" lIns="0" tIns="0" rIns="0" bIns="0" rtlCol="0" anchor="t"/>
          <a:lstStyle/>
          <a:p>
            <a:pPr indent="0" marL="0">
              <a:buNone/>
            </a:pPr>
            <a:r>
              <a:rPr lang="en-US" sz="1000" dirty="0">
                <a:solidFill>
                  <a:srgbClr val="D0E2FF"/>
                </a:solidFill>
              </a:rPr>
              <a:t>Each reservation shows the</a:t>
            </a:r>
            <a:endParaRPr lang="en-US" sz="1000" dirty="0"/>
          </a:p>
          <a:p>
            <a:pPr indent="0" marL="0">
              <a:buNone/>
            </a:pPr>
            <a:r>
              <a:rPr lang="en-US" sz="1000" dirty="0">
                <a:solidFill>
                  <a:srgbClr val="D0E2FF"/>
                </a:solidFill>
              </a:rPr>
              <a:t>rule that created it</a:t>
            </a:r>
            <a:endParaRPr lang="en-US" sz="1000" dirty="0"/>
          </a:p>
        </p:txBody>
      </p:sp>
      <p:sp>
        <p:nvSpPr>
          <p:cNvPr id="58" name="Shape 47"/>
          <p:cNvSpPr/>
          <p:nvPr/>
        </p:nvSpPr>
        <p:spPr>
          <a:xfrm>
            <a:off x="8700516" y="3803904"/>
            <a:ext cx="2939796" cy="731520"/>
          </a:xfrm>
          <a:prstGeom prst="roundRect">
            <a:avLst>
              <a:gd name="adj" fmla="val 10000"/>
            </a:avLst>
          </a:prstGeom>
          <a:solidFill>
            <a:srgbClr val="FFFFFF"/>
          </a:solidFill>
          <a:ln w="9525">
            <a:solidFill>
              <a:srgbClr val="E0E0E0"/>
            </a:solidFill>
            <a:prstDash val="solid"/>
          </a:ln>
          <a:effectLst>
            <a:outerShdw sx="100000" sy="100000" kx="0" ky="0" algn="bl" rotWithShape="0" blurRad="177800" dist="38100" dir="5400000">
              <a:srgbClr val="0A1E4A">
                <a:alpha val="6000"/>
              </a:srgbClr>
            </a:outerShdw>
          </a:effectLst>
        </p:spPr>
      </p:sp>
      <p:sp>
        <p:nvSpPr>
          <p:cNvPr id="59" name="Shape 48"/>
          <p:cNvSpPr/>
          <p:nvPr/>
        </p:nvSpPr>
        <p:spPr>
          <a:xfrm>
            <a:off x="8846820" y="3959352"/>
            <a:ext cx="420624" cy="420624"/>
          </a:xfrm>
          <a:prstGeom prst="ellipse">
            <a:avLst/>
          </a:prstGeom>
          <a:solidFill>
            <a:srgbClr val="EDF5FF"/>
          </a:solidFill>
          <a:ln/>
        </p:spPr>
      </p:sp>
      <p:pic>
        <p:nvPicPr>
          <p:cNvPr id="60" name="Image 9" descr="preencoded.png">    </p:cNvPr>
          <p:cNvPicPr>
            <a:picLocks noChangeAspect="1"/>
          </p:cNvPicPr>
          <p:nvPr/>
        </p:nvPicPr>
        <p:blipFill>
          <a:blip r:embed="rId10"/>
          <a:stretch>
            <a:fillRect/>
          </a:stretch>
        </p:blipFill>
        <p:spPr>
          <a:xfrm>
            <a:off x="8939357" y="4051889"/>
            <a:ext cx="235549" cy="235549"/>
          </a:xfrm>
          <a:prstGeom prst="rect">
            <a:avLst/>
          </a:prstGeom>
        </p:spPr>
      </p:pic>
      <p:sp>
        <p:nvSpPr>
          <p:cNvPr id="61" name="Text 49"/>
          <p:cNvSpPr txBox="1"/>
          <p:nvPr/>
        </p:nvSpPr>
        <p:spPr>
          <a:xfrm>
            <a:off x="9395460" y="3895344"/>
            <a:ext cx="2153412" cy="219456"/>
          </a:xfrm>
          <a:prstGeom prst="rect">
            <a:avLst/>
          </a:prstGeom>
          <a:noFill/>
          <a:ln/>
        </p:spPr>
        <p:txBody>
          <a:bodyPr wrap="square" lIns="0" tIns="0" rIns="0" bIns="0" rtlCol="0" anchor="t"/>
          <a:lstStyle/>
          <a:p>
            <a:pPr indent="0" marL="0">
              <a:buNone/>
            </a:pPr>
            <a:r>
              <a:rPr lang="en-US" sz="1150" dirty="0">
                <a:solidFill>
                  <a:srgbClr val="161616"/>
                </a:solidFill>
                <a:latin typeface="+mj-lt" pitchFamily="34" charset="0"/>
                <a:ea typeface="+mj-lt" pitchFamily="34" charset="-122"/>
                <a:cs typeface="+mj-lt" pitchFamily="34" charset="-120"/>
              </a:rPr>
              <a:t>Baseline vs rule-based</a:t>
            </a:r>
            <a:endParaRPr lang="en-US" sz="1150" dirty="0"/>
          </a:p>
        </p:txBody>
      </p:sp>
      <p:sp>
        <p:nvSpPr>
          <p:cNvPr id="62" name="Text 50"/>
          <p:cNvSpPr txBox="1"/>
          <p:nvPr/>
        </p:nvSpPr>
        <p:spPr>
          <a:xfrm>
            <a:off x="9395460" y="4123944"/>
            <a:ext cx="2153412" cy="365760"/>
          </a:xfrm>
          <a:prstGeom prst="rect">
            <a:avLst/>
          </a:prstGeom>
          <a:noFill/>
          <a:ln/>
        </p:spPr>
        <p:txBody>
          <a:bodyPr wrap="square" lIns="0" tIns="0" rIns="0" bIns="0" rtlCol="0" anchor="t"/>
          <a:lstStyle/>
          <a:p>
            <a:pPr indent="0" marL="0">
              <a:buNone/>
            </a:pPr>
            <a:r>
              <a:rPr lang="en-US" sz="1000" dirty="0">
                <a:solidFill>
                  <a:srgbClr val="525252"/>
                </a:solidFill>
              </a:rPr>
              <a:t>Both plans compared on the</a:t>
            </a:r>
            <a:endParaRPr lang="en-US" sz="1000" dirty="0"/>
          </a:p>
          <a:p>
            <a:pPr indent="0" marL="0">
              <a:buNone/>
            </a:pPr>
            <a:r>
              <a:rPr lang="en-US" sz="1000" dirty="0">
                <a:solidFill>
                  <a:srgbClr val="525252"/>
                </a:solidFill>
              </a:rPr>
              <a:t>same live fleet snapshot</a:t>
            </a:r>
            <a:endParaRPr lang="en-US" sz="1000" dirty="0"/>
          </a:p>
        </p:txBody>
      </p:sp>
      <p:sp>
        <p:nvSpPr>
          <p:cNvPr id="63" name="Shape 51"/>
          <p:cNvSpPr/>
          <p:nvPr/>
        </p:nvSpPr>
        <p:spPr>
          <a:xfrm>
            <a:off x="5577840" y="4626864"/>
            <a:ext cx="2939796" cy="731520"/>
          </a:xfrm>
          <a:prstGeom prst="roundRect">
            <a:avLst>
              <a:gd name="adj" fmla="val 10000"/>
            </a:avLst>
          </a:prstGeom>
          <a:solidFill>
            <a:srgbClr val="FFFFFF"/>
          </a:solidFill>
          <a:ln w="9525">
            <a:solidFill>
              <a:srgbClr val="E0E0E0"/>
            </a:solidFill>
            <a:prstDash val="solid"/>
          </a:ln>
          <a:effectLst>
            <a:outerShdw sx="100000" sy="100000" kx="0" ky="0" algn="bl" rotWithShape="0" blurRad="177800" dist="38100" dir="5400000">
              <a:srgbClr val="0A1E4A">
                <a:alpha val="6000"/>
              </a:srgbClr>
            </a:outerShdw>
          </a:effectLst>
        </p:spPr>
      </p:sp>
      <p:sp>
        <p:nvSpPr>
          <p:cNvPr id="64" name="Shape 52"/>
          <p:cNvSpPr/>
          <p:nvPr/>
        </p:nvSpPr>
        <p:spPr>
          <a:xfrm>
            <a:off x="5724144" y="4782312"/>
            <a:ext cx="420624" cy="420624"/>
          </a:xfrm>
          <a:prstGeom prst="ellipse">
            <a:avLst/>
          </a:prstGeom>
          <a:solidFill>
            <a:srgbClr val="EDF5FF"/>
          </a:solidFill>
          <a:ln/>
        </p:spPr>
      </p:sp>
      <p:pic>
        <p:nvPicPr>
          <p:cNvPr id="65" name="Image 10" descr="preencoded.png">    </p:cNvPr>
          <p:cNvPicPr>
            <a:picLocks noChangeAspect="1"/>
          </p:cNvPicPr>
          <p:nvPr/>
        </p:nvPicPr>
        <p:blipFill>
          <a:blip r:embed="rId11"/>
          <a:stretch>
            <a:fillRect/>
          </a:stretch>
        </p:blipFill>
        <p:spPr>
          <a:xfrm>
            <a:off x="5816681" y="4874849"/>
            <a:ext cx="235549" cy="235549"/>
          </a:xfrm>
          <a:prstGeom prst="rect">
            <a:avLst/>
          </a:prstGeom>
        </p:spPr>
      </p:pic>
      <p:sp>
        <p:nvSpPr>
          <p:cNvPr id="66" name="Text 53"/>
          <p:cNvSpPr txBox="1"/>
          <p:nvPr/>
        </p:nvSpPr>
        <p:spPr>
          <a:xfrm>
            <a:off x="6272784" y="4718304"/>
            <a:ext cx="2153412" cy="219456"/>
          </a:xfrm>
          <a:prstGeom prst="rect">
            <a:avLst/>
          </a:prstGeom>
          <a:noFill/>
          <a:ln/>
        </p:spPr>
        <p:txBody>
          <a:bodyPr wrap="square" lIns="0" tIns="0" rIns="0" bIns="0" rtlCol="0" anchor="t"/>
          <a:lstStyle/>
          <a:p>
            <a:pPr indent="0" marL="0">
              <a:buNone/>
            </a:pPr>
            <a:r>
              <a:rPr lang="en-US" sz="1150" dirty="0">
                <a:solidFill>
                  <a:srgbClr val="161616"/>
                </a:solidFill>
                <a:latin typeface="+mj-lt" pitchFamily="34" charset="0"/>
                <a:ea typeface="+mj-lt" pitchFamily="34" charset="-122"/>
                <a:cs typeface="+mj-lt" pitchFamily="34" charset="-120"/>
              </a:rPr>
              <a:t>LP-benchmarked</a:t>
            </a:r>
            <a:endParaRPr lang="en-US" sz="1150" dirty="0"/>
          </a:p>
        </p:txBody>
      </p:sp>
      <p:sp>
        <p:nvSpPr>
          <p:cNvPr id="67" name="Text 54"/>
          <p:cNvSpPr txBox="1"/>
          <p:nvPr/>
        </p:nvSpPr>
        <p:spPr>
          <a:xfrm>
            <a:off x="6272784" y="4946904"/>
            <a:ext cx="2153412" cy="365760"/>
          </a:xfrm>
          <a:prstGeom prst="rect">
            <a:avLst/>
          </a:prstGeom>
          <a:noFill/>
          <a:ln/>
        </p:spPr>
        <p:txBody>
          <a:bodyPr wrap="square" lIns="0" tIns="0" rIns="0" bIns="0" rtlCol="0" anchor="t"/>
          <a:lstStyle/>
          <a:p>
            <a:pPr indent="0" marL="0">
              <a:buNone/>
            </a:pPr>
            <a:r>
              <a:rPr lang="en-US" sz="1000" dirty="0">
                <a:solidFill>
                  <a:srgbClr val="525252"/>
                </a:solidFill>
              </a:rPr>
              <a:t>Within 3.2% of the HiGHS</a:t>
            </a:r>
            <a:endParaRPr lang="en-US" sz="1000" dirty="0"/>
          </a:p>
          <a:p>
            <a:pPr indent="0" marL="0">
              <a:buNone/>
            </a:pPr>
            <a:r>
              <a:rPr lang="en-US" sz="1000" dirty="0">
                <a:solidFill>
                  <a:srgbClr val="525252"/>
                </a:solidFill>
              </a:rPr>
              <a:t>optimum on price per kWh</a:t>
            </a:r>
            <a:endParaRPr lang="en-US" sz="1000" dirty="0"/>
          </a:p>
        </p:txBody>
      </p:sp>
      <p:sp>
        <p:nvSpPr>
          <p:cNvPr id="68" name="Shape 55"/>
          <p:cNvSpPr/>
          <p:nvPr/>
        </p:nvSpPr>
        <p:spPr>
          <a:xfrm>
            <a:off x="8700516" y="4626864"/>
            <a:ext cx="2939796" cy="731520"/>
          </a:xfrm>
          <a:prstGeom prst="roundRect">
            <a:avLst>
              <a:gd name="adj" fmla="val 10000"/>
            </a:avLst>
          </a:prstGeom>
          <a:solidFill>
            <a:srgbClr val="FFFFFF"/>
          </a:solidFill>
          <a:ln w="9525">
            <a:solidFill>
              <a:srgbClr val="E0E0E0"/>
            </a:solidFill>
            <a:prstDash val="solid"/>
          </a:ln>
          <a:effectLst>
            <a:outerShdw sx="100000" sy="100000" kx="0" ky="0" algn="bl" rotWithShape="0" blurRad="177800" dist="38100" dir="5400000">
              <a:srgbClr val="0A1E4A">
                <a:alpha val="6000"/>
              </a:srgbClr>
            </a:outerShdw>
          </a:effectLst>
        </p:spPr>
      </p:sp>
      <p:sp>
        <p:nvSpPr>
          <p:cNvPr id="69" name="Shape 56"/>
          <p:cNvSpPr/>
          <p:nvPr/>
        </p:nvSpPr>
        <p:spPr>
          <a:xfrm>
            <a:off x="8846820" y="4782312"/>
            <a:ext cx="420624" cy="420624"/>
          </a:xfrm>
          <a:prstGeom prst="ellipse">
            <a:avLst/>
          </a:prstGeom>
          <a:solidFill>
            <a:srgbClr val="EDF5FF"/>
          </a:solidFill>
          <a:ln/>
        </p:spPr>
      </p:sp>
      <p:pic>
        <p:nvPicPr>
          <p:cNvPr id="70" name="Image 11" descr="preencoded.png">    </p:cNvPr>
          <p:cNvPicPr>
            <a:picLocks noChangeAspect="1"/>
          </p:cNvPicPr>
          <p:nvPr/>
        </p:nvPicPr>
        <p:blipFill>
          <a:blip r:embed="rId12"/>
          <a:stretch>
            <a:fillRect/>
          </a:stretch>
        </p:blipFill>
        <p:spPr>
          <a:xfrm>
            <a:off x="8939357" y="4874849"/>
            <a:ext cx="235549" cy="235549"/>
          </a:xfrm>
          <a:prstGeom prst="rect">
            <a:avLst/>
          </a:prstGeom>
        </p:spPr>
      </p:pic>
      <p:sp>
        <p:nvSpPr>
          <p:cNvPr id="71" name="Text 57"/>
          <p:cNvSpPr txBox="1"/>
          <p:nvPr/>
        </p:nvSpPr>
        <p:spPr>
          <a:xfrm>
            <a:off x="9395460" y="4718304"/>
            <a:ext cx="2153412" cy="219456"/>
          </a:xfrm>
          <a:prstGeom prst="rect">
            <a:avLst/>
          </a:prstGeom>
          <a:noFill/>
          <a:ln/>
        </p:spPr>
        <p:txBody>
          <a:bodyPr wrap="square" lIns="0" tIns="0" rIns="0" bIns="0" rtlCol="0" anchor="t"/>
          <a:lstStyle/>
          <a:p>
            <a:pPr indent="0" marL="0">
              <a:buNone/>
            </a:pPr>
            <a:r>
              <a:rPr lang="en-US" sz="1150" dirty="0">
                <a:solidFill>
                  <a:srgbClr val="161616"/>
                </a:solidFill>
                <a:latin typeface="+mj-lt" pitchFamily="34" charset="0"/>
                <a:ea typeface="+mj-lt" pitchFamily="34" charset="-122"/>
                <a:cs typeface="+mj-lt" pitchFamily="34" charset="-120"/>
              </a:rPr>
              <a:t>At-risk alerts</a:t>
            </a:r>
            <a:endParaRPr lang="en-US" sz="1150" dirty="0"/>
          </a:p>
        </p:txBody>
      </p:sp>
      <p:sp>
        <p:nvSpPr>
          <p:cNvPr id="72" name="Text 58"/>
          <p:cNvSpPr txBox="1"/>
          <p:nvPr/>
        </p:nvSpPr>
        <p:spPr>
          <a:xfrm>
            <a:off x="9395460" y="4946904"/>
            <a:ext cx="2153412" cy="365760"/>
          </a:xfrm>
          <a:prstGeom prst="rect">
            <a:avLst/>
          </a:prstGeom>
          <a:noFill/>
          <a:ln/>
        </p:spPr>
        <p:txBody>
          <a:bodyPr wrap="square" lIns="0" tIns="0" rIns="0" bIns="0" rtlCol="0" anchor="t"/>
          <a:lstStyle/>
          <a:p>
            <a:pPr indent="0" marL="0">
              <a:buNone/>
            </a:pPr>
            <a:r>
              <a:rPr lang="en-US" sz="1000" dirty="0">
                <a:solidFill>
                  <a:srgbClr val="525252"/>
                </a:solidFill>
              </a:rPr>
              <a:t>Departures flagged before</a:t>
            </a:r>
            <a:endParaRPr lang="en-US" sz="1000" dirty="0"/>
          </a:p>
          <a:p>
            <a:pPr indent="0" marL="0">
              <a:buNone/>
            </a:pPr>
            <a:r>
              <a:rPr lang="en-US" sz="1000" dirty="0">
                <a:solidFill>
                  <a:srgbClr val="525252"/>
                </a:solidFill>
              </a:rPr>
              <a:t>they fail, with a fix</a:t>
            </a:r>
            <a:endParaRPr lang="en-US" sz="1000" dirty="0"/>
          </a:p>
        </p:txBody>
      </p:sp>
      <p:sp>
        <p:nvSpPr>
          <p:cNvPr id="73" name="Shape 59"/>
          <p:cNvSpPr/>
          <p:nvPr/>
        </p:nvSpPr>
        <p:spPr>
          <a:xfrm>
            <a:off x="5577840" y="5449824"/>
            <a:ext cx="2939796" cy="731520"/>
          </a:xfrm>
          <a:prstGeom prst="roundRect">
            <a:avLst>
              <a:gd name="adj" fmla="val 10000"/>
            </a:avLst>
          </a:prstGeom>
          <a:solidFill>
            <a:srgbClr val="FFFFFF"/>
          </a:solidFill>
          <a:ln w="9525">
            <a:solidFill>
              <a:srgbClr val="E0E0E0"/>
            </a:solidFill>
            <a:prstDash val="solid"/>
          </a:ln>
          <a:effectLst>
            <a:outerShdw sx="100000" sy="100000" kx="0" ky="0" algn="bl" rotWithShape="0" blurRad="177800" dist="38100" dir="5400000">
              <a:srgbClr val="0A1E4A">
                <a:alpha val="6000"/>
              </a:srgbClr>
            </a:outerShdw>
          </a:effectLst>
        </p:spPr>
      </p:sp>
      <p:sp>
        <p:nvSpPr>
          <p:cNvPr id="74" name="Shape 60"/>
          <p:cNvSpPr/>
          <p:nvPr/>
        </p:nvSpPr>
        <p:spPr>
          <a:xfrm>
            <a:off x="5724144" y="5605272"/>
            <a:ext cx="420624" cy="420624"/>
          </a:xfrm>
          <a:prstGeom prst="ellipse">
            <a:avLst/>
          </a:prstGeom>
          <a:solidFill>
            <a:srgbClr val="EDF5FF"/>
          </a:solidFill>
          <a:ln/>
        </p:spPr>
      </p:sp>
      <p:pic>
        <p:nvPicPr>
          <p:cNvPr id="75" name="Image 12" descr="preencoded.png">    </p:cNvPr>
          <p:cNvPicPr>
            <a:picLocks noChangeAspect="1"/>
          </p:cNvPicPr>
          <p:nvPr/>
        </p:nvPicPr>
        <p:blipFill>
          <a:blip r:embed="rId13"/>
          <a:stretch>
            <a:fillRect/>
          </a:stretch>
        </p:blipFill>
        <p:spPr>
          <a:xfrm>
            <a:off x="5816681" y="5697809"/>
            <a:ext cx="235549" cy="235549"/>
          </a:xfrm>
          <a:prstGeom prst="rect">
            <a:avLst/>
          </a:prstGeom>
        </p:spPr>
      </p:pic>
      <p:sp>
        <p:nvSpPr>
          <p:cNvPr id="76" name="Text 61"/>
          <p:cNvSpPr txBox="1"/>
          <p:nvPr/>
        </p:nvSpPr>
        <p:spPr>
          <a:xfrm>
            <a:off x="6272784" y="5541264"/>
            <a:ext cx="2153412" cy="219456"/>
          </a:xfrm>
          <a:prstGeom prst="rect">
            <a:avLst/>
          </a:prstGeom>
          <a:noFill/>
          <a:ln/>
        </p:spPr>
        <p:txBody>
          <a:bodyPr wrap="square" lIns="0" tIns="0" rIns="0" bIns="0" rtlCol="0" anchor="t"/>
          <a:lstStyle/>
          <a:p>
            <a:pPr indent="0" marL="0">
              <a:buNone/>
            </a:pPr>
            <a:r>
              <a:rPr lang="en-US" sz="1150" dirty="0">
                <a:solidFill>
                  <a:srgbClr val="161616"/>
                </a:solidFill>
                <a:latin typeface="+mj-lt" pitchFamily="34" charset="0"/>
                <a:ea typeface="+mj-lt" pitchFamily="34" charset="-122"/>
                <a:cs typeface="+mj-lt" pitchFamily="34" charset="-120"/>
              </a:rPr>
              <a:t>OCPP 1.6-J control</a:t>
            </a:r>
            <a:endParaRPr lang="en-US" sz="1150" dirty="0"/>
          </a:p>
        </p:txBody>
      </p:sp>
      <p:sp>
        <p:nvSpPr>
          <p:cNvPr id="77" name="Text 62"/>
          <p:cNvSpPr txBox="1"/>
          <p:nvPr/>
        </p:nvSpPr>
        <p:spPr>
          <a:xfrm>
            <a:off x="6272784" y="5769864"/>
            <a:ext cx="2153412" cy="365760"/>
          </a:xfrm>
          <a:prstGeom prst="rect">
            <a:avLst/>
          </a:prstGeom>
          <a:noFill/>
          <a:ln/>
        </p:spPr>
        <p:txBody>
          <a:bodyPr wrap="square" lIns="0" tIns="0" rIns="0" bIns="0" rtlCol="0" anchor="t"/>
          <a:lstStyle/>
          <a:p>
            <a:pPr indent="0" marL="0">
              <a:buNone/>
            </a:pPr>
            <a:r>
              <a:rPr lang="en-US" sz="1000" dirty="0">
                <a:solidFill>
                  <a:srgbClr val="525252"/>
                </a:solidFill>
              </a:rPr>
              <a:t>Remote start/stop and</a:t>
            </a:r>
            <a:endParaRPr lang="en-US" sz="1000" dirty="0"/>
          </a:p>
          <a:p>
            <a:pPr indent="0" marL="0">
              <a:buNone/>
            </a:pPr>
            <a:r>
              <a:rPr lang="en-US" sz="1000" dirty="0">
                <a:solidFill>
                  <a:srgbClr val="525252"/>
                </a:solidFill>
              </a:rPr>
              <a:t>power limits on chargers</a:t>
            </a:r>
            <a:endParaRPr lang="en-US" sz="1000" dirty="0"/>
          </a:p>
        </p:txBody>
      </p:sp>
      <p:sp>
        <p:nvSpPr>
          <p:cNvPr id="78" name="Shape 63"/>
          <p:cNvSpPr/>
          <p:nvPr/>
        </p:nvSpPr>
        <p:spPr>
          <a:xfrm>
            <a:off x="8700516" y="5449824"/>
            <a:ext cx="2939796" cy="731520"/>
          </a:xfrm>
          <a:prstGeom prst="roundRect">
            <a:avLst>
              <a:gd name="adj" fmla="val 10000"/>
            </a:avLst>
          </a:prstGeom>
          <a:solidFill>
            <a:srgbClr val="FFFFFF"/>
          </a:solidFill>
          <a:ln w="9525">
            <a:solidFill>
              <a:srgbClr val="E0E0E0"/>
            </a:solidFill>
            <a:prstDash val="solid"/>
          </a:ln>
          <a:effectLst>
            <a:outerShdw sx="100000" sy="100000" kx="0" ky="0" algn="bl" rotWithShape="0" blurRad="177800" dist="38100" dir="5400000">
              <a:srgbClr val="0A1E4A">
                <a:alpha val="6000"/>
              </a:srgbClr>
            </a:outerShdw>
          </a:effectLst>
        </p:spPr>
      </p:sp>
      <p:sp>
        <p:nvSpPr>
          <p:cNvPr id="79" name="Shape 64"/>
          <p:cNvSpPr/>
          <p:nvPr/>
        </p:nvSpPr>
        <p:spPr>
          <a:xfrm>
            <a:off x="8846820" y="5605272"/>
            <a:ext cx="420624" cy="420624"/>
          </a:xfrm>
          <a:prstGeom prst="ellipse">
            <a:avLst/>
          </a:prstGeom>
          <a:solidFill>
            <a:srgbClr val="EDF5FF"/>
          </a:solidFill>
          <a:ln/>
        </p:spPr>
      </p:sp>
      <p:pic>
        <p:nvPicPr>
          <p:cNvPr id="80" name="Image 13" descr="preencoded.png">    </p:cNvPr>
          <p:cNvPicPr>
            <a:picLocks noChangeAspect="1"/>
          </p:cNvPicPr>
          <p:nvPr/>
        </p:nvPicPr>
        <p:blipFill>
          <a:blip r:embed="rId14"/>
          <a:stretch>
            <a:fillRect/>
          </a:stretch>
        </p:blipFill>
        <p:spPr>
          <a:xfrm>
            <a:off x="8939357" y="5697809"/>
            <a:ext cx="235549" cy="235549"/>
          </a:xfrm>
          <a:prstGeom prst="rect">
            <a:avLst/>
          </a:prstGeom>
        </p:spPr>
      </p:pic>
      <p:sp>
        <p:nvSpPr>
          <p:cNvPr id="81" name="Text 65"/>
          <p:cNvSpPr txBox="1"/>
          <p:nvPr/>
        </p:nvSpPr>
        <p:spPr>
          <a:xfrm>
            <a:off x="9395460" y="5541264"/>
            <a:ext cx="2153412" cy="219456"/>
          </a:xfrm>
          <a:prstGeom prst="rect">
            <a:avLst/>
          </a:prstGeom>
          <a:noFill/>
          <a:ln/>
        </p:spPr>
        <p:txBody>
          <a:bodyPr wrap="square" lIns="0" tIns="0" rIns="0" bIns="0" rtlCol="0" anchor="t"/>
          <a:lstStyle/>
          <a:p>
            <a:pPr indent="0" marL="0">
              <a:buNone/>
            </a:pPr>
            <a:r>
              <a:rPr lang="en-US" sz="1150" dirty="0">
                <a:solidFill>
                  <a:srgbClr val="161616"/>
                </a:solidFill>
                <a:latin typeface="+mj-lt" pitchFamily="34" charset="0"/>
                <a:ea typeface="+mj-lt" pitchFamily="34" charset="-122"/>
                <a:cs typeface="+mj-lt" pitchFamily="34" charset="-120"/>
              </a:rPr>
              <a:t>6 roles + audit trail</a:t>
            </a:r>
            <a:endParaRPr lang="en-US" sz="1150" dirty="0"/>
          </a:p>
        </p:txBody>
      </p:sp>
      <p:sp>
        <p:nvSpPr>
          <p:cNvPr id="82" name="Text 66"/>
          <p:cNvSpPr txBox="1"/>
          <p:nvPr/>
        </p:nvSpPr>
        <p:spPr>
          <a:xfrm>
            <a:off x="9395460" y="5769864"/>
            <a:ext cx="2153412" cy="365760"/>
          </a:xfrm>
          <a:prstGeom prst="rect">
            <a:avLst/>
          </a:prstGeom>
          <a:noFill/>
          <a:ln/>
        </p:spPr>
        <p:txBody>
          <a:bodyPr wrap="square" lIns="0" tIns="0" rIns="0" bIns="0" rtlCol="0" anchor="t"/>
          <a:lstStyle/>
          <a:p>
            <a:pPr indent="0" marL="0">
              <a:buNone/>
            </a:pPr>
            <a:r>
              <a:rPr lang="en-US" sz="1000" dirty="0">
                <a:solidFill>
                  <a:srgbClr val="525252"/>
                </a:solidFill>
              </a:rPr>
              <a:t>Every override and config</a:t>
            </a:r>
            <a:endParaRPr lang="en-US" sz="1000" dirty="0"/>
          </a:p>
          <a:p>
            <a:pPr indent="0" marL="0">
              <a:buNone/>
            </a:pPr>
            <a:r>
              <a:rPr lang="en-US" sz="1000" dirty="0">
                <a:solidFill>
                  <a:srgbClr val="525252"/>
                </a:solidFill>
              </a:rPr>
              <a:t>change is traced</a:t>
            </a:r>
            <a:endParaRPr lang="en-US" sz="1000" dirty="0"/>
          </a:p>
        </p:txBody>
      </p:sp>
      <p:sp>
        <p:nvSpPr>
          <p:cNvPr id="25" name="Slide Number Placeholder 0"/>
          <p:cNvSpPr>
            <a:spLocks noGrp="1"/>
          </p:cNvSpPr>
          <p:nvPr>
            <p:ph type="sldNum" sz="quarter" idx="4294967295"/>
          </p:nvPr>
        </p:nvSpPr>
        <p:spPr>
          <a:xfrm>
            <a:off x="11274552" y="6419088"/>
            <a:ext cx="36576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8D8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7315200" cy="237744"/>
          </a:xfrm>
          <a:prstGeom prst="rect">
            <a:avLst/>
          </a:prstGeom>
          <a:noFill/>
          <a:ln/>
        </p:spPr>
        <p:txBody>
          <a:bodyPr wrap="square" lIns="0" tIns="0" rIns="0" bIns="0" rtlCol="0" anchor="t"/>
          <a:lstStyle/>
          <a:p>
            <a:pPr indent="0" marL="0">
              <a:buNone/>
            </a:pPr>
            <a:r>
              <a:rPr lang="en-US" sz="1050" spc="200" kern="0" dirty="0">
                <a:solidFill>
                  <a:srgbClr val="0F62FE"/>
                </a:solidFill>
                <a:latin typeface="Consolas" pitchFamily="34" charset="0"/>
                <a:ea typeface="Consolas" pitchFamily="34" charset="-122"/>
                <a:cs typeface="Consolas" pitchFamily="34" charset="-120"/>
              </a:rPr>
              <a:t>04  ·  DEMO &amp; SYSTEM ARCHITECTURE</a:t>
            </a:r>
            <a:endParaRPr lang="en-US" sz="1050" dirty="0"/>
          </a:p>
        </p:txBody>
      </p:sp>
      <p:sp>
        <p:nvSpPr>
          <p:cNvPr id="3" name="Text 1"/>
          <p:cNvSpPr/>
          <p:nvPr>
            <p:ph idx="103" type="title" hasCustomPrompt="1"/>
          </p:nvPr>
        </p:nvSpPr>
        <p:spPr>
          <a:xfrm>
            <a:off x="548640" y="640080"/>
            <a:ext cx="11091672" cy="548640"/>
          </a:xfrm>
          <a:prstGeom prst="rect">
            <a:avLst/>
          </a:prstGeom>
          <a:noFill/>
          <a:ln/>
        </p:spPr>
        <p:txBody>
          <a:bodyPr wrap="square" lIns="0" tIns="0" rIns="0" bIns="0" rtlCol="0" anchor="t"/>
          <a:lstStyle/>
          <a:p>
            <a:pPr indent="0" marL="0">
              <a:buNone/>
            </a:pPr>
            <a:r>
              <a:rPr lang="en-US" sz="2600" dirty="0">
                <a:solidFill>
                  <a:srgbClr val="161616"/>
                </a:solidFill>
              </a:rPr>
              <a:t>An event-driven stack that re-plans 100 EVs in under 100 ms</a:t>
            </a:r>
            <a:endParaRPr lang="en-US" sz="2600" dirty="0"/>
          </a:p>
        </p:txBody>
      </p:sp>
      <p:sp>
        <p:nvSpPr>
          <p:cNvPr id="4" name="Text 1"/>
          <p:cNvSpPr/>
          <p:nvPr>
            <p:ph idx="104" type="body" hasCustomPrompt="1"/>
          </p:nvPr>
        </p:nvSpPr>
        <p:spPr>
          <a:xfrm>
            <a:off x="548640" y="1188720"/>
            <a:ext cx="11091672" cy="310896"/>
          </a:xfrm>
          <a:prstGeom prst="rect">
            <a:avLst/>
          </a:prstGeom>
          <a:noFill/>
          <a:ln/>
        </p:spPr>
        <p:txBody>
          <a:bodyPr wrap="square" lIns="0" tIns="0" rIns="0" bIns="0" rtlCol="0" anchor="t"/>
          <a:lstStyle/>
          <a:p>
            <a:pPr indent="0" marL="0">
              <a:buNone/>
            </a:pPr>
            <a:r>
              <a:rPr lang="en-US" sz="1400" dirty="0">
                <a:solidFill>
                  <a:srgbClr val="525252"/>
                </a:solidFill>
              </a:rPr>
              <a:t>React, FastAPI, PostgreSQL 16 and OCPP 1.6-J in three Docker containers, around one deterministic decision core.</a:t>
            </a:r>
            <a:endParaRPr lang="en-US" sz="1400" dirty="0"/>
          </a:p>
        </p:txBody>
      </p:sp>
      <p:sp>
        <p:nvSpPr>
          <p:cNvPr id="5" name="Text 3"/>
          <p:cNvSpPr txBox="1"/>
          <p:nvPr/>
        </p:nvSpPr>
        <p:spPr>
          <a:xfrm>
            <a:off x="548640" y="1783080"/>
            <a:ext cx="18288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USERS · 6 ROLES</a:t>
            </a:r>
            <a:endParaRPr lang="en-US" sz="1000" dirty="0"/>
          </a:p>
        </p:txBody>
      </p:sp>
      <p:sp>
        <p:nvSpPr>
          <p:cNvPr id="6" name="Shape 4"/>
          <p:cNvSpPr/>
          <p:nvPr/>
        </p:nvSpPr>
        <p:spPr>
          <a:xfrm>
            <a:off x="548640" y="2075688"/>
            <a:ext cx="1828800" cy="2724912"/>
          </a:xfrm>
          <a:prstGeom prst="roundRect">
            <a:avLst>
              <a:gd name="adj" fmla="val 4000"/>
            </a:avLst>
          </a:prstGeom>
          <a:solidFill>
            <a:srgbClr val="F2F4F8"/>
          </a:solidFill>
          <a:ln/>
        </p:spPr>
      </p:sp>
      <p:sp>
        <p:nvSpPr>
          <p:cNvPr id="7" name="Text 5"/>
          <p:cNvSpPr txBox="1"/>
          <p:nvPr/>
        </p:nvSpPr>
        <p:spPr>
          <a:xfrm>
            <a:off x="2862072" y="1783080"/>
            <a:ext cx="18288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EXPERIENCE</a:t>
            </a:r>
            <a:endParaRPr lang="en-US" sz="1000" dirty="0"/>
          </a:p>
        </p:txBody>
      </p:sp>
      <p:sp>
        <p:nvSpPr>
          <p:cNvPr id="8" name="Shape 6"/>
          <p:cNvSpPr/>
          <p:nvPr/>
        </p:nvSpPr>
        <p:spPr>
          <a:xfrm>
            <a:off x="2862072" y="2075688"/>
            <a:ext cx="1828800" cy="2724912"/>
          </a:xfrm>
          <a:prstGeom prst="roundRect">
            <a:avLst>
              <a:gd name="adj" fmla="val 4000"/>
            </a:avLst>
          </a:prstGeom>
          <a:solidFill>
            <a:srgbClr val="F2F4F8"/>
          </a:solidFill>
          <a:ln/>
        </p:spPr>
      </p:sp>
      <p:sp>
        <p:nvSpPr>
          <p:cNvPr id="9" name="Text 7"/>
          <p:cNvSpPr txBox="1"/>
          <p:nvPr/>
        </p:nvSpPr>
        <p:spPr>
          <a:xfrm>
            <a:off x="5175504" y="1783080"/>
            <a:ext cx="18288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API &amp; SECURITY</a:t>
            </a:r>
            <a:endParaRPr lang="en-US" sz="1000" dirty="0"/>
          </a:p>
        </p:txBody>
      </p:sp>
      <p:sp>
        <p:nvSpPr>
          <p:cNvPr id="10" name="Shape 8"/>
          <p:cNvSpPr/>
          <p:nvPr/>
        </p:nvSpPr>
        <p:spPr>
          <a:xfrm>
            <a:off x="5175504" y="2075688"/>
            <a:ext cx="1828800" cy="2724912"/>
          </a:xfrm>
          <a:prstGeom prst="roundRect">
            <a:avLst>
              <a:gd name="adj" fmla="val 4000"/>
            </a:avLst>
          </a:prstGeom>
          <a:solidFill>
            <a:srgbClr val="F2F4F8"/>
          </a:solidFill>
          <a:ln/>
        </p:spPr>
      </p:sp>
      <p:sp>
        <p:nvSpPr>
          <p:cNvPr id="11" name="Text 9"/>
          <p:cNvSpPr txBox="1"/>
          <p:nvPr/>
        </p:nvSpPr>
        <p:spPr>
          <a:xfrm>
            <a:off x="7488936" y="1783080"/>
            <a:ext cx="1828800" cy="201168"/>
          </a:xfrm>
          <a:prstGeom prst="rect">
            <a:avLst/>
          </a:prstGeom>
          <a:noFill/>
          <a:ln/>
        </p:spPr>
        <p:txBody>
          <a:bodyPr wrap="square" lIns="0" tIns="0" rIns="0" bIns="0" rtlCol="0" anchor="t"/>
          <a:lstStyle/>
          <a:p>
            <a:pPr indent="0" marL="0">
              <a:buNone/>
            </a:pPr>
            <a:r>
              <a:rPr lang="en-US" sz="1000" spc="150" kern="0" dirty="0">
                <a:solidFill>
                  <a:srgbClr val="0F62FE"/>
                </a:solidFill>
                <a:latin typeface="Consolas" pitchFamily="34" charset="0"/>
                <a:ea typeface="Consolas" pitchFamily="34" charset="-122"/>
                <a:cs typeface="Consolas" pitchFamily="34" charset="-120"/>
              </a:rPr>
              <a:t>DECISION CORE</a:t>
            </a:r>
            <a:endParaRPr lang="en-US" sz="1000" dirty="0"/>
          </a:p>
        </p:txBody>
      </p:sp>
      <p:sp>
        <p:nvSpPr>
          <p:cNvPr id="12" name="Shape 10"/>
          <p:cNvSpPr/>
          <p:nvPr/>
        </p:nvSpPr>
        <p:spPr>
          <a:xfrm>
            <a:off x="7488936" y="2075688"/>
            <a:ext cx="1828800" cy="2724912"/>
          </a:xfrm>
          <a:prstGeom prst="roundRect">
            <a:avLst>
              <a:gd name="adj" fmla="val 4000"/>
            </a:avLst>
          </a:prstGeom>
          <a:solidFill>
            <a:srgbClr val="F2F4F8"/>
          </a:solidFill>
          <a:ln/>
        </p:spPr>
      </p:sp>
      <p:sp>
        <p:nvSpPr>
          <p:cNvPr id="13" name="Text 11"/>
          <p:cNvSpPr txBox="1"/>
          <p:nvPr/>
        </p:nvSpPr>
        <p:spPr>
          <a:xfrm>
            <a:off x="9802368" y="1783080"/>
            <a:ext cx="18288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INTEGRATIONS</a:t>
            </a:r>
            <a:endParaRPr lang="en-US" sz="1000" dirty="0"/>
          </a:p>
        </p:txBody>
      </p:sp>
      <p:sp>
        <p:nvSpPr>
          <p:cNvPr id="14" name="Shape 12"/>
          <p:cNvSpPr/>
          <p:nvPr/>
        </p:nvSpPr>
        <p:spPr>
          <a:xfrm>
            <a:off x="9802368" y="2075688"/>
            <a:ext cx="1828800" cy="2724912"/>
          </a:xfrm>
          <a:prstGeom prst="roundRect">
            <a:avLst>
              <a:gd name="adj" fmla="val 4000"/>
            </a:avLst>
          </a:prstGeom>
          <a:solidFill>
            <a:srgbClr val="F2F4F8"/>
          </a:solidFill>
          <a:ln/>
        </p:spPr>
      </p:sp>
      <p:sp>
        <p:nvSpPr>
          <p:cNvPr id="15" name="Shape 13"/>
          <p:cNvSpPr/>
          <p:nvPr/>
        </p:nvSpPr>
        <p:spPr>
          <a:xfrm>
            <a:off x="2423160" y="3246120"/>
            <a:ext cx="393192" cy="0"/>
          </a:xfrm>
          <a:prstGeom prst="line">
            <a:avLst/>
          </a:prstGeom>
          <a:noFill/>
          <a:ln w="19050">
            <a:solidFill>
              <a:srgbClr val="0F62FE"/>
            </a:solidFill>
            <a:prstDash val="solid"/>
            <a:headEnd type="triangle"/>
            <a:tailEnd type="triangle"/>
          </a:ln>
        </p:spPr>
      </p:sp>
      <p:sp>
        <p:nvSpPr>
          <p:cNvPr id="16" name="Text 14"/>
          <p:cNvSpPr txBox="1"/>
          <p:nvPr/>
        </p:nvSpPr>
        <p:spPr>
          <a:xfrm>
            <a:off x="2313432" y="2962656"/>
            <a:ext cx="612648" cy="201168"/>
          </a:xfrm>
          <a:prstGeom prst="rect">
            <a:avLst/>
          </a:prstGeom>
          <a:noFill/>
          <a:ln/>
        </p:spPr>
        <p:txBody>
          <a:bodyPr wrap="square" lIns="0" tIns="0" rIns="0" bIns="0" rtlCol="0" anchor="t"/>
          <a:lstStyle/>
          <a:p>
            <a:pPr algn="ctr" indent="0" marL="0">
              <a:buNone/>
            </a:pPr>
            <a:r>
              <a:rPr lang="en-US" sz="850" dirty="0">
                <a:solidFill>
                  <a:srgbClr val="0043CE"/>
                </a:solidFill>
                <a:latin typeface="Consolas" pitchFamily="34" charset="0"/>
                <a:ea typeface="Consolas" pitchFamily="34" charset="-122"/>
                <a:cs typeface="Consolas" pitchFamily="34" charset="-120"/>
              </a:rPr>
              <a:t>HTTPS</a:t>
            </a:r>
            <a:endParaRPr lang="en-US" sz="850" dirty="0"/>
          </a:p>
        </p:txBody>
      </p:sp>
      <p:sp>
        <p:nvSpPr>
          <p:cNvPr id="17" name="Shape 15"/>
          <p:cNvSpPr/>
          <p:nvPr/>
        </p:nvSpPr>
        <p:spPr>
          <a:xfrm>
            <a:off x="4736592" y="3246120"/>
            <a:ext cx="393192" cy="0"/>
          </a:xfrm>
          <a:prstGeom prst="line">
            <a:avLst/>
          </a:prstGeom>
          <a:noFill/>
          <a:ln w="19050">
            <a:solidFill>
              <a:srgbClr val="0F62FE"/>
            </a:solidFill>
            <a:prstDash val="solid"/>
            <a:headEnd type="triangle"/>
            <a:tailEnd type="triangle"/>
          </a:ln>
        </p:spPr>
      </p:sp>
      <p:sp>
        <p:nvSpPr>
          <p:cNvPr id="18" name="Text 16"/>
          <p:cNvSpPr txBox="1"/>
          <p:nvPr/>
        </p:nvSpPr>
        <p:spPr>
          <a:xfrm>
            <a:off x="4626864" y="2962656"/>
            <a:ext cx="612648" cy="201168"/>
          </a:xfrm>
          <a:prstGeom prst="rect">
            <a:avLst/>
          </a:prstGeom>
          <a:noFill/>
          <a:ln/>
        </p:spPr>
        <p:txBody>
          <a:bodyPr wrap="square" lIns="0" tIns="0" rIns="0" bIns="0" rtlCol="0" anchor="t"/>
          <a:lstStyle/>
          <a:p>
            <a:pPr algn="ctr" indent="0" marL="0">
              <a:buNone/>
            </a:pPr>
            <a:r>
              <a:rPr lang="en-US" sz="850" dirty="0">
                <a:solidFill>
                  <a:srgbClr val="0043CE"/>
                </a:solidFill>
                <a:latin typeface="Consolas" pitchFamily="34" charset="0"/>
                <a:ea typeface="Consolas" pitchFamily="34" charset="-122"/>
                <a:cs typeface="Consolas" pitchFamily="34" charset="-120"/>
              </a:rPr>
              <a:t>REST · WS</a:t>
            </a:r>
            <a:endParaRPr lang="en-US" sz="850" dirty="0"/>
          </a:p>
        </p:txBody>
      </p:sp>
      <p:sp>
        <p:nvSpPr>
          <p:cNvPr id="19" name="Shape 17"/>
          <p:cNvSpPr/>
          <p:nvPr/>
        </p:nvSpPr>
        <p:spPr>
          <a:xfrm>
            <a:off x="7050024" y="3246120"/>
            <a:ext cx="393192" cy="0"/>
          </a:xfrm>
          <a:prstGeom prst="line">
            <a:avLst/>
          </a:prstGeom>
          <a:noFill/>
          <a:ln w="19050">
            <a:solidFill>
              <a:srgbClr val="0F62FE"/>
            </a:solidFill>
            <a:prstDash val="solid"/>
            <a:headEnd type="triangle"/>
            <a:tailEnd type="triangle"/>
          </a:ln>
        </p:spPr>
      </p:sp>
      <p:sp>
        <p:nvSpPr>
          <p:cNvPr id="20" name="Text 18"/>
          <p:cNvSpPr txBox="1"/>
          <p:nvPr/>
        </p:nvSpPr>
        <p:spPr>
          <a:xfrm>
            <a:off x="6940296" y="2962656"/>
            <a:ext cx="612648" cy="201168"/>
          </a:xfrm>
          <a:prstGeom prst="rect">
            <a:avLst/>
          </a:prstGeom>
          <a:noFill/>
          <a:ln/>
        </p:spPr>
        <p:txBody>
          <a:bodyPr wrap="square" lIns="0" tIns="0" rIns="0" bIns="0" rtlCol="0" anchor="t"/>
          <a:lstStyle/>
          <a:p>
            <a:pPr algn="ctr" indent="0" marL="0">
              <a:buNone/>
            </a:pPr>
            <a:r>
              <a:rPr lang="en-US" sz="850" dirty="0">
                <a:solidFill>
                  <a:srgbClr val="0043CE"/>
                </a:solidFill>
                <a:latin typeface="Consolas" pitchFamily="34" charset="0"/>
                <a:ea typeface="Consolas" pitchFamily="34" charset="-122"/>
                <a:cs typeface="Consolas" pitchFamily="34" charset="-120"/>
              </a:rPr>
              <a:t>calls</a:t>
            </a:r>
            <a:endParaRPr lang="en-US" sz="850" dirty="0"/>
          </a:p>
        </p:txBody>
      </p:sp>
      <p:sp>
        <p:nvSpPr>
          <p:cNvPr id="21" name="Shape 19"/>
          <p:cNvSpPr/>
          <p:nvPr/>
        </p:nvSpPr>
        <p:spPr>
          <a:xfrm>
            <a:off x="9363456" y="3246120"/>
            <a:ext cx="393192" cy="0"/>
          </a:xfrm>
          <a:prstGeom prst="line">
            <a:avLst/>
          </a:prstGeom>
          <a:noFill/>
          <a:ln w="19050">
            <a:solidFill>
              <a:srgbClr val="0F62FE"/>
            </a:solidFill>
            <a:prstDash val="solid"/>
            <a:headEnd type="triangle"/>
            <a:tailEnd type="triangle"/>
          </a:ln>
        </p:spPr>
      </p:sp>
      <p:sp>
        <p:nvSpPr>
          <p:cNvPr id="22" name="Text 20"/>
          <p:cNvSpPr txBox="1"/>
          <p:nvPr/>
        </p:nvSpPr>
        <p:spPr>
          <a:xfrm>
            <a:off x="9253728" y="2962656"/>
            <a:ext cx="612648" cy="201168"/>
          </a:xfrm>
          <a:prstGeom prst="rect">
            <a:avLst/>
          </a:prstGeom>
          <a:noFill/>
          <a:ln/>
        </p:spPr>
        <p:txBody>
          <a:bodyPr wrap="square" lIns="0" tIns="0" rIns="0" bIns="0" rtlCol="0" anchor="t"/>
          <a:lstStyle/>
          <a:p>
            <a:pPr algn="ctr" indent="0" marL="0">
              <a:buNone/>
            </a:pPr>
            <a:r>
              <a:rPr lang="en-US" sz="850" dirty="0">
                <a:solidFill>
                  <a:srgbClr val="0043CE"/>
                </a:solidFill>
                <a:latin typeface="Consolas" pitchFamily="34" charset="0"/>
                <a:ea typeface="Consolas" pitchFamily="34" charset="-122"/>
                <a:cs typeface="Consolas" pitchFamily="34" charset="-120"/>
              </a:rPr>
              <a:t>OCPP · API</a:t>
            </a:r>
            <a:endParaRPr lang="en-US" sz="850" dirty="0"/>
          </a:p>
        </p:txBody>
      </p:sp>
      <p:sp>
        <p:nvSpPr>
          <p:cNvPr id="23" name="Shape 21"/>
          <p:cNvSpPr/>
          <p:nvPr/>
        </p:nvSpPr>
        <p:spPr>
          <a:xfrm>
            <a:off x="676656" y="2203704"/>
            <a:ext cx="1572768" cy="347472"/>
          </a:xfrm>
          <a:prstGeom prst="roundRect">
            <a:avLst>
              <a:gd name="adj" fmla="val 15789"/>
            </a:avLst>
          </a:prstGeom>
          <a:solidFill>
            <a:srgbClr val="FFFFFF"/>
          </a:solidFill>
          <a:ln/>
        </p:spPr>
      </p:sp>
      <p:pic>
        <p:nvPicPr>
          <p:cNvPr id="24" name="Image 0" descr="preencoded.png">    </p:cNvPr>
          <p:cNvPicPr>
            <a:picLocks noChangeAspect="1"/>
          </p:cNvPicPr>
          <p:nvPr/>
        </p:nvPicPr>
        <p:blipFill>
          <a:blip r:embed="rId1"/>
          <a:stretch>
            <a:fillRect/>
          </a:stretch>
        </p:blipFill>
        <p:spPr>
          <a:xfrm>
            <a:off x="768096" y="2276856"/>
            <a:ext cx="201168" cy="201168"/>
          </a:xfrm>
          <a:prstGeom prst="rect">
            <a:avLst/>
          </a:prstGeom>
        </p:spPr>
      </p:pic>
      <p:sp>
        <p:nvSpPr>
          <p:cNvPr id="25" name="Text 22"/>
          <p:cNvSpPr txBox="1"/>
          <p:nvPr/>
        </p:nvSpPr>
        <p:spPr>
          <a:xfrm>
            <a:off x="1042416" y="2203704"/>
            <a:ext cx="1188720" cy="347472"/>
          </a:xfrm>
          <a:prstGeom prst="rect">
            <a:avLst/>
          </a:prstGeom>
          <a:noFill/>
          <a:ln/>
        </p:spPr>
        <p:txBody>
          <a:bodyPr wrap="square" lIns="0" tIns="0" rIns="0" bIns="0" rtlCol="0" anchor="ctr"/>
          <a:lstStyle/>
          <a:p>
            <a:pPr indent="0" marL="0">
              <a:buNone/>
            </a:pPr>
            <a:r>
              <a:rPr lang="en-US" sz="1050" dirty="0">
                <a:solidFill>
                  <a:srgbClr val="161616"/>
                </a:solidFill>
              </a:rPr>
              <a:t>Fleet admin</a:t>
            </a:r>
            <a:endParaRPr lang="en-US" sz="1050" dirty="0"/>
          </a:p>
        </p:txBody>
      </p:sp>
      <p:sp>
        <p:nvSpPr>
          <p:cNvPr id="26" name="Shape 23"/>
          <p:cNvSpPr/>
          <p:nvPr/>
        </p:nvSpPr>
        <p:spPr>
          <a:xfrm>
            <a:off x="676656" y="2624328"/>
            <a:ext cx="1572768" cy="347472"/>
          </a:xfrm>
          <a:prstGeom prst="roundRect">
            <a:avLst>
              <a:gd name="adj" fmla="val 15789"/>
            </a:avLst>
          </a:prstGeom>
          <a:solidFill>
            <a:srgbClr val="FFFFFF"/>
          </a:solidFill>
          <a:ln/>
        </p:spPr>
      </p:sp>
      <p:pic>
        <p:nvPicPr>
          <p:cNvPr id="27" name="Image 1" descr="preencoded.png">    </p:cNvPr>
          <p:cNvPicPr>
            <a:picLocks noChangeAspect="1"/>
          </p:cNvPicPr>
          <p:nvPr/>
        </p:nvPicPr>
        <p:blipFill>
          <a:blip r:embed="rId2"/>
          <a:stretch>
            <a:fillRect/>
          </a:stretch>
        </p:blipFill>
        <p:spPr>
          <a:xfrm>
            <a:off x="768096" y="2697480"/>
            <a:ext cx="201168" cy="201168"/>
          </a:xfrm>
          <a:prstGeom prst="rect">
            <a:avLst/>
          </a:prstGeom>
        </p:spPr>
      </p:pic>
      <p:sp>
        <p:nvSpPr>
          <p:cNvPr id="28" name="Text 24"/>
          <p:cNvSpPr txBox="1"/>
          <p:nvPr/>
        </p:nvSpPr>
        <p:spPr>
          <a:xfrm>
            <a:off x="1042416" y="2624328"/>
            <a:ext cx="1188720" cy="347472"/>
          </a:xfrm>
          <a:prstGeom prst="rect">
            <a:avLst/>
          </a:prstGeom>
          <a:noFill/>
          <a:ln/>
        </p:spPr>
        <p:txBody>
          <a:bodyPr wrap="square" lIns="0" tIns="0" rIns="0" bIns="0" rtlCol="0" anchor="ctr"/>
          <a:lstStyle/>
          <a:p>
            <a:pPr indent="0" marL="0">
              <a:buNone/>
            </a:pPr>
            <a:r>
              <a:rPr lang="en-US" sz="1050" dirty="0">
                <a:solidFill>
                  <a:srgbClr val="161616"/>
                </a:solidFill>
              </a:rPr>
              <a:t>Fleet manager</a:t>
            </a:r>
            <a:endParaRPr lang="en-US" sz="1050" dirty="0"/>
          </a:p>
        </p:txBody>
      </p:sp>
      <p:sp>
        <p:nvSpPr>
          <p:cNvPr id="29" name="Shape 25"/>
          <p:cNvSpPr/>
          <p:nvPr/>
        </p:nvSpPr>
        <p:spPr>
          <a:xfrm>
            <a:off x="676656" y="3044952"/>
            <a:ext cx="1572768" cy="347472"/>
          </a:xfrm>
          <a:prstGeom prst="roundRect">
            <a:avLst>
              <a:gd name="adj" fmla="val 15789"/>
            </a:avLst>
          </a:prstGeom>
          <a:solidFill>
            <a:srgbClr val="FFFFFF"/>
          </a:solidFill>
          <a:ln/>
        </p:spPr>
      </p:sp>
      <p:pic>
        <p:nvPicPr>
          <p:cNvPr id="30" name="Image 2" descr="preencoded.png">    </p:cNvPr>
          <p:cNvPicPr>
            <a:picLocks noChangeAspect="1"/>
          </p:cNvPicPr>
          <p:nvPr/>
        </p:nvPicPr>
        <p:blipFill>
          <a:blip r:embed="rId3"/>
          <a:stretch>
            <a:fillRect/>
          </a:stretch>
        </p:blipFill>
        <p:spPr>
          <a:xfrm>
            <a:off x="768096" y="3118104"/>
            <a:ext cx="201168" cy="201168"/>
          </a:xfrm>
          <a:prstGeom prst="rect">
            <a:avLst/>
          </a:prstGeom>
        </p:spPr>
      </p:pic>
      <p:sp>
        <p:nvSpPr>
          <p:cNvPr id="31" name="Text 26"/>
          <p:cNvSpPr txBox="1"/>
          <p:nvPr/>
        </p:nvSpPr>
        <p:spPr>
          <a:xfrm>
            <a:off x="1042416" y="3044952"/>
            <a:ext cx="1188720" cy="347472"/>
          </a:xfrm>
          <a:prstGeom prst="rect">
            <a:avLst/>
          </a:prstGeom>
          <a:noFill/>
          <a:ln/>
        </p:spPr>
        <p:txBody>
          <a:bodyPr wrap="square" lIns="0" tIns="0" rIns="0" bIns="0" rtlCol="0" anchor="ctr"/>
          <a:lstStyle/>
          <a:p>
            <a:pPr indent="0" marL="0">
              <a:buNone/>
            </a:pPr>
            <a:r>
              <a:rPr lang="en-US" sz="1050" dirty="0">
                <a:solidFill>
                  <a:srgbClr val="161616"/>
                </a:solidFill>
              </a:rPr>
              <a:t>Ops manager</a:t>
            </a:r>
            <a:endParaRPr lang="en-US" sz="1050" dirty="0"/>
          </a:p>
        </p:txBody>
      </p:sp>
      <p:sp>
        <p:nvSpPr>
          <p:cNvPr id="32" name="Shape 27"/>
          <p:cNvSpPr/>
          <p:nvPr/>
        </p:nvSpPr>
        <p:spPr>
          <a:xfrm>
            <a:off x="676656" y="3465576"/>
            <a:ext cx="1572768" cy="347472"/>
          </a:xfrm>
          <a:prstGeom prst="roundRect">
            <a:avLst>
              <a:gd name="adj" fmla="val 15789"/>
            </a:avLst>
          </a:prstGeom>
          <a:solidFill>
            <a:srgbClr val="FFFFFF"/>
          </a:solidFill>
          <a:ln/>
        </p:spPr>
      </p:sp>
      <p:pic>
        <p:nvPicPr>
          <p:cNvPr id="33" name="Image 3" descr="preencoded.png">    </p:cNvPr>
          <p:cNvPicPr>
            <a:picLocks noChangeAspect="1"/>
          </p:cNvPicPr>
          <p:nvPr/>
        </p:nvPicPr>
        <p:blipFill>
          <a:blip r:embed="rId4"/>
          <a:stretch>
            <a:fillRect/>
          </a:stretch>
        </p:blipFill>
        <p:spPr>
          <a:xfrm>
            <a:off x="768096" y="3538728"/>
            <a:ext cx="201168" cy="201168"/>
          </a:xfrm>
          <a:prstGeom prst="rect">
            <a:avLst/>
          </a:prstGeom>
        </p:spPr>
      </p:pic>
      <p:sp>
        <p:nvSpPr>
          <p:cNvPr id="34" name="Text 28"/>
          <p:cNvSpPr txBox="1"/>
          <p:nvPr/>
        </p:nvSpPr>
        <p:spPr>
          <a:xfrm>
            <a:off x="1042416" y="3465576"/>
            <a:ext cx="1188720" cy="347472"/>
          </a:xfrm>
          <a:prstGeom prst="rect">
            <a:avLst/>
          </a:prstGeom>
          <a:noFill/>
          <a:ln/>
        </p:spPr>
        <p:txBody>
          <a:bodyPr wrap="square" lIns="0" tIns="0" rIns="0" bIns="0" rtlCol="0" anchor="ctr"/>
          <a:lstStyle/>
          <a:p>
            <a:pPr indent="0" marL="0">
              <a:buNone/>
            </a:pPr>
            <a:r>
              <a:rPr lang="en-US" sz="1050" dirty="0">
                <a:solidFill>
                  <a:srgbClr val="161616"/>
                </a:solidFill>
              </a:rPr>
              <a:t>Charging operator</a:t>
            </a:r>
            <a:endParaRPr lang="en-US" sz="1050" dirty="0"/>
          </a:p>
        </p:txBody>
      </p:sp>
      <p:sp>
        <p:nvSpPr>
          <p:cNvPr id="35" name="Shape 29"/>
          <p:cNvSpPr/>
          <p:nvPr/>
        </p:nvSpPr>
        <p:spPr>
          <a:xfrm>
            <a:off x="676656" y="3886200"/>
            <a:ext cx="1572768" cy="347472"/>
          </a:xfrm>
          <a:prstGeom prst="roundRect">
            <a:avLst>
              <a:gd name="adj" fmla="val 15789"/>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768096" y="3959352"/>
            <a:ext cx="201168" cy="201168"/>
          </a:xfrm>
          <a:prstGeom prst="rect">
            <a:avLst/>
          </a:prstGeom>
        </p:spPr>
      </p:pic>
      <p:sp>
        <p:nvSpPr>
          <p:cNvPr id="37" name="Text 30"/>
          <p:cNvSpPr txBox="1"/>
          <p:nvPr/>
        </p:nvSpPr>
        <p:spPr>
          <a:xfrm>
            <a:off x="1042416" y="3886200"/>
            <a:ext cx="1188720" cy="347472"/>
          </a:xfrm>
          <a:prstGeom prst="rect">
            <a:avLst/>
          </a:prstGeom>
          <a:noFill/>
          <a:ln/>
        </p:spPr>
        <p:txBody>
          <a:bodyPr wrap="square" lIns="0" tIns="0" rIns="0" bIns="0" rtlCol="0" anchor="ctr"/>
          <a:lstStyle/>
          <a:p>
            <a:pPr indent="0" marL="0">
              <a:buNone/>
            </a:pPr>
            <a:r>
              <a:rPr lang="en-US" sz="1050" dirty="0">
                <a:solidFill>
                  <a:srgbClr val="161616"/>
                </a:solidFill>
              </a:rPr>
              <a:t>Driver</a:t>
            </a:r>
            <a:endParaRPr lang="en-US" sz="1050" dirty="0"/>
          </a:p>
        </p:txBody>
      </p:sp>
      <p:sp>
        <p:nvSpPr>
          <p:cNvPr id="38" name="Shape 31"/>
          <p:cNvSpPr/>
          <p:nvPr/>
        </p:nvSpPr>
        <p:spPr>
          <a:xfrm>
            <a:off x="676656" y="4306824"/>
            <a:ext cx="1572768" cy="347472"/>
          </a:xfrm>
          <a:prstGeom prst="roundRect">
            <a:avLst>
              <a:gd name="adj" fmla="val 15789"/>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768096" y="4379976"/>
            <a:ext cx="201168" cy="201168"/>
          </a:xfrm>
          <a:prstGeom prst="rect">
            <a:avLst/>
          </a:prstGeom>
        </p:spPr>
      </p:pic>
      <p:sp>
        <p:nvSpPr>
          <p:cNvPr id="40" name="Text 32"/>
          <p:cNvSpPr txBox="1"/>
          <p:nvPr/>
        </p:nvSpPr>
        <p:spPr>
          <a:xfrm>
            <a:off x="1042416" y="4306824"/>
            <a:ext cx="1188720" cy="347472"/>
          </a:xfrm>
          <a:prstGeom prst="rect">
            <a:avLst/>
          </a:prstGeom>
          <a:noFill/>
          <a:ln/>
        </p:spPr>
        <p:txBody>
          <a:bodyPr wrap="square" lIns="0" tIns="0" rIns="0" bIns="0" rtlCol="0" anchor="ctr"/>
          <a:lstStyle/>
          <a:p>
            <a:pPr indent="0" marL="0">
              <a:buNone/>
            </a:pPr>
            <a:r>
              <a:rPr lang="en-US" sz="1050" dirty="0">
                <a:solidFill>
                  <a:srgbClr val="161616"/>
                </a:solidFill>
              </a:rPr>
              <a:t>Viewer</a:t>
            </a:r>
            <a:endParaRPr lang="en-US" sz="1050" dirty="0"/>
          </a:p>
        </p:txBody>
      </p:sp>
      <p:sp>
        <p:nvSpPr>
          <p:cNvPr id="41" name="Shape 33"/>
          <p:cNvSpPr/>
          <p:nvPr/>
        </p:nvSpPr>
        <p:spPr>
          <a:xfrm>
            <a:off x="2990088" y="2203704"/>
            <a:ext cx="1572768" cy="1280160"/>
          </a:xfrm>
          <a:prstGeom prst="roundRect">
            <a:avLst>
              <a:gd name="adj" fmla="val 5714"/>
            </a:avLst>
          </a:prstGeom>
          <a:solidFill>
            <a:srgbClr val="FFFFFF"/>
          </a:solidFill>
          <a:ln/>
          <a:effectLst>
            <a:outerShdw sx="100000" sy="100000" kx="0" ky="0" algn="bl" rotWithShape="0" blurRad="177800" dist="38100" dir="5400000">
              <a:srgbClr val="0A1E4A">
                <a:alpha val="6000"/>
              </a:srgbClr>
            </a:outerShdw>
          </a:effectLst>
        </p:spPr>
      </p:sp>
      <p:pic>
        <p:nvPicPr>
          <p:cNvPr id="42" name="Image 6" descr="preencoded.png">    </p:cNvPr>
          <p:cNvPicPr>
            <a:picLocks noChangeAspect="1"/>
          </p:cNvPicPr>
          <p:nvPr/>
        </p:nvPicPr>
        <p:blipFill>
          <a:blip r:embed="rId7"/>
          <a:stretch>
            <a:fillRect/>
          </a:stretch>
        </p:blipFill>
        <p:spPr>
          <a:xfrm>
            <a:off x="3099816" y="2313432"/>
            <a:ext cx="256032" cy="256032"/>
          </a:xfrm>
          <a:prstGeom prst="rect">
            <a:avLst/>
          </a:prstGeom>
        </p:spPr>
      </p:pic>
      <p:sp>
        <p:nvSpPr>
          <p:cNvPr id="43" name="Text 34"/>
          <p:cNvSpPr txBox="1"/>
          <p:nvPr/>
        </p:nvSpPr>
        <p:spPr>
          <a:xfrm>
            <a:off x="3429000" y="2295144"/>
            <a:ext cx="1060704" cy="274320"/>
          </a:xfrm>
          <a:prstGeom prst="rect">
            <a:avLst/>
          </a:prstGeom>
          <a:noFill/>
          <a:ln/>
        </p:spPr>
        <p:txBody>
          <a:bodyPr wrap="square" lIns="0" tIns="0" rIns="0" bIns="0" rtlCol="0" anchor="ctr"/>
          <a:lstStyle/>
          <a:p>
            <a:pPr indent="0" marL="0">
              <a:buNone/>
            </a:pPr>
            <a:r>
              <a:rPr lang="en-US" sz="1150" dirty="0">
                <a:solidFill>
                  <a:srgbClr val="161616"/>
                </a:solidFill>
                <a:latin typeface="+mj-lt" pitchFamily="34" charset="0"/>
                <a:ea typeface="+mj-lt" pitchFamily="34" charset="-122"/>
                <a:cs typeface="+mj-lt" pitchFamily="34" charset="-120"/>
              </a:rPr>
              <a:t>React 18 SPA</a:t>
            </a:r>
            <a:endParaRPr lang="en-US" sz="1150" dirty="0"/>
          </a:p>
        </p:txBody>
      </p:sp>
      <p:sp>
        <p:nvSpPr>
          <p:cNvPr id="44" name="Text 35"/>
          <p:cNvSpPr txBox="1"/>
          <p:nvPr/>
        </p:nvSpPr>
        <p:spPr>
          <a:xfrm>
            <a:off x="3099816" y="2642616"/>
            <a:ext cx="1353312" cy="786384"/>
          </a:xfrm>
          <a:prstGeom prst="rect">
            <a:avLst/>
          </a:prstGeom>
          <a:noFill/>
          <a:ln/>
        </p:spPr>
        <p:txBody>
          <a:bodyPr wrap="square" lIns="0" tIns="0" rIns="0" bIns="0" rtlCol="0" anchor="t"/>
          <a:lstStyle/>
          <a:p>
            <a:pPr indent="0" marL="0">
              <a:lnSpc>
                <a:spcPct val="105000"/>
              </a:lnSpc>
              <a:buNone/>
            </a:pPr>
            <a:r>
              <a:rPr lang="en-US" sz="1000" dirty="0">
                <a:solidFill>
                  <a:srgbClr val="525252"/>
                </a:solidFill>
              </a:rPr>
              <a:t>TypeScript · Vite</a:t>
            </a:r>
            <a:endParaRPr lang="en-US" sz="1000" dirty="0"/>
          </a:p>
          <a:p>
            <a:pPr indent="0" marL="0">
              <a:lnSpc>
                <a:spcPct val="105000"/>
              </a:lnSpc>
              <a:buNone/>
            </a:pPr>
            <a:r>
              <a:rPr lang="en-US" sz="1000" dirty="0">
                <a:solidFill>
                  <a:srgbClr val="525252"/>
                </a:solidFill>
              </a:rPr>
              <a:t>Tailwind · Recharts</a:t>
            </a:r>
            <a:endParaRPr lang="en-US" sz="1000" dirty="0"/>
          </a:p>
          <a:p>
            <a:pPr indent="0" marL="0">
              <a:lnSpc>
                <a:spcPct val="105000"/>
              </a:lnSpc>
              <a:buNone/>
            </a:pPr>
            <a:r>
              <a:rPr lang="en-US" sz="1000" dirty="0">
                <a:solidFill>
                  <a:srgbClr val="525252"/>
                </a:solidFill>
              </a:rPr>
              <a:t>TanStack · Leaflet</a:t>
            </a:r>
            <a:endParaRPr lang="en-US" sz="1000" dirty="0"/>
          </a:p>
        </p:txBody>
      </p:sp>
      <p:sp>
        <p:nvSpPr>
          <p:cNvPr id="45" name="Shape 36"/>
          <p:cNvSpPr/>
          <p:nvPr/>
        </p:nvSpPr>
        <p:spPr>
          <a:xfrm>
            <a:off x="2990088" y="3611880"/>
            <a:ext cx="1572768" cy="1060704"/>
          </a:xfrm>
          <a:prstGeom prst="roundRect">
            <a:avLst>
              <a:gd name="adj" fmla="val 6897"/>
            </a:avLst>
          </a:prstGeom>
          <a:solidFill>
            <a:srgbClr val="FFFFFF"/>
          </a:solidFill>
          <a:ln/>
          <a:effectLst>
            <a:outerShdw sx="100000" sy="100000" kx="0" ky="0" algn="bl" rotWithShape="0" blurRad="177800" dist="38100" dir="5400000">
              <a:srgbClr val="0A1E4A">
                <a:alpha val="6000"/>
              </a:srgbClr>
            </a:outerShdw>
          </a:effectLst>
        </p:spPr>
      </p:sp>
      <p:pic>
        <p:nvPicPr>
          <p:cNvPr id="46" name="Image 7" descr="preencoded.png">    </p:cNvPr>
          <p:cNvPicPr>
            <a:picLocks noChangeAspect="1"/>
          </p:cNvPicPr>
          <p:nvPr/>
        </p:nvPicPr>
        <p:blipFill>
          <a:blip r:embed="rId8"/>
          <a:stretch>
            <a:fillRect/>
          </a:stretch>
        </p:blipFill>
        <p:spPr>
          <a:xfrm>
            <a:off x="3099816" y="3721608"/>
            <a:ext cx="256032" cy="256032"/>
          </a:xfrm>
          <a:prstGeom prst="rect">
            <a:avLst/>
          </a:prstGeom>
        </p:spPr>
      </p:pic>
      <p:sp>
        <p:nvSpPr>
          <p:cNvPr id="47" name="Text 37"/>
          <p:cNvSpPr txBox="1"/>
          <p:nvPr/>
        </p:nvSpPr>
        <p:spPr>
          <a:xfrm>
            <a:off x="3429000" y="3703320"/>
            <a:ext cx="1060704" cy="274320"/>
          </a:xfrm>
          <a:prstGeom prst="rect">
            <a:avLst/>
          </a:prstGeom>
          <a:noFill/>
          <a:ln/>
        </p:spPr>
        <p:txBody>
          <a:bodyPr wrap="square" lIns="0" tIns="0" rIns="0" bIns="0" rtlCol="0" anchor="ctr"/>
          <a:lstStyle/>
          <a:p>
            <a:pPr indent="0" marL="0">
              <a:buNone/>
            </a:pPr>
            <a:r>
              <a:rPr lang="en-US" sz="1150" dirty="0">
                <a:solidFill>
                  <a:srgbClr val="161616"/>
                </a:solidFill>
                <a:latin typeface="+mj-lt" pitchFamily="34" charset="0"/>
                <a:ea typeface="+mj-lt" pitchFamily="34" charset="-122"/>
                <a:cs typeface="+mj-lt" pitchFamily="34" charset="-120"/>
              </a:rPr>
              <a:t>nginx gateway</a:t>
            </a:r>
            <a:endParaRPr lang="en-US" sz="1150" dirty="0"/>
          </a:p>
        </p:txBody>
      </p:sp>
      <p:sp>
        <p:nvSpPr>
          <p:cNvPr id="48" name="Text 38"/>
          <p:cNvSpPr txBox="1"/>
          <p:nvPr/>
        </p:nvSpPr>
        <p:spPr>
          <a:xfrm>
            <a:off x="3099816" y="4050792"/>
            <a:ext cx="1353312" cy="566928"/>
          </a:xfrm>
          <a:prstGeom prst="rect">
            <a:avLst/>
          </a:prstGeom>
          <a:noFill/>
          <a:ln/>
        </p:spPr>
        <p:txBody>
          <a:bodyPr wrap="square" lIns="0" tIns="0" rIns="0" bIns="0" rtlCol="0" anchor="t"/>
          <a:lstStyle/>
          <a:p>
            <a:pPr indent="0" marL="0">
              <a:lnSpc>
                <a:spcPct val="105000"/>
              </a:lnSpc>
              <a:buNone/>
            </a:pPr>
            <a:r>
              <a:rPr lang="en-US" sz="1000" dirty="0">
                <a:solidFill>
                  <a:srgbClr val="525252"/>
                </a:solidFill>
              </a:rPr>
              <a:t>TLS · static assets</a:t>
            </a:r>
            <a:endParaRPr lang="en-US" sz="1000" dirty="0"/>
          </a:p>
          <a:p>
            <a:pPr indent="0" marL="0">
              <a:lnSpc>
                <a:spcPct val="105000"/>
              </a:lnSpc>
              <a:buNone/>
            </a:pPr>
            <a:r>
              <a:rPr lang="en-US" sz="1000" dirty="0">
                <a:solidFill>
                  <a:srgbClr val="525252"/>
                </a:solidFill>
              </a:rPr>
              <a:t>/api proxy · /api/ws</a:t>
            </a:r>
            <a:endParaRPr lang="en-US" sz="1000" dirty="0"/>
          </a:p>
        </p:txBody>
      </p:sp>
      <p:sp>
        <p:nvSpPr>
          <p:cNvPr id="49" name="Shape 39"/>
          <p:cNvSpPr/>
          <p:nvPr/>
        </p:nvSpPr>
        <p:spPr>
          <a:xfrm>
            <a:off x="5303520" y="2203704"/>
            <a:ext cx="1572768" cy="1463040"/>
          </a:xfrm>
          <a:prstGeom prst="roundRect">
            <a:avLst>
              <a:gd name="adj" fmla="val 5000"/>
            </a:avLst>
          </a:prstGeom>
          <a:solidFill>
            <a:srgbClr val="FFFFFF"/>
          </a:solidFill>
          <a:ln/>
          <a:effectLst>
            <a:outerShdw sx="100000" sy="100000" kx="0" ky="0" algn="bl" rotWithShape="0" blurRad="177800" dist="38100" dir="5400000">
              <a:srgbClr val="0A1E4A">
                <a:alpha val="6000"/>
              </a:srgbClr>
            </a:outerShdw>
          </a:effectLst>
        </p:spPr>
      </p:sp>
      <p:pic>
        <p:nvPicPr>
          <p:cNvPr id="50" name="Image 8" descr="preencoded.png">    </p:cNvPr>
          <p:cNvPicPr>
            <a:picLocks noChangeAspect="1"/>
          </p:cNvPicPr>
          <p:nvPr/>
        </p:nvPicPr>
        <p:blipFill>
          <a:blip r:embed="rId9"/>
          <a:stretch>
            <a:fillRect/>
          </a:stretch>
        </p:blipFill>
        <p:spPr>
          <a:xfrm>
            <a:off x="5413248" y="2313432"/>
            <a:ext cx="256032" cy="256032"/>
          </a:xfrm>
          <a:prstGeom prst="rect">
            <a:avLst/>
          </a:prstGeom>
        </p:spPr>
      </p:pic>
      <p:sp>
        <p:nvSpPr>
          <p:cNvPr id="51" name="Text 40"/>
          <p:cNvSpPr txBox="1"/>
          <p:nvPr/>
        </p:nvSpPr>
        <p:spPr>
          <a:xfrm>
            <a:off x="5742432" y="2295144"/>
            <a:ext cx="1060704" cy="274320"/>
          </a:xfrm>
          <a:prstGeom prst="rect">
            <a:avLst/>
          </a:prstGeom>
          <a:noFill/>
          <a:ln/>
        </p:spPr>
        <p:txBody>
          <a:bodyPr wrap="square" lIns="0" tIns="0" rIns="0" bIns="0" rtlCol="0" anchor="ctr"/>
          <a:lstStyle/>
          <a:p>
            <a:pPr indent="0" marL="0">
              <a:buNone/>
            </a:pPr>
            <a:r>
              <a:rPr lang="en-US" sz="1150" dirty="0">
                <a:solidFill>
                  <a:srgbClr val="161616"/>
                </a:solidFill>
                <a:latin typeface="+mj-lt" pitchFamily="34" charset="0"/>
                <a:ea typeface="+mj-lt" pitchFamily="34" charset="-122"/>
                <a:cs typeface="+mj-lt" pitchFamily="34" charset="-120"/>
              </a:rPr>
              <a:t>FastAPI</a:t>
            </a:r>
            <a:endParaRPr lang="en-US" sz="1150" dirty="0"/>
          </a:p>
        </p:txBody>
      </p:sp>
      <p:sp>
        <p:nvSpPr>
          <p:cNvPr id="52" name="Text 41"/>
          <p:cNvSpPr txBox="1"/>
          <p:nvPr/>
        </p:nvSpPr>
        <p:spPr>
          <a:xfrm>
            <a:off x="5413248" y="2642616"/>
            <a:ext cx="1353312" cy="969264"/>
          </a:xfrm>
          <a:prstGeom prst="rect">
            <a:avLst/>
          </a:prstGeom>
          <a:noFill/>
          <a:ln/>
        </p:spPr>
        <p:txBody>
          <a:bodyPr wrap="square" lIns="0" tIns="0" rIns="0" bIns="0" rtlCol="0" anchor="t"/>
          <a:lstStyle/>
          <a:p>
            <a:pPr indent="0" marL="0">
              <a:lnSpc>
                <a:spcPct val="105000"/>
              </a:lnSpc>
              <a:buNone/>
            </a:pPr>
            <a:r>
              <a:rPr lang="en-US" sz="950" dirty="0">
                <a:solidFill>
                  <a:srgbClr val="525252"/>
                </a:solidFill>
                <a:latin typeface="Consolas" pitchFamily="34" charset="0"/>
                <a:ea typeface="Consolas" pitchFamily="34" charset="-122"/>
                <a:cs typeface="Consolas" pitchFamily="34" charset="-120"/>
              </a:rPr>
              <a:t>REST   /api/*</a:t>
            </a:r>
            <a:endParaRPr lang="en-US" sz="950" dirty="0"/>
          </a:p>
          <a:p>
            <a:pPr indent="0" marL="0">
              <a:lnSpc>
                <a:spcPct val="105000"/>
              </a:lnSpc>
              <a:buNone/>
            </a:pPr>
            <a:r>
              <a:rPr lang="en-US" sz="950" dirty="0">
                <a:solidFill>
                  <a:srgbClr val="525252"/>
                </a:solidFill>
                <a:latin typeface="Consolas" pitchFamily="34" charset="0"/>
                <a:ea typeface="Consolas" pitchFamily="34" charset="-122"/>
                <a:cs typeface="Consolas" pitchFamily="34" charset="-120"/>
              </a:rPr>
              <a:t>WS     /api/ws</a:t>
            </a:r>
            <a:endParaRPr lang="en-US" sz="950" dirty="0"/>
          </a:p>
          <a:p>
            <a:pPr indent="0" marL="0">
              <a:lnSpc>
                <a:spcPct val="105000"/>
              </a:lnSpc>
              <a:buNone/>
            </a:pPr>
            <a:r>
              <a:rPr lang="en-US" sz="950" dirty="0">
                <a:solidFill>
                  <a:srgbClr val="525252"/>
                </a:solidFill>
                <a:latin typeface="Consolas" pitchFamily="34" charset="0"/>
                <a:ea typeface="Consolas" pitchFamily="34" charset="-122"/>
                <a:cs typeface="Consolas" pitchFamily="34" charset="-120"/>
              </a:rPr>
              <a:t>OCPP   /api/ocpp</a:t>
            </a:r>
            <a:endParaRPr lang="en-US" sz="950" dirty="0"/>
          </a:p>
        </p:txBody>
      </p:sp>
      <p:sp>
        <p:nvSpPr>
          <p:cNvPr id="53" name="Shape 42"/>
          <p:cNvSpPr/>
          <p:nvPr/>
        </p:nvSpPr>
        <p:spPr>
          <a:xfrm>
            <a:off x="5303520" y="3794760"/>
            <a:ext cx="1572768" cy="877824"/>
          </a:xfrm>
          <a:prstGeom prst="roundRect">
            <a:avLst>
              <a:gd name="adj" fmla="val 8333"/>
            </a:avLst>
          </a:prstGeom>
          <a:solidFill>
            <a:srgbClr val="FFFFFF"/>
          </a:solidFill>
          <a:ln/>
          <a:effectLst>
            <a:outerShdw sx="100000" sy="100000" kx="0" ky="0" algn="bl" rotWithShape="0" blurRad="177800" dist="38100" dir="5400000">
              <a:srgbClr val="0A1E4A">
                <a:alpha val="6000"/>
              </a:srgbClr>
            </a:outerShdw>
          </a:effectLst>
        </p:spPr>
      </p:sp>
      <p:pic>
        <p:nvPicPr>
          <p:cNvPr id="54" name="Image 9" descr="preencoded.png">    </p:cNvPr>
          <p:cNvPicPr>
            <a:picLocks noChangeAspect="1"/>
          </p:cNvPicPr>
          <p:nvPr/>
        </p:nvPicPr>
        <p:blipFill>
          <a:blip r:embed="rId10"/>
          <a:stretch>
            <a:fillRect/>
          </a:stretch>
        </p:blipFill>
        <p:spPr>
          <a:xfrm>
            <a:off x="5413248" y="3904488"/>
            <a:ext cx="256032" cy="256032"/>
          </a:xfrm>
          <a:prstGeom prst="rect">
            <a:avLst/>
          </a:prstGeom>
        </p:spPr>
      </p:pic>
      <p:sp>
        <p:nvSpPr>
          <p:cNvPr id="55" name="Text 43"/>
          <p:cNvSpPr txBox="1"/>
          <p:nvPr/>
        </p:nvSpPr>
        <p:spPr>
          <a:xfrm>
            <a:off x="5742432" y="3886200"/>
            <a:ext cx="1060704" cy="274320"/>
          </a:xfrm>
          <a:prstGeom prst="rect">
            <a:avLst/>
          </a:prstGeom>
          <a:noFill/>
          <a:ln/>
        </p:spPr>
        <p:txBody>
          <a:bodyPr wrap="square" lIns="0" tIns="0" rIns="0" bIns="0" rtlCol="0" anchor="ctr"/>
          <a:lstStyle/>
          <a:p>
            <a:pPr indent="0" marL="0">
              <a:buNone/>
            </a:pPr>
            <a:r>
              <a:rPr lang="en-US" sz="1150" dirty="0">
                <a:solidFill>
                  <a:srgbClr val="161616"/>
                </a:solidFill>
                <a:latin typeface="+mj-lt" pitchFamily="34" charset="0"/>
                <a:ea typeface="+mj-lt" pitchFamily="34" charset="-122"/>
                <a:cs typeface="+mj-lt" pitchFamily="34" charset="-120"/>
              </a:rPr>
              <a:t>Auth &amp; RBAC</a:t>
            </a:r>
            <a:endParaRPr lang="en-US" sz="1150" dirty="0"/>
          </a:p>
        </p:txBody>
      </p:sp>
      <p:sp>
        <p:nvSpPr>
          <p:cNvPr id="56" name="Text 44"/>
          <p:cNvSpPr txBox="1"/>
          <p:nvPr/>
        </p:nvSpPr>
        <p:spPr>
          <a:xfrm>
            <a:off x="5413248" y="4233672"/>
            <a:ext cx="1353312" cy="384048"/>
          </a:xfrm>
          <a:prstGeom prst="rect">
            <a:avLst/>
          </a:prstGeom>
          <a:noFill/>
          <a:ln/>
        </p:spPr>
        <p:txBody>
          <a:bodyPr wrap="square" lIns="0" tIns="0" rIns="0" bIns="0" rtlCol="0" anchor="t"/>
          <a:lstStyle/>
          <a:p>
            <a:pPr indent="0" marL="0">
              <a:lnSpc>
                <a:spcPct val="105000"/>
              </a:lnSpc>
              <a:buNone/>
            </a:pPr>
            <a:r>
              <a:rPr lang="en-US" sz="1000" dirty="0">
                <a:solidFill>
                  <a:srgbClr val="525252"/>
                </a:solidFill>
              </a:rPr>
              <a:t>JWT cookie · bcrypt</a:t>
            </a:r>
            <a:endParaRPr lang="en-US" sz="1000" dirty="0"/>
          </a:p>
        </p:txBody>
      </p:sp>
      <p:sp>
        <p:nvSpPr>
          <p:cNvPr id="57" name="Shape 45"/>
          <p:cNvSpPr/>
          <p:nvPr/>
        </p:nvSpPr>
        <p:spPr>
          <a:xfrm>
            <a:off x="7616952" y="2203704"/>
            <a:ext cx="1572768" cy="969264"/>
          </a:xfrm>
          <a:prstGeom prst="roundRect">
            <a:avLst>
              <a:gd name="adj" fmla="val 7547"/>
            </a:avLst>
          </a:prstGeom>
          <a:solidFill>
            <a:srgbClr val="0F62FE"/>
          </a:solidFill>
          <a:ln/>
          <a:effectLst>
            <a:outerShdw sx="100000" sy="100000" kx="0" ky="0" algn="bl" rotWithShape="0" blurRad="177800" dist="38100" dir="5400000">
              <a:srgbClr val="0A1E4A">
                <a:alpha val="20000"/>
              </a:srgbClr>
            </a:outerShdw>
          </a:effectLst>
        </p:spPr>
      </p:sp>
      <p:pic>
        <p:nvPicPr>
          <p:cNvPr id="58" name="Image 10" descr="preencoded.png">    </p:cNvPr>
          <p:cNvPicPr>
            <a:picLocks noChangeAspect="1"/>
          </p:cNvPicPr>
          <p:nvPr/>
        </p:nvPicPr>
        <p:blipFill>
          <a:blip r:embed="rId11"/>
          <a:stretch>
            <a:fillRect/>
          </a:stretch>
        </p:blipFill>
        <p:spPr>
          <a:xfrm>
            <a:off x="7726680" y="2313432"/>
            <a:ext cx="256032" cy="256032"/>
          </a:xfrm>
          <a:prstGeom prst="rect">
            <a:avLst/>
          </a:prstGeom>
        </p:spPr>
      </p:pic>
      <p:sp>
        <p:nvSpPr>
          <p:cNvPr id="59" name="Text 46"/>
          <p:cNvSpPr txBox="1"/>
          <p:nvPr/>
        </p:nvSpPr>
        <p:spPr>
          <a:xfrm>
            <a:off x="8055864" y="2295144"/>
            <a:ext cx="1060704" cy="274320"/>
          </a:xfrm>
          <a:prstGeom prst="rect">
            <a:avLst/>
          </a:prstGeom>
          <a:noFill/>
          <a:ln/>
        </p:spPr>
        <p:txBody>
          <a:bodyPr wrap="square" lIns="0" tIns="0" rIns="0" bIns="0" rtlCol="0" anchor="ctr"/>
          <a:lstStyle/>
          <a:p>
            <a:pPr indent="0" marL="0">
              <a:buNone/>
            </a:pPr>
            <a:r>
              <a:rPr lang="en-US" sz="1150" dirty="0">
                <a:solidFill>
                  <a:srgbClr val="FFFFFF"/>
                </a:solidFill>
                <a:latin typeface="+mj-lt" pitchFamily="34" charset="0"/>
                <a:ea typeface="+mj-lt" pitchFamily="34" charset="-122"/>
                <a:cs typeface="+mj-lt" pitchFamily="34" charset="-120"/>
              </a:rPr>
              <a:t>Rule engine</a:t>
            </a:r>
            <a:endParaRPr lang="en-US" sz="1150" dirty="0"/>
          </a:p>
        </p:txBody>
      </p:sp>
      <p:sp>
        <p:nvSpPr>
          <p:cNvPr id="60" name="Text 47"/>
          <p:cNvSpPr txBox="1"/>
          <p:nvPr/>
        </p:nvSpPr>
        <p:spPr>
          <a:xfrm>
            <a:off x="7726680" y="2642616"/>
            <a:ext cx="1353312" cy="475488"/>
          </a:xfrm>
          <a:prstGeom prst="rect">
            <a:avLst/>
          </a:prstGeom>
          <a:noFill/>
          <a:ln/>
        </p:spPr>
        <p:txBody>
          <a:bodyPr wrap="square" lIns="0" tIns="0" rIns="0" bIns="0" rtlCol="0" anchor="t"/>
          <a:lstStyle/>
          <a:p>
            <a:pPr indent="0" marL="0">
              <a:lnSpc>
                <a:spcPct val="105000"/>
              </a:lnSpc>
              <a:buNone/>
            </a:pPr>
            <a:r>
              <a:rPr lang="en-US" sz="1000" dirty="0">
                <a:solidFill>
                  <a:srgbClr val="D0E2FF"/>
                </a:solidFill>
              </a:rPr>
              <a:t>R1–R8 · P1–P5</a:t>
            </a:r>
            <a:endParaRPr lang="en-US" sz="1000" dirty="0"/>
          </a:p>
          <a:p>
            <a:pPr indent="0" marL="0">
              <a:lnSpc>
                <a:spcPct val="105000"/>
              </a:lnSpc>
              <a:buNone/>
            </a:pPr>
            <a:r>
              <a:rPr lang="en-US" sz="1000" dirty="0">
                <a:solidFill>
                  <a:srgbClr val="D0E2FF"/>
                </a:solidFill>
              </a:rPr>
              <a:t>93 ms full re-plan</a:t>
            </a:r>
            <a:endParaRPr lang="en-US" sz="1000" dirty="0"/>
          </a:p>
        </p:txBody>
      </p:sp>
      <p:sp>
        <p:nvSpPr>
          <p:cNvPr id="61" name="Shape 48"/>
          <p:cNvSpPr/>
          <p:nvPr/>
        </p:nvSpPr>
        <p:spPr>
          <a:xfrm>
            <a:off x="7616952" y="3282696"/>
            <a:ext cx="1572768" cy="292608"/>
          </a:xfrm>
          <a:prstGeom prst="roundRect">
            <a:avLst>
              <a:gd name="adj" fmla="val 18750"/>
            </a:avLst>
          </a:prstGeom>
          <a:solidFill>
            <a:srgbClr val="FFFFFF"/>
          </a:solidFill>
          <a:ln/>
        </p:spPr>
      </p:sp>
      <p:sp>
        <p:nvSpPr>
          <p:cNvPr id="62" name="Text 49"/>
          <p:cNvSpPr txBox="1"/>
          <p:nvPr/>
        </p:nvSpPr>
        <p:spPr>
          <a:xfrm>
            <a:off x="7708392" y="3282696"/>
            <a:ext cx="1463040" cy="292608"/>
          </a:xfrm>
          <a:prstGeom prst="rect">
            <a:avLst/>
          </a:prstGeom>
          <a:noFill/>
          <a:ln/>
        </p:spPr>
        <p:txBody>
          <a:bodyPr wrap="square" lIns="0" tIns="0" rIns="0" bIns="0" rtlCol="0" anchor="ctr"/>
          <a:lstStyle/>
          <a:p>
            <a:pPr indent="0" marL="0">
              <a:buNone/>
            </a:pPr>
            <a:r>
              <a:rPr lang="en-US" sz="950" dirty="0">
                <a:solidFill>
                  <a:srgbClr val="161616"/>
                </a:solidFill>
              </a:rPr>
              <a:t>LP benchmark · HiGHS</a:t>
            </a:r>
            <a:endParaRPr lang="en-US" sz="950" dirty="0"/>
          </a:p>
        </p:txBody>
      </p:sp>
      <p:sp>
        <p:nvSpPr>
          <p:cNvPr id="63" name="Shape 50"/>
          <p:cNvSpPr/>
          <p:nvPr/>
        </p:nvSpPr>
        <p:spPr>
          <a:xfrm>
            <a:off x="7616952" y="3639312"/>
            <a:ext cx="1572768" cy="292608"/>
          </a:xfrm>
          <a:prstGeom prst="roundRect">
            <a:avLst>
              <a:gd name="adj" fmla="val 18750"/>
            </a:avLst>
          </a:prstGeom>
          <a:solidFill>
            <a:srgbClr val="FFFFFF"/>
          </a:solidFill>
          <a:ln/>
        </p:spPr>
      </p:sp>
      <p:sp>
        <p:nvSpPr>
          <p:cNvPr id="64" name="Text 51"/>
          <p:cNvSpPr txBox="1"/>
          <p:nvPr/>
        </p:nvSpPr>
        <p:spPr>
          <a:xfrm>
            <a:off x="7708392" y="3639312"/>
            <a:ext cx="1463040" cy="292608"/>
          </a:xfrm>
          <a:prstGeom prst="rect">
            <a:avLst/>
          </a:prstGeom>
          <a:noFill/>
          <a:ln/>
        </p:spPr>
        <p:txBody>
          <a:bodyPr wrap="square" lIns="0" tIns="0" rIns="0" bIns="0" rtlCol="0" anchor="ctr"/>
          <a:lstStyle/>
          <a:p>
            <a:pPr indent="0" marL="0">
              <a:buNone/>
            </a:pPr>
            <a:r>
              <a:rPr lang="en-US" sz="950" dirty="0">
                <a:solidFill>
                  <a:srgbClr val="161616"/>
                </a:solidFill>
              </a:rPr>
              <a:t>Ops loop · event re-plan</a:t>
            </a:r>
            <a:endParaRPr lang="en-US" sz="950" dirty="0"/>
          </a:p>
        </p:txBody>
      </p:sp>
      <p:sp>
        <p:nvSpPr>
          <p:cNvPr id="65" name="Shape 52"/>
          <p:cNvSpPr/>
          <p:nvPr/>
        </p:nvSpPr>
        <p:spPr>
          <a:xfrm>
            <a:off x="7616952" y="3995928"/>
            <a:ext cx="1572768" cy="292608"/>
          </a:xfrm>
          <a:prstGeom prst="roundRect">
            <a:avLst>
              <a:gd name="adj" fmla="val 18750"/>
            </a:avLst>
          </a:prstGeom>
          <a:solidFill>
            <a:srgbClr val="FFFFFF"/>
          </a:solidFill>
          <a:ln/>
        </p:spPr>
      </p:sp>
      <p:sp>
        <p:nvSpPr>
          <p:cNvPr id="66" name="Text 53"/>
          <p:cNvSpPr txBox="1"/>
          <p:nvPr/>
        </p:nvSpPr>
        <p:spPr>
          <a:xfrm>
            <a:off x="7708392" y="3995928"/>
            <a:ext cx="1463040" cy="292608"/>
          </a:xfrm>
          <a:prstGeom prst="rect">
            <a:avLst/>
          </a:prstGeom>
          <a:noFill/>
          <a:ln/>
        </p:spPr>
        <p:txBody>
          <a:bodyPr wrap="square" lIns="0" tIns="0" rIns="0" bIns="0" rtlCol="0" anchor="ctr"/>
          <a:lstStyle/>
          <a:p>
            <a:pPr indent="0" marL="0">
              <a:buNone/>
            </a:pPr>
            <a:r>
              <a:rPr lang="en-US" sz="950" dirty="0">
                <a:solidFill>
                  <a:srgbClr val="161616"/>
                </a:solidFill>
              </a:rPr>
              <a:t>Alerts · webhooks</a:t>
            </a:r>
            <a:endParaRPr lang="en-US" sz="950" dirty="0"/>
          </a:p>
        </p:txBody>
      </p:sp>
      <p:sp>
        <p:nvSpPr>
          <p:cNvPr id="67" name="Shape 54"/>
          <p:cNvSpPr/>
          <p:nvPr/>
        </p:nvSpPr>
        <p:spPr>
          <a:xfrm>
            <a:off x="7616952" y="4352544"/>
            <a:ext cx="1572768" cy="292608"/>
          </a:xfrm>
          <a:prstGeom prst="roundRect">
            <a:avLst>
              <a:gd name="adj" fmla="val 18750"/>
            </a:avLst>
          </a:prstGeom>
          <a:solidFill>
            <a:srgbClr val="FFFFFF"/>
          </a:solidFill>
          <a:ln/>
        </p:spPr>
      </p:sp>
      <p:sp>
        <p:nvSpPr>
          <p:cNvPr id="68" name="Text 55"/>
          <p:cNvSpPr txBox="1"/>
          <p:nvPr/>
        </p:nvSpPr>
        <p:spPr>
          <a:xfrm>
            <a:off x="7708392" y="4352544"/>
            <a:ext cx="1463040" cy="292608"/>
          </a:xfrm>
          <a:prstGeom prst="rect">
            <a:avLst/>
          </a:prstGeom>
          <a:noFill/>
          <a:ln/>
        </p:spPr>
        <p:txBody>
          <a:bodyPr wrap="square" lIns="0" tIns="0" rIns="0" bIns="0" rtlCol="0" anchor="ctr"/>
          <a:lstStyle/>
          <a:p>
            <a:pPr indent="0" marL="0">
              <a:buNone/>
            </a:pPr>
            <a:r>
              <a:rPr lang="en-US" sz="950" dirty="0">
                <a:solidFill>
                  <a:srgbClr val="161616"/>
                </a:solidFill>
              </a:rPr>
              <a:t>Tariffs · price feed</a:t>
            </a:r>
            <a:endParaRPr lang="en-US" sz="950" dirty="0"/>
          </a:p>
        </p:txBody>
      </p:sp>
      <p:sp>
        <p:nvSpPr>
          <p:cNvPr id="69" name="Shape 56"/>
          <p:cNvSpPr/>
          <p:nvPr/>
        </p:nvSpPr>
        <p:spPr>
          <a:xfrm>
            <a:off x="9930384" y="2203704"/>
            <a:ext cx="1572768" cy="548640"/>
          </a:xfrm>
          <a:prstGeom prst="roundRect">
            <a:avLst>
              <a:gd name="adj" fmla="val 10000"/>
            </a:avLst>
          </a:prstGeom>
          <a:solidFill>
            <a:srgbClr val="FFFFFF"/>
          </a:solidFill>
          <a:ln/>
          <a:effectLst>
            <a:outerShdw sx="100000" sy="100000" kx="0" ky="0" algn="bl" rotWithShape="0" blurRad="177800" dist="38100" dir="5400000">
              <a:srgbClr val="0A1E4A">
                <a:alpha val="5000"/>
              </a:srgbClr>
            </a:outerShdw>
          </a:effectLst>
        </p:spPr>
      </p:sp>
      <p:pic>
        <p:nvPicPr>
          <p:cNvPr id="70" name="Image 11" descr="preencoded.png">    </p:cNvPr>
          <p:cNvPicPr>
            <a:picLocks noChangeAspect="1"/>
          </p:cNvPicPr>
          <p:nvPr/>
        </p:nvPicPr>
        <p:blipFill>
          <a:blip r:embed="rId12"/>
          <a:stretch>
            <a:fillRect/>
          </a:stretch>
        </p:blipFill>
        <p:spPr>
          <a:xfrm>
            <a:off x="10021824" y="2295144"/>
            <a:ext cx="219456" cy="219456"/>
          </a:xfrm>
          <a:prstGeom prst="rect">
            <a:avLst/>
          </a:prstGeom>
        </p:spPr>
      </p:pic>
      <p:sp>
        <p:nvSpPr>
          <p:cNvPr id="71" name="Text 57"/>
          <p:cNvSpPr txBox="1"/>
          <p:nvPr/>
        </p:nvSpPr>
        <p:spPr>
          <a:xfrm>
            <a:off x="10314432" y="2258568"/>
            <a:ext cx="1170432" cy="219456"/>
          </a:xfrm>
          <a:prstGeom prst="rect">
            <a:avLst/>
          </a:prstGeom>
          <a:noFill/>
          <a:ln/>
        </p:spPr>
        <p:txBody>
          <a:bodyPr wrap="square" lIns="0" tIns="0" rIns="0" bIns="0" rtlCol="0" anchor="t"/>
          <a:lstStyle/>
          <a:p>
            <a:pPr indent="0" marL="0">
              <a:buNone/>
            </a:pPr>
            <a:r>
              <a:rPr lang="en-US" sz="1050" dirty="0">
                <a:solidFill>
                  <a:srgbClr val="161616"/>
                </a:solidFill>
                <a:latin typeface="+mj-lt" pitchFamily="34" charset="0"/>
                <a:ea typeface="+mj-lt" pitchFamily="34" charset="-122"/>
                <a:cs typeface="+mj-lt" pitchFamily="34" charset="-120"/>
              </a:rPr>
              <a:t>Charge points</a:t>
            </a:r>
            <a:endParaRPr lang="en-US" sz="1050" dirty="0"/>
          </a:p>
        </p:txBody>
      </p:sp>
      <p:sp>
        <p:nvSpPr>
          <p:cNvPr id="72" name="Text 58"/>
          <p:cNvSpPr txBox="1"/>
          <p:nvPr/>
        </p:nvSpPr>
        <p:spPr>
          <a:xfrm>
            <a:off x="10314432" y="2478024"/>
            <a:ext cx="1170432" cy="201168"/>
          </a:xfrm>
          <a:prstGeom prst="rect">
            <a:avLst/>
          </a:prstGeom>
          <a:noFill/>
          <a:ln/>
        </p:spPr>
        <p:txBody>
          <a:bodyPr wrap="square" lIns="0" tIns="0" rIns="0" bIns="0" rtlCol="0" anchor="t"/>
          <a:lstStyle/>
          <a:p>
            <a:pPr indent="0" marL="0">
              <a:buNone/>
            </a:pPr>
            <a:r>
              <a:rPr lang="en-US" sz="950" dirty="0">
                <a:solidFill>
                  <a:srgbClr val="525252"/>
                </a:solidFill>
              </a:rPr>
              <a:t>OCPP 1.6-J</a:t>
            </a:r>
            <a:endParaRPr lang="en-US" sz="950" dirty="0"/>
          </a:p>
        </p:txBody>
      </p:sp>
      <p:sp>
        <p:nvSpPr>
          <p:cNvPr id="73" name="Shape 59"/>
          <p:cNvSpPr/>
          <p:nvPr/>
        </p:nvSpPr>
        <p:spPr>
          <a:xfrm>
            <a:off x="9930384" y="2834640"/>
            <a:ext cx="1572768" cy="548640"/>
          </a:xfrm>
          <a:prstGeom prst="roundRect">
            <a:avLst>
              <a:gd name="adj" fmla="val 10000"/>
            </a:avLst>
          </a:prstGeom>
          <a:solidFill>
            <a:srgbClr val="FFFFFF"/>
          </a:solidFill>
          <a:ln/>
          <a:effectLst>
            <a:outerShdw sx="100000" sy="100000" kx="0" ky="0" algn="bl" rotWithShape="0" blurRad="177800" dist="38100" dir="5400000">
              <a:srgbClr val="0A1E4A">
                <a:alpha val="5000"/>
              </a:srgbClr>
            </a:outerShdw>
          </a:effectLst>
        </p:spPr>
      </p:sp>
      <p:pic>
        <p:nvPicPr>
          <p:cNvPr id="74" name="Image 12" descr="preencoded.png">    </p:cNvPr>
          <p:cNvPicPr>
            <a:picLocks noChangeAspect="1"/>
          </p:cNvPicPr>
          <p:nvPr/>
        </p:nvPicPr>
        <p:blipFill>
          <a:blip r:embed="rId13"/>
          <a:stretch>
            <a:fillRect/>
          </a:stretch>
        </p:blipFill>
        <p:spPr>
          <a:xfrm>
            <a:off x="10021824" y="2926080"/>
            <a:ext cx="219456" cy="219456"/>
          </a:xfrm>
          <a:prstGeom prst="rect">
            <a:avLst/>
          </a:prstGeom>
        </p:spPr>
      </p:pic>
      <p:sp>
        <p:nvSpPr>
          <p:cNvPr id="75" name="Text 60"/>
          <p:cNvSpPr txBox="1"/>
          <p:nvPr/>
        </p:nvSpPr>
        <p:spPr>
          <a:xfrm>
            <a:off x="10314432" y="2889504"/>
            <a:ext cx="1170432" cy="219456"/>
          </a:xfrm>
          <a:prstGeom prst="rect">
            <a:avLst/>
          </a:prstGeom>
          <a:noFill/>
          <a:ln/>
        </p:spPr>
        <p:txBody>
          <a:bodyPr wrap="square" lIns="0" tIns="0" rIns="0" bIns="0" rtlCol="0" anchor="t"/>
          <a:lstStyle/>
          <a:p>
            <a:pPr indent="0" marL="0">
              <a:buNone/>
            </a:pPr>
            <a:r>
              <a:rPr lang="en-US" sz="1050" dirty="0">
                <a:solidFill>
                  <a:srgbClr val="161616"/>
                </a:solidFill>
                <a:latin typeface="+mj-lt" pitchFamily="34" charset="0"/>
                <a:ea typeface="+mj-lt" pitchFamily="34" charset="-122"/>
                <a:cs typeface="+mj-lt" pitchFamily="34" charset="-120"/>
              </a:rPr>
              <a:t>Fleet / ERP</a:t>
            </a:r>
            <a:endParaRPr lang="en-US" sz="1050" dirty="0"/>
          </a:p>
        </p:txBody>
      </p:sp>
      <p:sp>
        <p:nvSpPr>
          <p:cNvPr id="76" name="Text 61"/>
          <p:cNvSpPr txBox="1"/>
          <p:nvPr/>
        </p:nvSpPr>
        <p:spPr>
          <a:xfrm>
            <a:off x="10314432" y="3108960"/>
            <a:ext cx="1170432" cy="201168"/>
          </a:xfrm>
          <a:prstGeom prst="rect">
            <a:avLst/>
          </a:prstGeom>
          <a:noFill/>
          <a:ln/>
        </p:spPr>
        <p:txBody>
          <a:bodyPr wrap="square" lIns="0" tIns="0" rIns="0" bIns="0" rtlCol="0" anchor="t"/>
          <a:lstStyle/>
          <a:p>
            <a:pPr indent="0" marL="0">
              <a:buNone/>
            </a:pPr>
            <a:r>
              <a:rPr lang="en-US" sz="950" dirty="0">
                <a:solidFill>
                  <a:srgbClr val="525252"/>
                </a:solidFill>
              </a:rPr>
              <a:t>API-key sync</a:t>
            </a:r>
            <a:endParaRPr lang="en-US" sz="950" dirty="0"/>
          </a:p>
        </p:txBody>
      </p:sp>
      <p:sp>
        <p:nvSpPr>
          <p:cNvPr id="77" name="Shape 62"/>
          <p:cNvSpPr/>
          <p:nvPr/>
        </p:nvSpPr>
        <p:spPr>
          <a:xfrm>
            <a:off x="9930384" y="3465576"/>
            <a:ext cx="1572768" cy="548640"/>
          </a:xfrm>
          <a:prstGeom prst="roundRect">
            <a:avLst>
              <a:gd name="adj" fmla="val 10000"/>
            </a:avLst>
          </a:prstGeom>
          <a:solidFill>
            <a:srgbClr val="FFFFFF"/>
          </a:solidFill>
          <a:ln/>
          <a:effectLst>
            <a:outerShdw sx="100000" sy="100000" kx="0" ky="0" algn="bl" rotWithShape="0" blurRad="177800" dist="38100" dir="5400000">
              <a:srgbClr val="0A1E4A">
                <a:alpha val="5000"/>
              </a:srgbClr>
            </a:outerShdw>
          </a:effectLst>
        </p:spPr>
      </p:sp>
      <p:pic>
        <p:nvPicPr>
          <p:cNvPr id="78" name="Image 13" descr="preencoded.png">    </p:cNvPr>
          <p:cNvPicPr>
            <a:picLocks noChangeAspect="1"/>
          </p:cNvPicPr>
          <p:nvPr/>
        </p:nvPicPr>
        <p:blipFill>
          <a:blip r:embed="rId14"/>
          <a:stretch>
            <a:fillRect/>
          </a:stretch>
        </p:blipFill>
        <p:spPr>
          <a:xfrm>
            <a:off x="10021824" y="3557016"/>
            <a:ext cx="219456" cy="219456"/>
          </a:xfrm>
          <a:prstGeom prst="rect">
            <a:avLst/>
          </a:prstGeom>
        </p:spPr>
      </p:pic>
      <p:sp>
        <p:nvSpPr>
          <p:cNvPr id="79" name="Text 63"/>
          <p:cNvSpPr txBox="1"/>
          <p:nvPr/>
        </p:nvSpPr>
        <p:spPr>
          <a:xfrm>
            <a:off x="10314432" y="3520440"/>
            <a:ext cx="1170432" cy="219456"/>
          </a:xfrm>
          <a:prstGeom prst="rect">
            <a:avLst/>
          </a:prstGeom>
          <a:noFill/>
          <a:ln/>
        </p:spPr>
        <p:txBody>
          <a:bodyPr wrap="square" lIns="0" tIns="0" rIns="0" bIns="0" rtlCol="0" anchor="t"/>
          <a:lstStyle/>
          <a:p>
            <a:pPr indent="0" marL="0">
              <a:buNone/>
            </a:pPr>
            <a:r>
              <a:rPr lang="en-US" sz="1050" dirty="0">
                <a:solidFill>
                  <a:srgbClr val="161616"/>
                </a:solidFill>
                <a:latin typeface="+mj-lt" pitchFamily="34" charset="0"/>
                <a:ea typeface="+mj-lt" pitchFamily="34" charset="-122"/>
                <a:cs typeface="+mj-lt" pitchFamily="34" charset="-120"/>
              </a:rPr>
              <a:t>Price feed</a:t>
            </a:r>
            <a:endParaRPr lang="en-US" sz="1050" dirty="0"/>
          </a:p>
        </p:txBody>
      </p:sp>
      <p:sp>
        <p:nvSpPr>
          <p:cNvPr id="80" name="Text 64"/>
          <p:cNvSpPr txBox="1"/>
          <p:nvPr/>
        </p:nvSpPr>
        <p:spPr>
          <a:xfrm>
            <a:off x="10314432" y="3739896"/>
            <a:ext cx="1170432" cy="201168"/>
          </a:xfrm>
          <a:prstGeom prst="rect">
            <a:avLst/>
          </a:prstGeom>
          <a:noFill/>
          <a:ln/>
        </p:spPr>
        <p:txBody>
          <a:bodyPr wrap="square" lIns="0" tIns="0" rIns="0" bIns="0" rtlCol="0" anchor="t"/>
          <a:lstStyle/>
          <a:p>
            <a:pPr indent="0" marL="0">
              <a:buNone/>
            </a:pPr>
            <a:r>
              <a:rPr lang="en-US" sz="950" dirty="0">
                <a:solidFill>
                  <a:srgbClr val="525252"/>
                </a:solidFill>
              </a:rPr>
              <a:t>JSON · CSV tariffs</a:t>
            </a:r>
            <a:endParaRPr lang="en-US" sz="950" dirty="0"/>
          </a:p>
        </p:txBody>
      </p:sp>
      <p:sp>
        <p:nvSpPr>
          <p:cNvPr id="81" name="Shape 65"/>
          <p:cNvSpPr/>
          <p:nvPr/>
        </p:nvSpPr>
        <p:spPr>
          <a:xfrm>
            <a:off x="9930384" y="4096512"/>
            <a:ext cx="1572768" cy="548640"/>
          </a:xfrm>
          <a:prstGeom prst="roundRect">
            <a:avLst>
              <a:gd name="adj" fmla="val 10000"/>
            </a:avLst>
          </a:prstGeom>
          <a:solidFill>
            <a:srgbClr val="FFFFFF"/>
          </a:solidFill>
          <a:ln/>
          <a:effectLst>
            <a:outerShdw sx="100000" sy="100000" kx="0" ky="0" algn="bl" rotWithShape="0" blurRad="177800" dist="38100" dir="5400000">
              <a:srgbClr val="0A1E4A">
                <a:alpha val="5000"/>
              </a:srgbClr>
            </a:outerShdw>
          </a:effectLst>
        </p:spPr>
      </p:sp>
      <p:pic>
        <p:nvPicPr>
          <p:cNvPr id="82" name="Image 14" descr="preencoded.png">    </p:cNvPr>
          <p:cNvPicPr>
            <a:picLocks noChangeAspect="1"/>
          </p:cNvPicPr>
          <p:nvPr/>
        </p:nvPicPr>
        <p:blipFill>
          <a:blip r:embed="rId15"/>
          <a:stretch>
            <a:fillRect/>
          </a:stretch>
        </p:blipFill>
        <p:spPr>
          <a:xfrm>
            <a:off x="10021824" y="4187952"/>
            <a:ext cx="219456" cy="219456"/>
          </a:xfrm>
          <a:prstGeom prst="rect">
            <a:avLst/>
          </a:prstGeom>
        </p:spPr>
      </p:pic>
      <p:sp>
        <p:nvSpPr>
          <p:cNvPr id="83" name="Text 66"/>
          <p:cNvSpPr txBox="1"/>
          <p:nvPr/>
        </p:nvSpPr>
        <p:spPr>
          <a:xfrm>
            <a:off x="10314432" y="4151376"/>
            <a:ext cx="1170432" cy="219456"/>
          </a:xfrm>
          <a:prstGeom prst="rect">
            <a:avLst/>
          </a:prstGeom>
          <a:noFill/>
          <a:ln/>
        </p:spPr>
        <p:txBody>
          <a:bodyPr wrap="square" lIns="0" tIns="0" rIns="0" bIns="0" rtlCol="0" anchor="t"/>
          <a:lstStyle/>
          <a:p>
            <a:pPr indent="0" marL="0">
              <a:buNone/>
            </a:pPr>
            <a:r>
              <a:rPr lang="en-US" sz="1050" dirty="0">
                <a:solidFill>
                  <a:srgbClr val="161616"/>
                </a:solidFill>
                <a:latin typeface="+mj-lt" pitchFamily="34" charset="0"/>
                <a:ea typeface="+mj-lt" pitchFamily="34" charset="-122"/>
                <a:cs typeface="+mj-lt" pitchFamily="34" charset="-120"/>
              </a:rPr>
              <a:t>Maps · webhooks</a:t>
            </a:r>
            <a:endParaRPr lang="en-US" sz="1050" dirty="0"/>
          </a:p>
        </p:txBody>
      </p:sp>
      <p:sp>
        <p:nvSpPr>
          <p:cNvPr id="84" name="Text 67"/>
          <p:cNvSpPr txBox="1"/>
          <p:nvPr/>
        </p:nvSpPr>
        <p:spPr>
          <a:xfrm>
            <a:off x="10314432" y="4370832"/>
            <a:ext cx="1170432" cy="201168"/>
          </a:xfrm>
          <a:prstGeom prst="rect">
            <a:avLst/>
          </a:prstGeom>
          <a:noFill/>
          <a:ln/>
        </p:spPr>
        <p:txBody>
          <a:bodyPr wrap="square" lIns="0" tIns="0" rIns="0" bIns="0" rtlCol="0" anchor="t"/>
          <a:lstStyle/>
          <a:p>
            <a:pPr indent="0" marL="0">
              <a:buNone/>
            </a:pPr>
            <a:r>
              <a:rPr lang="en-US" sz="950" dirty="0">
                <a:solidFill>
                  <a:srgbClr val="525252"/>
                </a:solidFill>
              </a:rPr>
              <a:t>OSM · outbound alerts</a:t>
            </a:r>
            <a:endParaRPr lang="en-US" sz="950" dirty="0"/>
          </a:p>
        </p:txBody>
      </p:sp>
      <p:sp>
        <p:nvSpPr>
          <p:cNvPr id="85" name="Shape 68"/>
          <p:cNvSpPr/>
          <p:nvPr/>
        </p:nvSpPr>
        <p:spPr>
          <a:xfrm>
            <a:off x="6089904" y="4818888"/>
            <a:ext cx="0" cy="274320"/>
          </a:xfrm>
          <a:prstGeom prst="line">
            <a:avLst/>
          </a:prstGeom>
          <a:noFill/>
          <a:ln w="19050">
            <a:solidFill>
              <a:srgbClr val="0F62FE"/>
            </a:solidFill>
            <a:prstDash val="solid"/>
            <a:headEnd type="triangle"/>
            <a:tailEnd type="triangle"/>
          </a:ln>
        </p:spPr>
      </p:sp>
      <p:sp>
        <p:nvSpPr>
          <p:cNvPr id="86" name="Shape 69"/>
          <p:cNvSpPr/>
          <p:nvPr/>
        </p:nvSpPr>
        <p:spPr>
          <a:xfrm>
            <a:off x="8403336" y="4818888"/>
            <a:ext cx="0" cy="274320"/>
          </a:xfrm>
          <a:prstGeom prst="line">
            <a:avLst/>
          </a:prstGeom>
          <a:noFill/>
          <a:ln w="19050">
            <a:solidFill>
              <a:srgbClr val="0F62FE"/>
            </a:solidFill>
            <a:prstDash val="solid"/>
            <a:headEnd type="triangle"/>
            <a:tailEnd type="triangle"/>
          </a:ln>
        </p:spPr>
      </p:sp>
      <p:sp>
        <p:nvSpPr>
          <p:cNvPr id="87" name="Shape 70"/>
          <p:cNvSpPr/>
          <p:nvPr/>
        </p:nvSpPr>
        <p:spPr>
          <a:xfrm>
            <a:off x="548640" y="5120640"/>
            <a:ext cx="4389120" cy="1097280"/>
          </a:xfrm>
          <a:prstGeom prst="roundRect">
            <a:avLst>
              <a:gd name="adj" fmla="val 6667"/>
            </a:avLst>
          </a:prstGeom>
          <a:solidFill>
            <a:srgbClr val="FFFFFF"/>
          </a:solidFill>
          <a:ln w="9525">
            <a:solidFill>
              <a:srgbClr val="E0E0E0"/>
            </a:solidFill>
            <a:prstDash val="solid"/>
          </a:ln>
          <a:effectLst>
            <a:outerShdw sx="100000" sy="100000" kx="0" ky="0" algn="bl" rotWithShape="0" blurRad="177800" dist="38100" dir="5400000">
              <a:srgbClr val="0A1E4A">
                <a:alpha val="6000"/>
              </a:srgbClr>
            </a:outerShdw>
          </a:effectLst>
        </p:spPr>
      </p:sp>
      <p:sp>
        <p:nvSpPr>
          <p:cNvPr id="88" name="Text 71"/>
          <p:cNvSpPr txBox="1"/>
          <p:nvPr/>
        </p:nvSpPr>
        <p:spPr>
          <a:xfrm>
            <a:off x="731520" y="5230368"/>
            <a:ext cx="2743200" cy="201168"/>
          </a:xfrm>
          <a:prstGeom prst="rect">
            <a:avLst/>
          </a:prstGeom>
          <a:noFill/>
          <a:ln/>
        </p:spPr>
        <p:txBody>
          <a:bodyPr wrap="square" lIns="0" tIns="0" rIns="0" bIns="0" rtlCol="0" anchor="t"/>
          <a:lstStyle/>
          <a:p>
            <a:pPr indent="0" marL="0">
              <a:buNone/>
            </a:pPr>
            <a:r>
              <a:rPr lang="en-US" sz="1000" spc="150" kern="0" dirty="0">
                <a:solidFill>
                  <a:srgbClr val="0F62FE"/>
                </a:solidFill>
                <a:latin typeface="Consolas" pitchFamily="34" charset="0"/>
                <a:ea typeface="Consolas" pitchFamily="34" charset="-122"/>
                <a:cs typeface="Consolas" pitchFamily="34" charset="-120"/>
              </a:rPr>
              <a:t>EVENT PIPELINE</a:t>
            </a:r>
            <a:endParaRPr lang="en-US" sz="1000" dirty="0"/>
          </a:p>
        </p:txBody>
      </p:sp>
      <p:sp>
        <p:nvSpPr>
          <p:cNvPr id="89" name="Shape 72"/>
          <p:cNvSpPr/>
          <p:nvPr/>
        </p:nvSpPr>
        <p:spPr>
          <a:xfrm>
            <a:off x="731520" y="5504688"/>
            <a:ext cx="713232" cy="310896"/>
          </a:xfrm>
          <a:prstGeom prst="roundRect">
            <a:avLst>
              <a:gd name="adj" fmla="val 17647"/>
            </a:avLst>
          </a:prstGeom>
          <a:solidFill>
            <a:srgbClr val="EDF5FF"/>
          </a:solidFill>
          <a:ln/>
        </p:spPr>
      </p:sp>
      <p:sp>
        <p:nvSpPr>
          <p:cNvPr id="90" name="Text 73"/>
          <p:cNvSpPr txBox="1"/>
          <p:nvPr/>
        </p:nvSpPr>
        <p:spPr>
          <a:xfrm>
            <a:off x="731520" y="5504688"/>
            <a:ext cx="713232" cy="310896"/>
          </a:xfrm>
          <a:prstGeom prst="rect">
            <a:avLst/>
          </a:prstGeom>
          <a:noFill/>
          <a:ln/>
        </p:spPr>
        <p:txBody>
          <a:bodyPr wrap="square" lIns="0" tIns="0" rIns="0" bIns="0" rtlCol="0" anchor="ctr"/>
          <a:lstStyle/>
          <a:p>
            <a:pPr algn="ctr" indent="0" marL="0">
              <a:buNone/>
            </a:pPr>
            <a:r>
              <a:rPr lang="en-US" sz="950" dirty="0">
                <a:solidFill>
                  <a:srgbClr val="0043CE"/>
                </a:solidFill>
                <a:latin typeface="+mj-lt" pitchFamily="34" charset="0"/>
                <a:ea typeface="+mj-lt" pitchFamily="34" charset="-122"/>
                <a:cs typeface="+mj-lt" pitchFamily="34" charset="-120"/>
              </a:rPr>
              <a:t>Event</a:t>
            </a:r>
            <a:endParaRPr lang="en-US" sz="950" dirty="0"/>
          </a:p>
        </p:txBody>
      </p:sp>
      <p:sp>
        <p:nvSpPr>
          <p:cNvPr id="91" name="Shape 74"/>
          <p:cNvSpPr/>
          <p:nvPr/>
        </p:nvSpPr>
        <p:spPr>
          <a:xfrm>
            <a:off x="1463040" y="5660136"/>
            <a:ext cx="77724" cy="0"/>
          </a:xfrm>
          <a:prstGeom prst="line">
            <a:avLst/>
          </a:prstGeom>
          <a:noFill/>
          <a:ln w="12700">
            <a:solidFill>
              <a:srgbClr val="0F62FE"/>
            </a:solidFill>
            <a:prstDash val="solid"/>
            <a:tailEnd type="triangle"/>
          </a:ln>
        </p:spPr>
      </p:sp>
      <p:sp>
        <p:nvSpPr>
          <p:cNvPr id="92" name="Shape 75"/>
          <p:cNvSpPr/>
          <p:nvPr/>
        </p:nvSpPr>
        <p:spPr>
          <a:xfrm>
            <a:off x="1559052" y="5504688"/>
            <a:ext cx="713232" cy="310896"/>
          </a:xfrm>
          <a:prstGeom prst="roundRect">
            <a:avLst>
              <a:gd name="adj" fmla="val 17647"/>
            </a:avLst>
          </a:prstGeom>
          <a:solidFill>
            <a:srgbClr val="0F62FE"/>
          </a:solidFill>
          <a:ln/>
        </p:spPr>
      </p:sp>
      <p:sp>
        <p:nvSpPr>
          <p:cNvPr id="93" name="Text 76"/>
          <p:cNvSpPr txBox="1"/>
          <p:nvPr/>
        </p:nvSpPr>
        <p:spPr>
          <a:xfrm>
            <a:off x="1559052" y="5504688"/>
            <a:ext cx="713232" cy="310896"/>
          </a:xfrm>
          <a:prstGeom prst="rect">
            <a:avLst/>
          </a:prstGeom>
          <a:noFill/>
          <a:ln/>
        </p:spPr>
        <p:txBody>
          <a:bodyPr wrap="square" lIns="0" tIns="0" rIns="0" bIns="0" rtlCol="0" anchor="ctr"/>
          <a:lstStyle/>
          <a:p>
            <a:pPr algn="ctr" indent="0" marL="0">
              <a:buNone/>
            </a:pPr>
            <a:r>
              <a:rPr lang="en-US" sz="950" dirty="0">
                <a:solidFill>
                  <a:srgbClr val="FFFFFF"/>
                </a:solidFill>
                <a:latin typeface="+mj-lt" pitchFamily="34" charset="0"/>
                <a:ea typeface="+mj-lt" pitchFamily="34" charset="-122"/>
                <a:cs typeface="+mj-lt" pitchFamily="34" charset="-120"/>
              </a:rPr>
              <a:t>Re-plan</a:t>
            </a:r>
            <a:endParaRPr lang="en-US" sz="950" dirty="0"/>
          </a:p>
        </p:txBody>
      </p:sp>
      <p:sp>
        <p:nvSpPr>
          <p:cNvPr id="94" name="Shape 77"/>
          <p:cNvSpPr/>
          <p:nvPr/>
        </p:nvSpPr>
        <p:spPr>
          <a:xfrm>
            <a:off x="2290572" y="5660136"/>
            <a:ext cx="77724" cy="0"/>
          </a:xfrm>
          <a:prstGeom prst="line">
            <a:avLst/>
          </a:prstGeom>
          <a:noFill/>
          <a:ln w="12700">
            <a:solidFill>
              <a:srgbClr val="0F62FE"/>
            </a:solidFill>
            <a:prstDash val="solid"/>
            <a:tailEnd type="triangle"/>
          </a:ln>
        </p:spPr>
      </p:sp>
      <p:sp>
        <p:nvSpPr>
          <p:cNvPr id="95" name="Shape 78"/>
          <p:cNvSpPr/>
          <p:nvPr/>
        </p:nvSpPr>
        <p:spPr>
          <a:xfrm>
            <a:off x="2386584" y="5504688"/>
            <a:ext cx="713232" cy="310896"/>
          </a:xfrm>
          <a:prstGeom prst="roundRect">
            <a:avLst>
              <a:gd name="adj" fmla="val 17647"/>
            </a:avLst>
          </a:prstGeom>
          <a:solidFill>
            <a:srgbClr val="EDF5FF"/>
          </a:solidFill>
          <a:ln/>
        </p:spPr>
      </p:sp>
      <p:sp>
        <p:nvSpPr>
          <p:cNvPr id="96" name="Text 79"/>
          <p:cNvSpPr txBox="1"/>
          <p:nvPr/>
        </p:nvSpPr>
        <p:spPr>
          <a:xfrm>
            <a:off x="2386584" y="5504688"/>
            <a:ext cx="713232" cy="310896"/>
          </a:xfrm>
          <a:prstGeom prst="rect">
            <a:avLst/>
          </a:prstGeom>
          <a:noFill/>
          <a:ln/>
        </p:spPr>
        <p:txBody>
          <a:bodyPr wrap="square" lIns="0" tIns="0" rIns="0" bIns="0" rtlCol="0" anchor="ctr"/>
          <a:lstStyle/>
          <a:p>
            <a:pPr algn="ctr" indent="0" marL="0">
              <a:buNone/>
            </a:pPr>
            <a:r>
              <a:rPr lang="en-US" sz="950" dirty="0">
                <a:solidFill>
                  <a:srgbClr val="0043CE"/>
                </a:solidFill>
                <a:latin typeface="+mj-lt" pitchFamily="34" charset="0"/>
                <a:ea typeface="+mj-lt" pitchFamily="34" charset="-122"/>
                <a:cs typeface="+mj-lt" pitchFamily="34" charset="-120"/>
              </a:rPr>
              <a:t>Reserve</a:t>
            </a:r>
            <a:endParaRPr lang="en-US" sz="950" dirty="0"/>
          </a:p>
        </p:txBody>
      </p:sp>
      <p:sp>
        <p:nvSpPr>
          <p:cNvPr id="97" name="Shape 80"/>
          <p:cNvSpPr/>
          <p:nvPr/>
        </p:nvSpPr>
        <p:spPr>
          <a:xfrm>
            <a:off x="3118104" y="5660136"/>
            <a:ext cx="77724" cy="0"/>
          </a:xfrm>
          <a:prstGeom prst="line">
            <a:avLst/>
          </a:prstGeom>
          <a:noFill/>
          <a:ln w="12700">
            <a:solidFill>
              <a:srgbClr val="0F62FE"/>
            </a:solidFill>
            <a:prstDash val="solid"/>
            <a:tailEnd type="triangle"/>
          </a:ln>
        </p:spPr>
      </p:sp>
      <p:sp>
        <p:nvSpPr>
          <p:cNvPr id="98" name="Shape 81"/>
          <p:cNvSpPr/>
          <p:nvPr/>
        </p:nvSpPr>
        <p:spPr>
          <a:xfrm>
            <a:off x="3214116" y="5504688"/>
            <a:ext cx="713232" cy="310896"/>
          </a:xfrm>
          <a:prstGeom prst="roundRect">
            <a:avLst>
              <a:gd name="adj" fmla="val 17647"/>
            </a:avLst>
          </a:prstGeom>
          <a:solidFill>
            <a:srgbClr val="EDF5FF"/>
          </a:solidFill>
          <a:ln/>
        </p:spPr>
      </p:sp>
      <p:sp>
        <p:nvSpPr>
          <p:cNvPr id="99" name="Text 82"/>
          <p:cNvSpPr txBox="1"/>
          <p:nvPr/>
        </p:nvSpPr>
        <p:spPr>
          <a:xfrm>
            <a:off x="3214116" y="5504688"/>
            <a:ext cx="713232" cy="310896"/>
          </a:xfrm>
          <a:prstGeom prst="rect">
            <a:avLst/>
          </a:prstGeom>
          <a:noFill/>
          <a:ln/>
        </p:spPr>
        <p:txBody>
          <a:bodyPr wrap="square" lIns="0" tIns="0" rIns="0" bIns="0" rtlCol="0" anchor="ctr"/>
          <a:lstStyle/>
          <a:p>
            <a:pPr algn="ctr" indent="0" marL="0">
              <a:buNone/>
            </a:pPr>
            <a:r>
              <a:rPr lang="en-US" sz="950" dirty="0">
                <a:solidFill>
                  <a:srgbClr val="0043CE"/>
                </a:solidFill>
                <a:latin typeface="+mj-lt" pitchFamily="34" charset="0"/>
                <a:ea typeface="+mj-lt" pitchFamily="34" charset="-122"/>
                <a:cs typeface="+mj-lt" pitchFamily="34" charset="-120"/>
              </a:rPr>
              <a:t>WS push</a:t>
            </a:r>
            <a:endParaRPr lang="en-US" sz="950" dirty="0"/>
          </a:p>
        </p:txBody>
      </p:sp>
      <p:sp>
        <p:nvSpPr>
          <p:cNvPr id="100" name="Shape 83"/>
          <p:cNvSpPr/>
          <p:nvPr/>
        </p:nvSpPr>
        <p:spPr>
          <a:xfrm>
            <a:off x="3945636" y="5660136"/>
            <a:ext cx="77724" cy="0"/>
          </a:xfrm>
          <a:prstGeom prst="line">
            <a:avLst/>
          </a:prstGeom>
          <a:noFill/>
          <a:ln w="12700">
            <a:solidFill>
              <a:srgbClr val="0F62FE"/>
            </a:solidFill>
            <a:prstDash val="solid"/>
            <a:tailEnd type="triangle"/>
          </a:ln>
        </p:spPr>
      </p:sp>
      <p:sp>
        <p:nvSpPr>
          <p:cNvPr id="101" name="Shape 84"/>
          <p:cNvSpPr/>
          <p:nvPr/>
        </p:nvSpPr>
        <p:spPr>
          <a:xfrm>
            <a:off x="4041648" y="5504688"/>
            <a:ext cx="713232" cy="310896"/>
          </a:xfrm>
          <a:prstGeom prst="roundRect">
            <a:avLst>
              <a:gd name="adj" fmla="val 17647"/>
            </a:avLst>
          </a:prstGeom>
          <a:solidFill>
            <a:srgbClr val="EDF5FF"/>
          </a:solidFill>
          <a:ln/>
        </p:spPr>
      </p:sp>
      <p:sp>
        <p:nvSpPr>
          <p:cNvPr id="102" name="Text 85"/>
          <p:cNvSpPr txBox="1"/>
          <p:nvPr/>
        </p:nvSpPr>
        <p:spPr>
          <a:xfrm>
            <a:off x="4041648" y="5504688"/>
            <a:ext cx="713232" cy="310896"/>
          </a:xfrm>
          <a:prstGeom prst="rect">
            <a:avLst/>
          </a:prstGeom>
          <a:noFill/>
          <a:ln/>
        </p:spPr>
        <p:txBody>
          <a:bodyPr wrap="square" lIns="0" tIns="0" rIns="0" bIns="0" rtlCol="0" anchor="ctr"/>
          <a:lstStyle/>
          <a:p>
            <a:pPr algn="ctr" indent="0" marL="0">
              <a:buNone/>
            </a:pPr>
            <a:r>
              <a:rPr lang="en-US" sz="950" dirty="0">
                <a:solidFill>
                  <a:srgbClr val="0043CE"/>
                </a:solidFill>
                <a:latin typeface="+mj-lt" pitchFamily="34" charset="0"/>
                <a:ea typeface="+mj-lt" pitchFamily="34" charset="-122"/>
                <a:cs typeface="+mj-lt" pitchFamily="34" charset="-120"/>
              </a:rPr>
              <a:t>Alert</a:t>
            </a:r>
            <a:endParaRPr lang="en-US" sz="950" dirty="0"/>
          </a:p>
        </p:txBody>
      </p:sp>
      <p:sp>
        <p:nvSpPr>
          <p:cNvPr id="103" name="Text 86"/>
          <p:cNvSpPr txBox="1"/>
          <p:nvPr/>
        </p:nvSpPr>
        <p:spPr>
          <a:xfrm>
            <a:off x="731520" y="5907024"/>
            <a:ext cx="4023360" cy="201168"/>
          </a:xfrm>
          <a:prstGeom prst="rect">
            <a:avLst/>
          </a:prstGeom>
          <a:noFill/>
          <a:ln/>
        </p:spPr>
        <p:txBody>
          <a:bodyPr wrap="square" lIns="0" tIns="0" rIns="0" bIns="0" rtlCol="0" anchor="t"/>
          <a:lstStyle/>
          <a:p>
            <a:pPr indent="0" marL="0">
              <a:buNone/>
            </a:pPr>
            <a:r>
              <a:rPr lang="en-US" sz="1000" dirty="0">
                <a:solidFill>
                  <a:srgbClr val="525252"/>
                </a:solidFill>
              </a:rPr>
              <a:t>Arrival, departure, charger fault or trip change</a:t>
            </a:r>
            <a:endParaRPr lang="en-US" sz="1000" dirty="0"/>
          </a:p>
        </p:txBody>
      </p:sp>
      <p:sp>
        <p:nvSpPr>
          <p:cNvPr id="104" name="Shape 87"/>
          <p:cNvSpPr/>
          <p:nvPr/>
        </p:nvSpPr>
        <p:spPr>
          <a:xfrm>
            <a:off x="5175504" y="5120640"/>
            <a:ext cx="4142232" cy="1097280"/>
          </a:xfrm>
          <a:prstGeom prst="roundRect">
            <a:avLst>
              <a:gd name="adj" fmla="val 6667"/>
            </a:avLst>
          </a:prstGeom>
          <a:solidFill>
            <a:srgbClr val="FFFFFF"/>
          </a:solidFill>
          <a:ln w="9525">
            <a:solidFill>
              <a:srgbClr val="E0E0E0"/>
            </a:solidFill>
            <a:prstDash val="solid"/>
          </a:ln>
          <a:effectLst>
            <a:outerShdw sx="100000" sy="100000" kx="0" ky="0" algn="bl" rotWithShape="0" blurRad="177800" dist="38100" dir="5400000">
              <a:srgbClr val="0A1E4A">
                <a:alpha val="6000"/>
              </a:srgbClr>
            </a:outerShdw>
          </a:effectLst>
        </p:spPr>
      </p:sp>
      <p:sp>
        <p:nvSpPr>
          <p:cNvPr id="105" name="Shape 88"/>
          <p:cNvSpPr/>
          <p:nvPr/>
        </p:nvSpPr>
        <p:spPr>
          <a:xfrm>
            <a:off x="5358384" y="5266944"/>
            <a:ext cx="548640" cy="786384"/>
          </a:xfrm>
          <a:prstGeom prst="can">
            <a:avLst/>
          </a:prstGeom>
          <a:solidFill>
            <a:srgbClr val="0043CE"/>
          </a:solidFill>
          <a:ln/>
        </p:spPr>
      </p:sp>
      <p:sp>
        <p:nvSpPr>
          <p:cNvPr id="106" name="Text 89"/>
          <p:cNvSpPr txBox="1"/>
          <p:nvPr/>
        </p:nvSpPr>
        <p:spPr>
          <a:xfrm>
            <a:off x="6080760" y="5248656"/>
            <a:ext cx="3108960" cy="256032"/>
          </a:xfrm>
          <a:prstGeom prst="rect">
            <a:avLst/>
          </a:prstGeom>
          <a:noFill/>
          <a:ln/>
        </p:spPr>
        <p:txBody>
          <a:bodyPr wrap="square" lIns="0" tIns="0" rIns="0" bIns="0" rtlCol="0" anchor="t"/>
          <a:lstStyle/>
          <a:p>
            <a:pPr indent="0" marL="0">
              <a:buNone/>
            </a:pPr>
            <a:r>
              <a:rPr lang="en-US" sz="1200" dirty="0">
                <a:solidFill>
                  <a:srgbClr val="161616"/>
                </a:solidFill>
                <a:latin typeface="+mj-lt" pitchFamily="34" charset="0"/>
                <a:ea typeface="+mj-lt" pitchFamily="34" charset="-122"/>
                <a:cs typeface="+mj-lt" pitchFamily="34" charset="-120"/>
              </a:rPr>
              <a:t>PostgreSQL 16</a:t>
            </a:r>
            <a:endParaRPr lang="en-US" sz="1200" dirty="0"/>
          </a:p>
        </p:txBody>
      </p:sp>
      <p:sp>
        <p:nvSpPr>
          <p:cNvPr id="107" name="Text 90"/>
          <p:cNvSpPr txBox="1"/>
          <p:nvPr/>
        </p:nvSpPr>
        <p:spPr>
          <a:xfrm>
            <a:off x="6080760" y="5522976"/>
            <a:ext cx="3154680" cy="548640"/>
          </a:xfrm>
          <a:prstGeom prst="rect">
            <a:avLst/>
          </a:prstGeom>
          <a:noFill/>
          <a:ln/>
        </p:spPr>
        <p:txBody>
          <a:bodyPr wrap="square" lIns="0" tIns="0" rIns="0" bIns="0" rtlCol="0" anchor="t"/>
          <a:lstStyle/>
          <a:p>
            <a:pPr indent="0" marL="0">
              <a:buNone/>
            </a:pPr>
            <a:r>
              <a:rPr lang="en-US" sz="1000" dirty="0">
                <a:solidFill>
                  <a:srgbClr val="525252"/>
                </a:solidFill>
              </a:rPr>
              <a:t>15 entities · Alembic migrations</a:t>
            </a:r>
            <a:endParaRPr lang="en-US" sz="1000" dirty="0"/>
          </a:p>
          <a:p>
            <a:pPr indent="0" marL="0">
              <a:buNone/>
            </a:pPr>
            <a:r>
              <a:rPr lang="en-US" sz="1000" dirty="0">
                <a:solidFill>
                  <a:srgbClr val="525252"/>
                </a:solidFill>
              </a:rPr>
              <a:t>btree_gist exclusion: no double-booking</a:t>
            </a:r>
            <a:endParaRPr lang="en-US" sz="1000" dirty="0"/>
          </a:p>
        </p:txBody>
      </p:sp>
      <p:sp>
        <p:nvSpPr>
          <p:cNvPr id="108" name="Shape 91"/>
          <p:cNvSpPr/>
          <p:nvPr/>
        </p:nvSpPr>
        <p:spPr>
          <a:xfrm>
            <a:off x="9802368" y="5120640"/>
            <a:ext cx="1828800" cy="1097280"/>
          </a:xfrm>
          <a:prstGeom prst="roundRect">
            <a:avLst>
              <a:gd name="adj" fmla="val 6667"/>
            </a:avLst>
          </a:prstGeom>
          <a:solidFill>
            <a:srgbClr val="001141"/>
          </a:solidFill>
          <a:ln/>
        </p:spPr>
      </p:sp>
      <p:pic>
        <p:nvPicPr>
          <p:cNvPr id="109" name="Image 15" descr="preencoded.png">    </p:cNvPr>
          <p:cNvPicPr>
            <a:picLocks noChangeAspect="1"/>
          </p:cNvPicPr>
          <p:nvPr/>
        </p:nvPicPr>
        <p:blipFill>
          <a:blip r:embed="rId16"/>
          <a:stretch>
            <a:fillRect/>
          </a:stretch>
        </p:blipFill>
        <p:spPr>
          <a:xfrm>
            <a:off x="9948672" y="5248656"/>
            <a:ext cx="274320" cy="274320"/>
          </a:xfrm>
          <a:prstGeom prst="rect">
            <a:avLst/>
          </a:prstGeom>
        </p:spPr>
      </p:pic>
      <p:sp>
        <p:nvSpPr>
          <p:cNvPr id="110" name="Text 92"/>
          <p:cNvSpPr txBox="1"/>
          <p:nvPr/>
        </p:nvSpPr>
        <p:spPr>
          <a:xfrm>
            <a:off x="10277856" y="5248656"/>
            <a:ext cx="1325880" cy="274320"/>
          </a:xfrm>
          <a:prstGeom prst="rect">
            <a:avLst/>
          </a:prstGeom>
          <a:noFill/>
          <a:ln/>
        </p:spPr>
        <p:txBody>
          <a:bodyPr wrap="square" lIns="0" tIns="0" rIns="0" bIns="0" rtlCol="0" anchor="ctr"/>
          <a:lstStyle/>
          <a:p>
            <a:pPr indent="0" marL="0">
              <a:buNone/>
            </a:pPr>
            <a:r>
              <a:rPr lang="en-US" sz="1100" dirty="0">
                <a:solidFill>
                  <a:srgbClr val="FFFFFF"/>
                </a:solidFill>
                <a:latin typeface="+mj-lt" pitchFamily="34" charset="0"/>
                <a:ea typeface="+mj-lt" pitchFamily="34" charset="-122"/>
                <a:cs typeface="+mj-lt" pitchFamily="34" charset="-120"/>
              </a:rPr>
              <a:t>Docker Compose</a:t>
            </a:r>
            <a:endParaRPr lang="en-US" sz="1100" dirty="0"/>
          </a:p>
        </p:txBody>
      </p:sp>
      <p:sp>
        <p:nvSpPr>
          <p:cNvPr id="111" name="Text 93"/>
          <p:cNvSpPr txBox="1"/>
          <p:nvPr/>
        </p:nvSpPr>
        <p:spPr>
          <a:xfrm>
            <a:off x="9948672" y="5596128"/>
            <a:ext cx="1645920" cy="457200"/>
          </a:xfrm>
          <a:prstGeom prst="rect">
            <a:avLst/>
          </a:prstGeom>
          <a:noFill/>
          <a:ln/>
        </p:spPr>
        <p:txBody>
          <a:bodyPr wrap="square" lIns="0" tIns="0" rIns="0" bIns="0" rtlCol="0" anchor="t"/>
          <a:lstStyle/>
          <a:p>
            <a:pPr indent="0" marL="0">
              <a:buNone/>
            </a:pPr>
            <a:r>
              <a:rPr lang="en-US" sz="1000" dirty="0">
                <a:solidFill>
                  <a:srgbClr val="A6C8FF"/>
                </a:solidFill>
              </a:rPr>
              <a:t>frontend · backend · db</a:t>
            </a:r>
            <a:endParaRPr lang="en-US" sz="1000" dirty="0"/>
          </a:p>
          <a:p>
            <a:pPr indent="0" marL="0">
              <a:buNone/>
            </a:pPr>
            <a:r>
              <a:rPr lang="en-US" sz="1000" dirty="0">
                <a:solidFill>
                  <a:srgbClr val="A6C8FF"/>
                </a:solidFill>
              </a:rPr>
              <a:t>+ OCPP emulator</a:t>
            </a:r>
            <a:endParaRPr lang="en-US" sz="1000" dirty="0"/>
          </a:p>
        </p:txBody>
      </p:sp>
      <p:sp>
        <p:nvSpPr>
          <p:cNvPr id="25" name="Slide Number Placeholder 0"/>
          <p:cNvSpPr>
            <a:spLocks noGrp="1"/>
          </p:cNvSpPr>
          <p:nvPr>
            <p:ph type="sldNum" sz="quarter" idx="4294967295"/>
          </p:nvPr>
        </p:nvSpPr>
        <p:spPr>
          <a:xfrm>
            <a:off x="11274552" y="6419088"/>
            <a:ext cx="36576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8D8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7315200" cy="237744"/>
          </a:xfrm>
          <a:prstGeom prst="rect">
            <a:avLst/>
          </a:prstGeom>
          <a:noFill/>
          <a:ln/>
        </p:spPr>
        <p:txBody>
          <a:bodyPr wrap="square" lIns="0" tIns="0" rIns="0" bIns="0" rtlCol="0" anchor="t"/>
          <a:lstStyle/>
          <a:p>
            <a:pPr indent="0" marL="0">
              <a:buNone/>
            </a:pPr>
            <a:r>
              <a:rPr lang="en-US" sz="1050" spc="200" kern="0" dirty="0">
                <a:solidFill>
                  <a:srgbClr val="33B1FF"/>
                </a:solidFill>
                <a:latin typeface="Consolas" pitchFamily="34" charset="0"/>
                <a:ea typeface="Consolas" pitchFamily="34" charset="-122"/>
                <a:cs typeface="Consolas" pitchFamily="34" charset="-120"/>
              </a:rPr>
              <a:t>05  ·  IBM TECHNOLOGY INTEGRATION</a:t>
            </a:r>
            <a:endParaRPr lang="en-US" sz="1050" dirty="0"/>
          </a:p>
        </p:txBody>
      </p:sp>
      <p:sp>
        <p:nvSpPr>
          <p:cNvPr id="3" name="Text 1"/>
          <p:cNvSpPr/>
          <p:nvPr>
            <p:ph idx="102" type="title" hasCustomPrompt="1"/>
          </p:nvPr>
        </p:nvSpPr>
        <p:spPr>
          <a:xfrm>
            <a:off x="548640" y="640080"/>
            <a:ext cx="11091672" cy="548640"/>
          </a:xfrm>
          <a:prstGeom prst="rect">
            <a:avLst/>
          </a:prstGeom>
          <a:noFill/>
          <a:ln/>
        </p:spPr>
        <p:txBody>
          <a:bodyPr wrap="square" lIns="0" tIns="0" rIns="0" bIns="0" rtlCol="0" anchor="t"/>
          <a:lstStyle/>
          <a:p>
            <a:pPr indent="0" marL="0">
              <a:buNone/>
            </a:pPr>
            <a:r>
              <a:rPr lang="en-US" sz="2600" dirty="0">
                <a:solidFill>
                  <a:srgbClr val="FFFFFF"/>
                </a:solidFill>
              </a:rPr>
              <a:t>IBM Bob builds the engine; watsonx makes it conversational</a:t>
            </a:r>
            <a:endParaRPr lang="en-US" sz="2600" dirty="0"/>
          </a:p>
        </p:txBody>
      </p:sp>
      <p:sp>
        <p:nvSpPr>
          <p:cNvPr id="4" name="Text 1"/>
          <p:cNvSpPr/>
          <p:nvPr>
            <p:ph idx="103" type="body" hasCustomPrompt="1"/>
          </p:nvPr>
        </p:nvSpPr>
        <p:spPr>
          <a:xfrm>
            <a:off x="548640" y="1188720"/>
            <a:ext cx="11091672" cy="310896"/>
          </a:xfrm>
          <a:prstGeom prst="rect">
            <a:avLst/>
          </a:prstGeom>
          <a:noFill/>
          <a:ln/>
        </p:spPr>
        <p:txBody>
          <a:bodyPr wrap="square" lIns="0" tIns="0" rIns="0" bIns="0" rtlCol="0" anchor="t"/>
          <a:lstStyle/>
          <a:p>
            <a:pPr indent="0" marL="0">
              <a:buNone/>
            </a:pPr>
            <a:r>
              <a:rPr lang="en-US" sz="1400" dirty="0">
                <a:solidFill>
                  <a:srgbClr val="A6C8FF"/>
                </a:solidFill>
              </a:rPr>
              <a:t>Bob is our AI engineering partner today. watsonx is the intelligence layer designed for next: AI advises, rules decide.</a:t>
            </a:r>
            <a:endParaRPr lang="en-US" sz="1400" dirty="0"/>
          </a:p>
        </p:txBody>
      </p:sp>
      <p:sp>
        <p:nvSpPr>
          <p:cNvPr id="5" name="Shape 3"/>
          <p:cNvSpPr/>
          <p:nvPr/>
        </p:nvSpPr>
        <p:spPr>
          <a:xfrm>
            <a:off x="548640" y="1783080"/>
            <a:ext cx="5074920" cy="3931920"/>
          </a:xfrm>
          <a:prstGeom prst="roundRect">
            <a:avLst>
              <a:gd name="adj" fmla="val 2326"/>
            </a:avLst>
          </a:prstGeom>
          <a:solidFill>
            <a:srgbClr val="FFFFFF">
              <a:alpha val="9000"/>
            </a:srgbClr>
          </a:solidFill>
          <a:ln w="9525">
            <a:solidFill>
              <a:srgbClr val="FFFFFF">
                <a:alpha val="22000"/>
              </a:srgbClr>
            </a:solidFill>
            <a:prstDash val="solid"/>
          </a:ln>
        </p:spPr>
      </p:sp>
      <p:sp>
        <p:nvSpPr>
          <p:cNvPr id="6" name="Shape 4"/>
          <p:cNvSpPr/>
          <p:nvPr/>
        </p:nvSpPr>
        <p:spPr>
          <a:xfrm>
            <a:off x="749808" y="1956816"/>
            <a:ext cx="457200" cy="457200"/>
          </a:xfrm>
          <a:prstGeom prst="roundRect">
            <a:avLst>
              <a:gd name="adj" fmla="val 22000"/>
            </a:avLst>
          </a:prstGeom>
          <a:solidFill>
            <a:srgbClr val="0F62FE"/>
          </a:solidFill>
          <a:ln/>
        </p:spPr>
      </p:sp>
      <p:pic>
        <p:nvPicPr>
          <p:cNvPr id="7" name="Image 0" descr="preencoded.png">    </p:cNvPr>
          <p:cNvPicPr>
            <a:picLocks noChangeAspect="1"/>
          </p:cNvPicPr>
          <p:nvPr/>
        </p:nvPicPr>
        <p:blipFill>
          <a:blip r:embed="rId1"/>
          <a:stretch>
            <a:fillRect/>
          </a:stretch>
        </p:blipFill>
        <p:spPr>
          <a:xfrm>
            <a:off x="845820" y="2052828"/>
            <a:ext cx="265176" cy="265176"/>
          </a:xfrm>
          <a:prstGeom prst="rect">
            <a:avLst/>
          </a:prstGeom>
        </p:spPr>
      </p:pic>
      <p:sp>
        <p:nvSpPr>
          <p:cNvPr id="8" name="Text 5"/>
          <p:cNvSpPr txBox="1"/>
          <p:nvPr/>
        </p:nvSpPr>
        <p:spPr>
          <a:xfrm>
            <a:off x="1335024" y="1920240"/>
            <a:ext cx="2286000" cy="292608"/>
          </a:xfrm>
          <a:prstGeom prst="rect">
            <a:avLst/>
          </a:prstGeom>
          <a:noFill/>
          <a:ln/>
        </p:spPr>
        <p:txBody>
          <a:bodyPr wrap="square" lIns="0" tIns="0" rIns="0" bIns="0" rtlCol="0" anchor="t"/>
          <a:lstStyle/>
          <a:p>
            <a:pPr indent="0" marL="0">
              <a:buNone/>
            </a:pPr>
            <a:r>
              <a:rPr lang="en-US" sz="1600" dirty="0">
                <a:solidFill>
                  <a:srgbClr val="FFFFFF"/>
                </a:solidFill>
                <a:latin typeface="+mj-lt" pitchFamily="34" charset="0"/>
                <a:ea typeface="+mj-lt" pitchFamily="34" charset="-122"/>
                <a:cs typeface="+mj-lt" pitchFamily="34" charset="-120"/>
              </a:rPr>
              <a:t>IBM Bob</a:t>
            </a:r>
            <a:endParaRPr lang="en-US" sz="1600" dirty="0"/>
          </a:p>
        </p:txBody>
      </p:sp>
      <p:sp>
        <p:nvSpPr>
          <p:cNvPr id="9" name="Text 6"/>
          <p:cNvSpPr txBox="1"/>
          <p:nvPr/>
        </p:nvSpPr>
        <p:spPr>
          <a:xfrm>
            <a:off x="1335024" y="2194560"/>
            <a:ext cx="2926080" cy="219456"/>
          </a:xfrm>
          <a:prstGeom prst="rect">
            <a:avLst/>
          </a:prstGeom>
          <a:noFill/>
          <a:ln/>
        </p:spPr>
        <p:txBody>
          <a:bodyPr wrap="square" lIns="0" tIns="0" rIns="0" bIns="0" rtlCol="0" anchor="t"/>
          <a:lstStyle/>
          <a:p>
            <a:pPr indent="0" marL="0">
              <a:buNone/>
            </a:pPr>
            <a:r>
              <a:rPr lang="en-US" sz="1050" dirty="0">
                <a:solidFill>
                  <a:srgbClr val="A6C8FF"/>
                </a:solidFill>
              </a:rPr>
              <a:t>AI SDLC partner across the build</a:t>
            </a:r>
            <a:endParaRPr lang="en-US" sz="1050" dirty="0"/>
          </a:p>
        </p:txBody>
      </p:sp>
      <p:sp>
        <p:nvSpPr>
          <p:cNvPr id="10" name="Shape 7"/>
          <p:cNvSpPr/>
          <p:nvPr/>
        </p:nvSpPr>
        <p:spPr>
          <a:xfrm>
            <a:off x="4553712" y="2029968"/>
            <a:ext cx="868680" cy="274320"/>
          </a:xfrm>
          <a:prstGeom prst="roundRect">
            <a:avLst>
              <a:gd name="adj" fmla="val 50000"/>
            </a:avLst>
          </a:prstGeom>
          <a:solidFill>
            <a:srgbClr val="24A148"/>
          </a:solidFill>
          <a:ln/>
        </p:spPr>
      </p:sp>
      <p:sp>
        <p:nvSpPr>
          <p:cNvPr id="11" name="Text 8"/>
          <p:cNvSpPr txBox="1"/>
          <p:nvPr/>
        </p:nvSpPr>
        <p:spPr>
          <a:xfrm>
            <a:off x="4553712" y="2029968"/>
            <a:ext cx="868680" cy="274320"/>
          </a:xfrm>
          <a:prstGeom prst="rect">
            <a:avLst/>
          </a:prstGeom>
          <a:noFill/>
          <a:ln/>
        </p:spPr>
        <p:txBody>
          <a:bodyPr wrap="square" lIns="0" tIns="0" rIns="0" bIns="0" rtlCol="0" anchor="ctr"/>
          <a:lstStyle/>
          <a:p>
            <a:pPr algn="ctr" indent="0" marL="0">
              <a:buNone/>
            </a:pPr>
            <a:r>
              <a:rPr lang="en-US" sz="950" b="1" spc="120" kern="0" dirty="0">
                <a:solidFill>
                  <a:srgbClr val="FFFFFF"/>
                </a:solidFill>
                <a:latin typeface="Consolas" pitchFamily="34" charset="0"/>
                <a:ea typeface="Consolas" pitchFamily="34" charset="-122"/>
                <a:cs typeface="Consolas" pitchFamily="34" charset="-120"/>
              </a:rPr>
              <a:t>IN USE</a:t>
            </a:r>
            <a:endParaRPr lang="en-US" sz="950" dirty="0"/>
          </a:p>
        </p:txBody>
      </p:sp>
      <p:sp>
        <p:nvSpPr>
          <p:cNvPr id="12" name="Shape 9"/>
          <p:cNvSpPr/>
          <p:nvPr/>
        </p:nvSpPr>
        <p:spPr>
          <a:xfrm>
            <a:off x="749808" y="2633472"/>
            <a:ext cx="2286000" cy="877824"/>
          </a:xfrm>
          <a:prstGeom prst="roundRect">
            <a:avLst>
              <a:gd name="adj" fmla="val 8333"/>
            </a:avLst>
          </a:prstGeom>
          <a:solidFill>
            <a:srgbClr val="FFFFFF">
              <a:alpha val="8000"/>
            </a:srgbClr>
          </a:solidFill>
          <a:ln/>
        </p:spPr>
      </p:sp>
      <p:sp>
        <p:nvSpPr>
          <p:cNvPr id="13" name="Text 10"/>
          <p:cNvSpPr txBox="1"/>
          <p:nvPr/>
        </p:nvSpPr>
        <p:spPr>
          <a:xfrm>
            <a:off x="896112" y="2743200"/>
            <a:ext cx="2011680" cy="201168"/>
          </a:xfrm>
          <a:prstGeom prst="rect">
            <a:avLst/>
          </a:prstGeom>
          <a:noFill/>
          <a:ln/>
        </p:spPr>
        <p:txBody>
          <a:bodyPr wrap="square" lIns="0" tIns="0" rIns="0" bIns="0" rtlCol="0" anchor="t"/>
          <a:lstStyle/>
          <a:p>
            <a:pPr indent="0" marL="0">
              <a:buNone/>
            </a:pPr>
            <a:r>
              <a:rPr lang="en-US" sz="950" b="1" spc="100" kern="0" dirty="0">
                <a:solidFill>
                  <a:srgbClr val="33B1FF"/>
                </a:solidFill>
                <a:latin typeface="Consolas" pitchFamily="34" charset="0"/>
                <a:ea typeface="Consolas" pitchFamily="34" charset="-122"/>
                <a:cs typeface="Consolas" pitchFamily="34" charset="-120"/>
              </a:rPr>
              <a:t>01  PLAN MODE</a:t>
            </a:r>
            <a:endParaRPr lang="en-US" sz="950" dirty="0"/>
          </a:p>
        </p:txBody>
      </p:sp>
      <p:sp>
        <p:nvSpPr>
          <p:cNvPr id="14" name="Text 11"/>
          <p:cNvSpPr txBox="1"/>
          <p:nvPr/>
        </p:nvSpPr>
        <p:spPr>
          <a:xfrm>
            <a:off x="896112" y="2999232"/>
            <a:ext cx="2057400" cy="420624"/>
          </a:xfrm>
          <a:prstGeom prst="rect">
            <a:avLst/>
          </a:prstGeom>
          <a:noFill/>
          <a:ln/>
        </p:spPr>
        <p:txBody>
          <a:bodyPr wrap="square" lIns="0" tIns="0" rIns="0" bIns="0" rtlCol="0" anchor="t"/>
          <a:lstStyle/>
          <a:p>
            <a:pPr indent="0" marL="0">
              <a:buNone/>
            </a:pPr>
            <a:r>
              <a:rPr lang="en-US" sz="1050" dirty="0">
                <a:solidFill>
                  <a:srgbClr val="FFFFFF"/>
                </a:solidFill>
              </a:rPr>
              <a:t>PRD → 11 modules and a</a:t>
            </a:r>
            <a:endParaRPr lang="en-US" sz="1050" dirty="0"/>
          </a:p>
          <a:p>
            <a:pPr indent="0" marL="0">
              <a:buNone/>
            </a:pPr>
            <a:r>
              <a:rPr lang="en-US" sz="1050" dirty="0">
                <a:solidFill>
                  <a:srgbClr val="FFFFFF"/>
                </a:solidFill>
              </a:rPr>
              <a:t>15-entity data model</a:t>
            </a:r>
            <a:endParaRPr lang="en-US" sz="1050" dirty="0"/>
          </a:p>
        </p:txBody>
      </p:sp>
      <p:sp>
        <p:nvSpPr>
          <p:cNvPr id="15" name="Shape 12"/>
          <p:cNvSpPr/>
          <p:nvPr/>
        </p:nvSpPr>
        <p:spPr>
          <a:xfrm>
            <a:off x="3145536" y="2633472"/>
            <a:ext cx="2286000" cy="877824"/>
          </a:xfrm>
          <a:prstGeom prst="roundRect">
            <a:avLst>
              <a:gd name="adj" fmla="val 8333"/>
            </a:avLst>
          </a:prstGeom>
          <a:solidFill>
            <a:srgbClr val="FFFFFF">
              <a:alpha val="8000"/>
            </a:srgbClr>
          </a:solidFill>
          <a:ln/>
        </p:spPr>
      </p:sp>
      <p:sp>
        <p:nvSpPr>
          <p:cNvPr id="16" name="Text 13"/>
          <p:cNvSpPr txBox="1"/>
          <p:nvPr/>
        </p:nvSpPr>
        <p:spPr>
          <a:xfrm>
            <a:off x="3291840" y="2743200"/>
            <a:ext cx="2011680" cy="201168"/>
          </a:xfrm>
          <a:prstGeom prst="rect">
            <a:avLst/>
          </a:prstGeom>
          <a:noFill/>
          <a:ln/>
        </p:spPr>
        <p:txBody>
          <a:bodyPr wrap="square" lIns="0" tIns="0" rIns="0" bIns="0" rtlCol="0" anchor="t"/>
          <a:lstStyle/>
          <a:p>
            <a:pPr indent="0" marL="0">
              <a:buNone/>
            </a:pPr>
            <a:r>
              <a:rPr lang="en-US" sz="950" b="1" spc="100" kern="0" dirty="0">
                <a:solidFill>
                  <a:srgbClr val="33B1FF"/>
                </a:solidFill>
                <a:latin typeface="Consolas" pitchFamily="34" charset="0"/>
                <a:ea typeface="Consolas" pitchFamily="34" charset="-122"/>
                <a:cs typeface="Consolas" pitchFamily="34" charset="-120"/>
              </a:rPr>
              <a:t>02  AGENT MODE</a:t>
            </a:r>
            <a:endParaRPr lang="en-US" sz="950" dirty="0"/>
          </a:p>
        </p:txBody>
      </p:sp>
      <p:sp>
        <p:nvSpPr>
          <p:cNvPr id="17" name="Text 14"/>
          <p:cNvSpPr txBox="1"/>
          <p:nvPr/>
        </p:nvSpPr>
        <p:spPr>
          <a:xfrm>
            <a:off x="3291840" y="2999232"/>
            <a:ext cx="2057400" cy="420624"/>
          </a:xfrm>
          <a:prstGeom prst="rect">
            <a:avLst/>
          </a:prstGeom>
          <a:noFill/>
          <a:ln/>
        </p:spPr>
        <p:txBody>
          <a:bodyPr wrap="square" lIns="0" tIns="0" rIns="0" bIns="0" rtlCol="0" anchor="t"/>
          <a:lstStyle/>
          <a:p>
            <a:pPr indent="0" marL="0">
              <a:buNone/>
            </a:pPr>
            <a:r>
              <a:rPr lang="en-US" sz="1050" dirty="0">
                <a:solidFill>
                  <a:srgbClr val="FFFFFF"/>
                </a:solidFill>
              </a:rPr>
              <a:t>Built the rule engine,</a:t>
            </a:r>
            <a:endParaRPr lang="en-US" sz="1050" dirty="0"/>
          </a:p>
          <a:p>
            <a:pPr indent="0" marL="0">
              <a:buNone/>
            </a:pPr>
            <a:r>
              <a:rPr lang="en-US" sz="1050" dirty="0">
                <a:solidFill>
                  <a:srgbClr val="FFFFFF"/>
                </a:solidFill>
              </a:rPr>
              <a:t>REST API and React UI</a:t>
            </a:r>
            <a:endParaRPr lang="en-US" sz="1050" dirty="0"/>
          </a:p>
        </p:txBody>
      </p:sp>
      <p:sp>
        <p:nvSpPr>
          <p:cNvPr id="18" name="Shape 15"/>
          <p:cNvSpPr/>
          <p:nvPr/>
        </p:nvSpPr>
        <p:spPr>
          <a:xfrm>
            <a:off x="749808" y="3639312"/>
            <a:ext cx="2286000" cy="877824"/>
          </a:xfrm>
          <a:prstGeom prst="roundRect">
            <a:avLst>
              <a:gd name="adj" fmla="val 8333"/>
            </a:avLst>
          </a:prstGeom>
          <a:solidFill>
            <a:srgbClr val="FFFFFF">
              <a:alpha val="8000"/>
            </a:srgbClr>
          </a:solidFill>
          <a:ln/>
        </p:spPr>
      </p:sp>
      <p:sp>
        <p:nvSpPr>
          <p:cNvPr id="19" name="Text 16"/>
          <p:cNvSpPr txBox="1"/>
          <p:nvPr/>
        </p:nvSpPr>
        <p:spPr>
          <a:xfrm>
            <a:off x="896112" y="3749040"/>
            <a:ext cx="2011680" cy="201168"/>
          </a:xfrm>
          <a:prstGeom prst="rect">
            <a:avLst/>
          </a:prstGeom>
          <a:noFill/>
          <a:ln/>
        </p:spPr>
        <p:txBody>
          <a:bodyPr wrap="square" lIns="0" tIns="0" rIns="0" bIns="0" rtlCol="0" anchor="t"/>
          <a:lstStyle/>
          <a:p>
            <a:pPr indent="0" marL="0">
              <a:buNone/>
            </a:pPr>
            <a:r>
              <a:rPr lang="en-US" sz="950" b="1" spc="100" kern="0" dirty="0">
                <a:solidFill>
                  <a:srgbClr val="33B1FF"/>
                </a:solidFill>
                <a:latin typeface="Consolas" pitchFamily="34" charset="0"/>
                <a:ea typeface="Consolas" pitchFamily="34" charset="-122"/>
                <a:cs typeface="Consolas" pitchFamily="34" charset="-120"/>
              </a:rPr>
              <a:t>03  ASK MODE</a:t>
            </a:r>
            <a:endParaRPr lang="en-US" sz="950" dirty="0"/>
          </a:p>
        </p:txBody>
      </p:sp>
      <p:sp>
        <p:nvSpPr>
          <p:cNvPr id="20" name="Text 17"/>
          <p:cNvSpPr txBox="1"/>
          <p:nvPr/>
        </p:nvSpPr>
        <p:spPr>
          <a:xfrm>
            <a:off x="896112" y="4005072"/>
            <a:ext cx="2057400" cy="420624"/>
          </a:xfrm>
          <a:prstGeom prst="rect">
            <a:avLst/>
          </a:prstGeom>
          <a:noFill/>
          <a:ln/>
        </p:spPr>
        <p:txBody>
          <a:bodyPr wrap="square" lIns="0" tIns="0" rIns="0" bIns="0" rtlCol="0" anchor="t"/>
          <a:lstStyle/>
          <a:p>
            <a:pPr indent="0" marL="0">
              <a:buNone/>
            </a:pPr>
            <a:r>
              <a:rPr lang="en-US" sz="1050" dirty="0">
                <a:solidFill>
                  <a:srgbClr val="FFFFFF"/>
                </a:solidFill>
              </a:rPr>
              <a:t>Traced rule paths R1–R8</a:t>
            </a:r>
            <a:endParaRPr lang="en-US" sz="1050" dirty="0"/>
          </a:p>
          <a:p>
            <a:pPr indent="0" marL="0">
              <a:buNone/>
            </a:pPr>
            <a:r>
              <a:rPr lang="en-US" sz="1050" dirty="0">
                <a:solidFill>
                  <a:srgbClr val="FFFFFF"/>
                </a:solidFill>
              </a:rPr>
              <a:t>across the codebase</a:t>
            </a:r>
            <a:endParaRPr lang="en-US" sz="1050" dirty="0"/>
          </a:p>
        </p:txBody>
      </p:sp>
      <p:sp>
        <p:nvSpPr>
          <p:cNvPr id="21" name="Shape 18"/>
          <p:cNvSpPr/>
          <p:nvPr/>
        </p:nvSpPr>
        <p:spPr>
          <a:xfrm>
            <a:off x="3145536" y="3639312"/>
            <a:ext cx="2286000" cy="877824"/>
          </a:xfrm>
          <a:prstGeom prst="roundRect">
            <a:avLst>
              <a:gd name="adj" fmla="val 8333"/>
            </a:avLst>
          </a:prstGeom>
          <a:solidFill>
            <a:srgbClr val="FFFFFF">
              <a:alpha val="8000"/>
            </a:srgbClr>
          </a:solidFill>
          <a:ln/>
        </p:spPr>
      </p:sp>
      <p:sp>
        <p:nvSpPr>
          <p:cNvPr id="22" name="Text 19"/>
          <p:cNvSpPr txBox="1"/>
          <p:nvPr/>
        </p:nvSpPr>
        <p:spPr>
          <a:xfrm>
            <a:off x="3291840" y="3749040"/>
            <a:ext cx="2011680" cy="201168"/>
          </a:xfrm>
          <a:prstGeom prst="rect">
            <a:avLst/>
          </a:prstGeom>
          <a:noFill/>
          <a:ln/>
        </p:spPr>
        <p:txBody>
          <a:bodyPr wrap="square" lIns="0" tIns="0" rIns="0" bIns="0" rtlCol="0" anchor="t"/>
          <a:lstStyle/>
          <a:p>
            <a:pPr indent="0" marL="0">
              <a:buNone/>
            </a:pPr>
            <a:r>
              <a:rPr lang="en-US" sz="950" b="1" spc="100" kern="0" dirty="0">
                <a:solidFill>
                  <a:srgbClr val="33B1FF"/>
                </a:solidFill>
                <a:latin typeface="Consolas" pitchFamily="34" charset="0"/>
                <a:ea typeface="Consolas" pitchFamily="34" charset="-122"/>
                <a:cs typeface="Consolas" pitchFamily="34" charset="-120"/>
              </a:rPr>
              <a:t>04  /REVIEW</a:t>
            </a:r>
            <a:endParaRPr lang="en-US" sz="950" dirty="0"/>
          </a:p>
        </p:txBody>
      </p:sp>
      <p:sp>
        <p:nvSpPr>
          <p:cNvPr id="23" name="Text 20"/>
          <p:cNvSpPr txBox="1"/>
          <p:nvPr/>
        </p:nvSpPr>
        <p:spPr>
          <a:xfrm>
            <a:off x="3291840" y="4005072"/>
            <a:ext cx="2057400" cy="420624"/>
          </a:xfrm>
          <a:prstGeom prst="rect">
            <a:avLst/>
          </a:prstGeom>
          <a:noFill/>
          <a:ln/>
        </p:spPr>
        <p:txBody>
          <a:bodyPr wrap="square" lIns="0" tIns="0" rIns="0" bIns="0" rtlCol="0" anchor="t"/>
          <a:lstStyle/>
          <a:p>
            <a:pPr indent="0" marL="0">
              <a:buNone/>
            </a:pPr>
            <a:r>
              <a:rPr lang="en-US" sz="1050" dirty="0">
                <a:solidFill>
                  <a:srgbClr val="FFFFFF"/>
                </a:solidFill>
              </a:rPr>
              <a:t>Reviewed every diff,</a:t>
            </a:r>
            <a:endParaRPr lang="en-US" sz="1050" dirty="0"/>
          </a:p>
          <a:p>
            <a:pPr indent="0" marL="0">
              <a:buNone/>
            </a:pPr>
            <a:r>
              <a:rPr lang="en-US" sz="1050" dirty="0">
                <a:solidFill>
                  <a:srgbClr val="FFFFFF"/>
                </a:solidFill>
              </a:rPr>
              <a:t>one-click fixes accepted</a:t>
            </a:r>
            <a:endParaRPr lang="en-US" sz="1050" dirty="0"/>
          </a:p>
        </p:txBody>
      </p:sp>
      <p:sp>
        <p:nvSpPr>
          <p:cNvPr id="24" name="Shape 21"/>
          <p:cNvSpPr/>
          <p:nvPr/>
        </p:nvSpPr>
        <p:spPr>
          <a:xfrm>
            <a:off x="749808" y="4645152"/>
            <a:ext cx="2286000" cy="877824"/>
          </a:xfrm>
          <a:prstGeom prst="roundRect">
            <a:avLst>
              <a:gd name="adj" fmla="val 8333"/>
            </a:avLst>
          </a:prstGeom>
          <a:solidFill>
            <a:srgbClr val="FFFFFF">
              <a:alpha val="8000"/>
            </a:srgbClr>
          </a:solidFill>
          <a:ln/>
        </p:spPr>
      </p:sp>
      <p:sp>
        <p:nvSpPr>
          <p:cNvPr id="25" name="Text 22"/>
          <p:cNvSpPr txBox="1"/>
          <p:nvPr/>
        </p:nvSpPr>
        <p:spPr>
          <a:xfrm>
            <a:off x="896112" y="4754880"/>
            <a:ext cx="2011680" cy="201168"/>
          </a:xfrm>
          <a:prstGeom prst="rect">
            <a:avLst/>
          </a:prstGeom>
          <a:noFill/>
          <a:ln/>
        </p:spPr>
        <p:txBody>
          <a:bodyPr wrap="square" lIns="0" tIns="0" rIns="0" bIns="0" rtlCol="0" anchor="t"/>
          <a:lstStyle/>
          <a:p>
            <a:pPr indent="0" marL="0">
              <a:buNone/>
            </a:pPr>
            <a:r>
              <a:rPr lang="en-US" sz="950" b="1" spc="100" kern="0" dirty="0">
                <a:solidFill>
                  <a:srgbClr val="33B1FF"/>
                </a:solidFill>
                <a:latin typeface="Consolas" pitchFamily="34" charset="0"/>
                <a:ea typeface="Consolas" pitchFamily="34" charset="-122"/>
                <a:cs typeface="Consolas" pitchFamily="34" charset="-120"/>
              </a:rPr>
              <a:t>05  /ERD</a:t>
            </a:r>
            <a:endParaRPr lang="en-US" sz="950" dirty="0"/>
          </a:p>
        </p:txBody>
      </p:sp>
      <p:sp>
        <p:nvSpPr>
          <p:cNvPr id="26" name="Text 23"/>
          <p:cNvSpPr txBox="1"/>
          <p:nvPr/>
        </p:nvSpPr>
        <p:spPr>
          <a:xfrm>
            <a:off x="896112" y="5010912"/>
            <a:ext cx="2057400" cy="420624"/>
          </a:xfrm>
          <a:prstGeom prst="rect">
            <a:avLst/>
          </a:prstGeom>
          <a:noFill/>
          <a:ln/>
        </p:spPr>
        <p:txBody>
          <a:bodyPr wrap="square" lIns="0" tIns="0" rIns="0" bIns="0" rtlCol="0" anchor="t"/>
          <a:lstStyle/>
          <a:p>
            <a:pPr indent="0" marL="0">
              <a:buNone/>
            </a:pPr>
            <a:r>
              <a:rPr lang="en-US" sz="1050" dirty="0">
                <a:solidFill>
                  <a:srgbClr val="FFFFFF"/>
                </a:solidFill>
              </a:rPr>
              <a:t>Generated the entity-</a:t>
            </a:r>
            <a:endParaRPr lang="en-US" sz="1050" dirty="0"/>
          </a:p>
          <a:p>
            <a:pPr indent="0" marL="0">
              <a:buNone/>
            </a:pPr>
            <a:r>
              <a:rPr lang="en-US" sz="1050" dirty="0">
                <a:solidFill>
                  <a:srgbClr val="FFFFFF"/>
                </a:solidFill>
              </a:rPr>
              <a:t>relationship diagram</a:t>
            </a:r>
            <a:endParaRPr lang="en-US" sz="1050" dirty="0"/>
          </a:p>
        </p:txBody>
      </p:sp>
      <p:sp>
        <p:nvSpPr>
          <p:cNvPr id="27" name="Shape 24"/>
          <p:cNvSpPr/>
          <p:nvPr/>
        </p:nvSpPr>
        <p:spPr>
          <a:xfrm>
            <a:off x="3145536" y="4645152"/>
            <a:ext cx="2286000" cy="877824"/>
          </a:xfrm>
          <a:prstGeom prst="roundRect">
            <a:avLst>
              <a:gd name="adj" fmla="val 8333"/>
            </a:avLst>
          </a:prstGeom>
          <a:solidFill>
            <a:srgbClr val="FFFFFF">
              <a:alpha val="8000"/>
            </a:srgbClr>
          </a:solidFill>
          <a:ln/>
        </p:spPr>
      </p:sp>
      <p:sp>
        <p:nvSpPr>
          <p:cNvPr id="28" name="Text 25"/>
          <p:cNvSpPr txBox="1"/>
          <p:nvPr/>
        </p:nvSpPr>
        <p:spPr>
          <a:xfrm>
            <a:off x="3291840" y="4754880"/>
            <a:ext cx="2011680" cy="201168"/>
          </a:xfrm>
          <a:prstGeom prst="rect">
            <a:avLst/>
          </a:prstGeom>
          <a:noFill/>
          <a:ln/>
        </p:spPr>
        <p:txBody>
          <a:bodyPr wrap="square" lIns="0" tIns="0" rIns="0" bIns="0" rtlCol="0" anchor="t"/>
          <a:lstStyle/>
          <a:p>
            <a:pPr indent="0" marL="0">
              <a:buNone/>
            </a:pPr>
            <a:r>
              <a:rPr lang="en-US" sz="950" b="1" spc="100" kern="0" dirty="0">
                <a:solidFill>
                  <a:srgbClr val="33B1FF"/>
                </a:solidFill>
                <a:latin typeface="Consolas" pitchFamily="34" charset="0"/>
                <a:ea typeface="Consolas" pitchFamily="34" charset="-122"/>
                <a:cs typeface="Consolas" pitchFamily="34" charset="-120"/>
              </a:rPr>
              <a:t>06  BOB SHELL</a:t>
            </a:r>
            <a:endParaRPr lang="en-US" sz="950" dirty="0"/>
          </a:p>
        </p:txBody>
      </p:sp>
      <p:sp>
        <p:nvSpPr>
          <p:cNvPr id="29" name="Text 26"/>
          <p:cNvSpPr txBox="1"/>
          <p:nvPr/>
        </p:nvSpPr>
        <p:spPr>
          <a:xfrm>
            <a:off x="3291840" y="5010912"/>
            <a:ext cx="2057400" cy="420624"/>
          </a:xfrm>
          <a:prstGeom prst="rect">
            <a:avLst/>
          </a:prstGeom>
          <a:noFill/>
          <a:ln/>
        </p:spPr>
        <p:txBody>
          <a:bodyPr wrap="square" lIns="0" tIns="0" rIns="0" bIns="0" rtlCol="0" anchor="t"/>
          <a:lstStyle/>
          <a:p>
            <a:pPr indent="0" marL="0">
              <a:buNone/>
            </a:pPr>
            <a:r>
              <a:rPr lang="en-US" sz="1050" dirty="0">
                <a:solidFill>
                  <a:srgbClr val="FFFFFF"/>
                </a:solidFill>
              </a:rPr>
              <a:t>Ran Docker, Alembic and</a:t>
            </a:r>
            <a:endParaRPr lang="en-US" sz="1050" dirty="0"/>
          </a:p>
          <a:p>
            <a:pPr indent="0" marL="0">
              <a:buNone/>
            </a:pPr>
            <a:r>
              <a:rPr lang="en-US" sz="1050" dirty="0">
                <a:solidFill>
                  <a:srgbClr val="FFFFFF"/>
                </a:solidFill>
              </a:rPr>
              <a:t>34 backend tests</a:t>
            </a:r>
            <a:endParaRPr lang="en-US" sz="1050" dirty="0"/>
          </a:p>
        </p:txBody>
      </p:sp>
      <p:sp>
        <p:nvSpPr>
          <p:cNvPr id="30" name="Shape 27"/>
          <p:cNvSpPr/>
          <p:nvPr/>
        </p:nvSpPr>
        <p:spPr>
          <a:xfrm>
            <a:off x="5852160" y="1783080"/>
            <a:ext cx="5788152" cy="3931920"/>
          </a:xfrm>
          <a:prstGeom prst="roundRect">
            <a:avLst>
              <a:gd name="adj" fmla="val 2326"/>
            </a:avLst>
          </a:prstGeom>
          <a:solidFill>
            <a:srgbClr val="FFFFFF">
              <a:alpha val="9000"/>
            </a:srgbClr>
          </a:solidFill>
          <a:ln w="9525">
            <a:solidFill>
              <a:srgbClr val="FFFFFF">
                <a:alpha val="22000"/>
              </a:srgbClr>
            </a:solidFill>
            <a:prstDash val="solid"/>
          </a:ln>
        </p:spPr>
      </p:sp>
      <p:sp>
        <p:nvSpPr>
          <p:cNvPr id="31" name="Shape 28"/>
          <p:cNvSpPr/>
          <p:nvPr/>
        </p:nvSpPr>
        <p:spPr>
          <a:xfrm>
            <a:off x="6053328" y="1956816"/>
            <a:ext cx="457200" cy="457200"/>
          </a:xfrm>
          <a:prstGeom prst="roundRect">
            <a:avLst>
              <a:gd name="adj" fmla="val 22000"/>
            </a:avLst>
          </a:prstGeom>
          <a:solidFill>
            <a:srgbClr val="8A3FFC"/>
          </a:solidFill>
          <a:ln/>
        </p:spPr>
      </p:sp>
      <p:pic>
        <p:nvPicPr>
          <p:cNvPr id="32" name="Image 1" descr="preencoded.png">    </p:cNvPr>
          <p:cNvPicPr>
            <a:picLocks noChangeAspect="1"/>
          </p:cNvPicPr>
          <p:nvPr/>
        </p:nvPicPr>
        <p:blipFill>
          <a:blip r:embed="rId2"/>
          <a:stretch>
            <a:fillRect/>
          </a:stretch>
        </p:blipFill>
        <p:spPr>
          <a:xfrm>
            <a:off x="6149340" y="2052828"/>
            <a:ext cx="265176" cy="265176"/>
          </a:xfrm>
          <a:prstGeom prst="rect">
            <a:avLst/>
          </a:prstGeom>
        </p:spPr>
      </p:pic>
      <p:sp>
        <p:nvSpPr>
          <p:cNvPr id="33" name="Text 29"/>
          <p:cNvSpPr txBox="1"/>
          <p:nvPr/>
        </p:nvSpPr>
        <p:spPr>
          <a:xfrm>
            <a:off x="6638544" y="1920240"/>
            <a:ext cx="2286000" cy="292608"/>
          </a:xfrm>
          <a:prstGeom prst="rect">
            <a:avLst/>
          </a:prstGeom>
          <a:noFill/>
          <a:ln/>
        </p:spPr>
        <p:txBody>
          <a:bodyPr wrap="square" lIns="0" tIns="0" rIns="0" bIns="0" rtlCol="0" anchor="t"/>
          <a:lstStyle/>
          <a:p>
            <a:pPr indent="0" marL="0">
              <a:buNone/>
            </a:pPr>
            <a:r>
              <a:rPr lang="en-US" sz="1600" dirty="0">
                <a:solidFill>
                  <a:srgbClr val="FFFFFF"/>
                </a:solidFill>
                <a:latin typeface="+mj-lt" pitchFamily="34" charset="0"/>
                <a:ea typeface="+mj-lt" pitchFamily="34" charset="-122"/>
                <a:cs typeface="+mj-lt" pitchFamily="34" charset="-120"/>
              </a:rPr>
              <a:t>IBM watsonx</a:t>
            </a:r>
            <a:endParaRPr lang="en-US" sz="1600" dirty="0"/>
          </a:p>
        </p:txBody>
      </p:sp>
      <p:sp>
        <p:nvSpPr>
          <p:cNvPr id="34" name="Text 30"/>
          <p:cNvSpPr txBox="1"/>
          <p:nvPr/>
        </p:nvSpPr>
        <p:spPr>
          <a:xfrm>
            <a:off x="6638544" y="2194560"/>
            <a:ext cx="3108960" cy="219456"/>
          </a:xfrm>
          <a:prstGeom prst="rect">
            <a:avLst/>
          </a:prstGeom>
          <a:noFill/>
          <a:ln/>
        </p:spPr>
        <p:txBody>
          <a:bodyPr wrap="square" lIns="0" tIns="0" rIns="0" bIns="0" rtlCol="0" anchor="t"/>
          <a:lstStyle/>
          <a:p>
            <a:pPr indent="0" marL="0">
              <a:buNone/>
            </a:pPr>
            <a:r>
              <a:rPr lang="en-US" sz="1050" dirty="0">
                <a:solidFill>
                  <a:srgbClr val="A6C8FF"/>
                </a:solidFill>
              </a:rPr>
              <a:t>Intelligence layer around the engine</a:t>
            </a:r>
            <a:endParaRPr lang="en-US" sz="1050" dirty="0"/>
          </a:p>
        </p:txBody>
      </p:sp>
      <p:sp>
        <p:nvSpPr>
          <p:cNvPr id="35" name="Shape 31"/>
          <p:cNvSpPr/>
          <p:nvPr/>
        </p:nvSpPr>
        <p:spPr>
          <a:xfrm>
            <a:off x="10195560" y="2029968"/>
            <a:ext cx="1261872" cy="274320"/>
          </a:xfrm>
          <a:prstGeom prst="roundRect">
            <a:avLst>
              <a:gd name="adj" fmla="val 50000"/>
            </a:avLst>
          </a:prstGeom>
          <a:solidFill>
            <a:srgbClr val="8A3FFC"/>
          </a:solidFill>
          <a:ln/>
        </p:spPr>
      </p:sp>
      <p:sp>
        <p:nvSpPr>
          <p:cNvPr id="36" name="Text 32"/>
          <p:cNvSpPr txBox="1"/>
          <p:nvPr/>
        </p:nvSpPr>
        <p:spPr>
          <a:xfrm>
            <a:off x="10195560" y="2029968"/>
            <a:ext cx="1261872" cy="274320"/>
          </a:xfrm>
          <a:prstGeom prst="rect">
            <a:avLst/>
          </a:prstGeom>
          <a:noFill/>
          <a:ln/>
        </p:spPr>
        <p:txBody>
          <a:bodyPr wrap="square" lIns="0" tIns="0" rIns="0" bIns="0" rtlCol="0" anchor="ctr"/>
          <a:lstStyle/>
          <a:p>
            <a:pPr algn="ctr" indent="0" marL="0">
              <a:buNone/>
            </a:pPr>
            <a:r>
              <a:rPr lang="en-US" sz="950" b="1" spc="120" kern="0" dirty="0">
                <a:solidFill>
                  <a:srgbClr val="FFFFFF"/>
                </a:solidFill>
                <a:latin typeface="Consolas" pitchFamily="34" charset="0"/>
                <a:ea typeface="Consolas" pitchFamily="34" charset="-122"/>
                <a:cs typeface="Consolas" pitchFamily="34" charset="-120"/>
              </a:rPr>
              <a:t>NEXT RELEASE</a:t>
            </a:r>
            <a:endParaRPr lang="en-US" sz="950" dirty="0"/>
          </a:p>
        </p:txBody>
      </p:sp>
      <p:sp>
        <p:nvSpPr>
          <p:cNvPr id="37" name="Shape 33"/>
          <p:cNvSpPr/>
          <p:nvPr/>
        </p:nvSpPr>
        <p:spPr>
          <a:xfrm>
            <a:off x="6053328" y="2615184"/>
            <a:ext cx="1645920" cy="896112"/>
          </a:xfrm>
          <a:prstGeom prst="roundRect">
            <a:avLst>
              <a:gd name="adj" fmla="val 8163"/>
            </a:avLst>
          </a:prstGeom>
          <a:solidFill>
            <a:srgbClr val="FFFFFF">
              <a:alpha val="10000"/>
            </a:srgbClr>
          </a:solidFill>
          <a:ln w="12700">
            <a:solidFill>
              <a:srgbClr val="A56EFF"/>
            </a:solidFill>
            <a:prstDash val="solid"/>
          </a:ln>
        </p:spPr>
      </p:sp>
      <p:pic>
        <p:nvPicPr>
          <p:cNvPr id="38" name="Image 2" descr="preencoded.png">    </p:cNvPr>
          <p:cNvPicPr>
            <a:picLocks noChangeAspect="1"/>
          </p:cNvPicPr>
          <p:nvPr/>
        </p:nvPicPr>
        <p:blipFill>
          <a:blip r:embed="rId3"/>
          <a:stretch>
            <a:fillRect/>
          </a:stretch>
        </p:blipFill>
        <p:spPr>
          <a:xfrm>
            <a:off x="6163056" y="2724912"/>
            <a:ext cx="237744" cy="237744"/>
          </a:xfrm>
          <a:prstGeom prst="rect">
            <a:avLst/>
          </a:prstGeom>
        </p:spPr>
      </p:pic>
      <p:sp>
        <p:nvSpPr>
          <p:cNvPr id="39" name="Text 34"/>
          <p:cNvSpPr txBox="1"/>
          <p:nvPr/>
        </p:nvSpPr>
        <p:spPr>
          <a:xfrm>
            <a:off x="6163056" y="3017520"/>
            <a:ext cx="1463040" cy="219456"/>
          </a:xfrm>
          <a:prstGeom prst="rect">
            <a:avLst/>
          </a:prstGeom>
          <a:noFill/>
          <a:ln/>
        </p:spPr>
        <p:txBody>
          <a:bodyPr wrap="square" lIns="0" tIns="0" rIns="0" bIns="0" rtlCol="0" anchor="t"/>
          <a:lstStyle/>
          <a:p>
            <a:pPr indent="0" marL="0">
              <a:buNone/>
            </a:pPr>
            <a:r>
              <a:rPr lang="en-US" sz="1050" dirty="0">
                <a:solidFill>
                  <a:srgbClr val="FFFFFF"/>
                </a:solidFill>
                <a:latin typeface="+mj-lt" pitchFamily="34" charset="0"/>
                <a:ea typeface="+mj-lt" pitchFamily="34" charset="-122"/>
                <a:cs typeface="+mj-lt" pitchFamily="34" charset="-120"/>
              </a:rPr>
              <a:t>watsonx.data</a:t>
            </a:r>
            <a:endParaRPr lang="en-US" sz="1050" dirty="0"/>
          </a:p>
        </p:txBody>
      </p:sp>
      <p:sp>
        <p:nvSpPr>
          <p:cNvPr id="40" name="Text 35"/>
          <p:cNvSpPr txBox="1"/>
          <p:nvPr/>
        </p:nvSpPr>
        <p:spPr>
          <a:xfrm>
            <a:off x="6163056" y="3236976"/>
            <a:ext cx="1463040" cy="219456"/>
          </a:xfrm>
          <a:prstGeom prst="rect">
            <a:avLst/>
          </a:prstGeom>
          <a:noFill/>
          <a:ln/>
        </p:spPr>
        <p:txBody>
          <a:bodyPr wrap="square" lIns="0" tIns="0" rIns="0" bIns="0" rtlCol="0" anchor="t"/>
          <a:lstStyle/>
          <a:p>
            <a:pPr indent="0" marL="0">
              <a:buNone/>
            </a:pPr>
            <a:r>
              <a:rPr lang="en-US" sz="1000" dirty="0">
                <a:solidFill>
                  <a:srgbClr val="A6C8FF"/>
                </a:solidFill>
              </a:rPr>
              <a:t>Fleet telemetry lake</a:t>
            </a:r>
            <a:endParaRPr lang="en-US" sz="1000" dirty="0"/>
          </a:p>
        </p:txBody>
      </p:sp>
      <p:sp>
        <p:nvSpPr>
          <p:cNvPr id="41" name="Shape 36"/>
          <p:cNvSpPr/>
          <p:nvPr/>
        </p:nvSpPr>
        <p:spPr>
          <a:xfrm>
            <a:off x="6053328" y="3639312"/>
            <a:ext cx="1645920" cy="896112"/>
          </a:xfrm>
          <a:prstGeom prst="roundRect">
            <a:avLst>
              <a:gd name="adj" fmla="val 8163"/>
            </a:avLst>
          </a:prstGeom>
          <a:solidFill>
            <a:srgbClr val="FFFFFF">
              <a:alpha val="10000"/>
            </a:srgbClr>
          </a:solidFill>
          <a:ln w="12700">
            <a:solidFill>
              <a:srgbClr val="A56EFF"/>
            </a:solidFill>
            <a:prstDash val="solid"/>
          </a:ln>
        </p:spPr>
      </p:sp>
      <p:pic>
        <p:nvPicPr>
          <p:cNvPr id="42" name="Image 3" descr="preencoded.png">    </p:cNvPr>
          <p:cNvPicPr>
            <a:picLocks noChangeAspect="1"/>
          </p:cNvPicPr>
          <p:nvPr/>
        </p:nvPicPr>
        <p:blipFill>
          <a:blip r:embed="rId4"/>
          <a:stretch>
            <a:fillRect/>
          </a:stretch>
        </p:blipFill>
        <p:spPr>
          <a:xfrm>
            <a:off x="6163056" y="3749040"/>
            <a:ext cx="237744" cy="237744"/>
          </a:xfrm>
          <a:prstGeom prst="rect">
            <a:avLst/>
          </a:prstGeom>
        </p:spPr>
      </p:pic>
      <p:sp>
        <p:nvSpPr>
          <p:cNvPr id="43" name="Text 37"/>
          <p:cNvSpPr txBox="1"/>
          <p:nvPr/>
        </p:nvSpPr>
        <p:spPr>
          <a:xfrm>
            <a:off x="6163056" y="4041648"/>
            <a:ext cx="1463040" cy="219456"/>
          </a:xfrm>
          <a:prstGeom prst="rect">
            <a:avLst/>
          </a:prstGeom>
          <a:noFill/>
          <a:ln/>
        </p:spPr>
        <p:txBody>
          <a:bodyPr wrap="square" lIns="0" tIns="0" rIns="0" bIns="0" rtlCol="0" anchor="t"/>
          <a:lstStyle/>
          <a:p>
            <a:pPr indent="0" marL="0">
              <a:buNone/>
            </a:pPr>
            <a:r>
              <a:rPr lang="en-US" sz="1050" dirty="0">
                <a:solidFill>
                  <a:srgbClr val="FFFFFF"/>
                </a:solidFill>
                <a:latin typeface="+mj-lt" pitchFamily="34" charset="0"/>
                <a:ea typeface="+mj-lt" pitchFamily="34" charset="-122"/>
                <a:cs typeface="+mj-lt" pitchFamily="34" charset="-120"/>
              </a:rPr>
              <a:t>Granite TTM</a:t>
            </a:r>
            <a:endParaRPr lang="en-US" sz="1050" dirty="0"/>
          </a:p>
        </p:txBody>
      </p:sp>
      <p:sp>
        <p:nvSpPr>
          <p:cNvPr id="44" name="Text 38"/>
          <p:cNvSpPr txBox="1"/>
          <p:nvPr/>
        </p:nvSpPr>
        <p:spPr>
          <a:xfrm>
            <a:off x="6163056" y="4261104"/>
            <a:ext cx="1463040" cy="219456"/>
          </a:xfrm>
          <a:prstGeom prst="rect">
            <a:avLst/>
          </a:prstGeom>
          <a:noFill/>
          <a:ln/>
        </p:spPr>
        <p:txBody>
          <a:bodyPr wrap="square" lIns="0" tIns="0" rIns="0" bIns="0" rtlCol="0" anchor="t"/>
          <a:lstStyle/>
          <a:p>
            <a:pPr indent="0" marL="0">
              <a:buNone/>
            </a:pPr>
            <a:r>
              <a:rPr lang="en-US" sz="1000" dirty="0">
                <a:solidFill>
                  <a:srgbClr val="A6C8FF"/>
                </a:solidFill>
              </a:rPr>
              <a:t>Forecasts SoC &amp; kWh</a:t>
            </a:r>
            <a:endParaRPr lang="en-US" sz="1000" dirty="0"/>
          </a:p>
        </p:txBody>
      </p:sp>
      <p:sp>
        <p:nvSpPr>
          <p:cNvPr id="45" name="Shape 39"/>
          <p:cNvSpPr/>
          <p:nvPr/>
        </p:nvSpPr>
        <p:spPr>
          <a:xfrm>
            <a:off x="9811512" y="2615184"/>
            <a:ext cx="1645920" cy="896112"/>
          </a:xfrm>
          <a:prstGeom prst="roundRect">
            <a:avLst>
              <a:gd name="adj" fmla="val 8163"/>
            </a:avLst>
          </a:prstGeom>
          <a:solidFill>
            <a:srgbClr val="FFFFFF">
              <a:alpha val="10000"/>
            </a:srgbClr>
          </a:solidFill>
          <a:ln w="12700">
            <a:solidFill>
              <a:srgbClr val="A56EFF"/>
            </a:solidFill>
            <a:prstDash val="solid"/>
          </a:ln>
        </p:spPr>
      </p:sp>
      <p:pic>
        <p:nvPicPr>
          <p:cNvPr id="46" name="Image 4" descr="preencoded.png">    </p:cNvPr>
          <p:cNvPicPr>
            <a:picLocks noChangeAspect="1"/>
          </p:cNvPicPr>
          <p:nvPr/>
        </p:nvPicPr>
        <p:blipFill>
          <a:blip r:embed="rId5"/>
          <a:stretch>
            <a:fillRect/>
          </a:stretch>
        </p:blipFill>
        <p:spPr>
          <a:xfrm>
            <a:off x="9921240" y="2724912"/>
            <a:ext cx="237744" cy="237744"/>
          </a:xfrm>
          <a:prstGeom prst="rect">
            <a:avLst/>
          </a:prstGeom>
        </p:spPr>
      </p:pic>
      <p:sp>
        <p:nvSpPr>
          <p:cNvPr id="47" name="Text 40"/>
          <p:cNvSpPr txBox="1"/>
          <p:nvPr/>
        </p:nvSpPr>
        <p:spPr>
          <a:xfrm>
            <a:off x="9921240" y="3017520"/>
            <a:ext cx="1463040" cy="219456"/>
          </a:xfrm>
          <a:prstGeom prst="rect">
            <a:avLst/>
          </a:prstGeom>
          <a:noFill/>
          <a:ln/>
        </p:spPr>
        <p:txBody>
          <a:bodyPr wrap="square" lIns="0" tIns="0" rIns="0" bIns="0" rtlCol="0" anchor="t"/>
          <a:lstStyle/>
          <a:p>
            <a:pPr indent="0" marL="0">
              <a:buNone/>
            </a:pPr>
            <a:r>
              <a:rPr lang="en-US" sz="1050" dirty="0">
                <a:solidFill>
                  <a:srgbClr val="FFFFFF"/>
                </a:solidFill>
                <a:latin typeface="+mj-lt" pitchFamily="34" charset="0"/>
                <a:ea typeface="+mj-lt" pitchFamily="34" charset="-122"/>
                <a:cs typeface="+mj-lt" pitchFamily="34" charset="-120"/>
              </a:rPr>
              <a:t>Granite LLM</a:t>
            </a:r>
            <a:endParaRPr lang="en-US" sz="1050" dirty="0"/>
          </a:p>
        </p:txBody>
      </p:sp>
      <p:sp>
        <p:nvSpPr>
          <p:cNvPr id="48" name="Text 41"/>
          <p:cNvSpPr txBox="1"/>
          <p:nvPr/>
        </p:nvSpPr>
        <p:spPr>
          <a:xfrm>
            <a:off x="9921240" y="3236976"/>
            <a:ext cx="1463040" cy="219456"/>
          </a:xfrm>
          <a:prstGeom prst="rect">
            <a:avLst/>
          </a:prstGeom>
          <a:noFill/>
          <a:ln/>
        </p:spPr>
        <p:txBody>
          <a:bodyPr wrap="square" lIns="0" tIns="0" rIns="0" bIns="0" rtlCol="0" anchor="t"/>
          <a:lstStyle/>
          <a:p>
            <a:pPr indent="0" marL="0">
              <a:buNone/>
            </a:pPr>
            <a:r>
              <a:rPr lang="en-US" sz="1000" dirty="0">
                <a:solidFill>
                  <a:srgbClr val="A6C8FF"/>
                </a:solidFill>
              </a:rPr>
              <a:t>Explains every plan</a:t>
            </a:r>
            <a:endParaRPr lang="en-US" sz="1000" dirty="0"/>
          </a:p>
        </p:txBody>
      </p:sp>
      <p:sp>
        <p:nvSpPr>
          <p:cNvPr id="49" name="Shape 42"/>
          <p:cNvSpPr/>
          <p:nvPr/>
        </p:nvSpPr>
        <p:spPr>
          <a:xfrm>
            <a:off x="9811512" y="3639312"/>
            <a:ext cx="1645920" cy="896112"/>
          </a:xfrm>
          <a:prstGeom prst="roundRect">
            <a:avLst>
              <a:gd name="adj" fmla="val 8163"/>
            </a:avLst>
          </a:prstGeom>
          <a:solidFill>
            <a:srgbClr val="FFFFFF">
              <a:alpha val="10000"/>
            </a:srgbClr>
          </a:solidFill>
          <a:ln w="12700">
            <a:solidFill>
              <a:srgbClr val="A56EFF"/>
            </a:solidFill>
            <a:prstDash val="solid"/>
          </a:ln>
        </p:spPr>
      </p:sp>
      <p:pic>
        <p:nvPicPr>
          <p:cNvPr id="50" name="Image 5" descr="preencoded.png">    </p:cNvPr>
          <p:cNvPicPr>
            <a:picLocks noChangeAspect="1"/>
          </p:cNvPicPr>
          <p:nvPr/>
        </p:nvPicPr>
        <p:blipFill>
          <a:blip r:embed="rId6"/>
          <a:stretch>
            <a:fillRect/>
          </a:stretch>
        </p:blipFill>
        <p:spPr>
          <a:xfrm>
            <a:off x="9921240" y="3749040"/>
            <a:ext cx="237744" cy="237744"/>
          </a:xfrm>
          <a:prstGeom prst="rect">
            <a:avLst/>
          </a:prstGeom>
        </p:spPr>
      </p:pic>
      <p:sp>
        <p:nvSpPr>
          <p:cNvPr id="51" name="Text 43"/>
          <p:cNvSpPr txBox="1"/>
          <p:nvPr/>
        </p:nvSpPr>
        <p:spPr>
          <a:xfrm>
            <a:off x="9921240" y="4041648"/>
            <a:ext cx="1463040" cy="219456"/>
          </a:xfrm>
          <a:prstGeom prst="rect">
            <a:avLst/>
          </a:prstGeom>
          <a:noFill/>
          <a:ln/>
        </p:spPr>
        <p:txBody>
          <a:bodyPr wrap="square" lIns="0" tIns="0" rIns="0" bIns="0" rtlCol="0" anchor="t"/>
          <a:lstStyle/>
          <a:p>
            <a:pPr indent="0" marL="0">
              <a:buNone/>
            </a:pPr>
            <a:r>
              <a:rPr lang="en-US" sz="1050" dirty="0">
                <a:solidFill>
                  <a:srgbClr val="FFFFFF"/>
                </a:solidFill>
                <a:latin typeface="+mj-lt" pitchFamily="34" charset="0"/>
                <a:ea typeface="+mj-lt" pitchFamily="34" charset="-122"/>
                <a:cs typeface="+mj-lt" pitchFamily="34" charset="-120"/>
              </a:rPr>
              <a:t>watsonx.governance</a:t>
            </a:r>
            <a:endParaRPr lang="en-US" sz="1050" dirty="0"/>
          </a:p>
        </p:txBody>
      </p:sp>
      <p:sp>
        <p:nvSpPr>
          <p:cNvPr id="52" name="Text 44"/>
          <p:cNvSpPr txBox="1"/>
          <p:nvPr/>
        </p:nvSpPr>
        <p:spPr>
          <a:xfrm>
            <a:off x="9921240" y="4261104"/>
            <a:ext cx="1463040" cy="219456"/>
          </a:xfrm>
          <a:prstGeom prst="rect">
            <a:avLst/>
          </a:prstGeom>
          <a:noFill/>
          <a:ln/>
        </p:spPr>
        <p:txBody>
          <a:bodyPr wrap="square" lIns="0" tIns="0" rIns="0" bIns="0" rtlCol="0" anchor="t"/>
          <a:lstStyle/>
          <a:p>
            <a:pPr indent="0" marL="0">
              <a:buNone/>
            </a:pPr>
            <a:r>
              <a:rPr lang="en-US" sz="1000" dirty="0">
                <a:solidFill>
                  <a:srgbClr val="A6C8FF"/>
                </a:solidFill>
              </a:rPr>
              <a:t>Audits AI advice</a:t>
            </a:r>
            <a:endParaRPr lang="en-US" sz="1000" dirty="0"/>
          </a:p>
        </p:txBody>
      </p:sp>
      <p:sp>
        <p:nvSpPr>
          <p:cNvPr id="53" name="Shape 45"/>
          <p:cNvSpPr/>
          <p:nvPr/>
        </p:nvSpPr>
        <p:spPr>
          <a:xfrm>
            <a:off x="8028432" y="2615184"/>
            <a:ext cx="1463040" cy="1920240"/>
          </a:xfrm>
          <a:prstGeom prst="roundRect">
            <a:avLst>
              <a:gd name="adj" fmla="val 6250"/>
            </a:avLst>
          </a:prstGeom>
          <a:solidFill>
            <a:srgbClr val="0F62FE"/>
          </a:solidFill>
          <a:ln/>
          <a:effectLst>
            <a:outerShdw sx="100000" sy="100000" kx="0" ky="0" algn="bl" rotWithShape="0" blurRad="254000" dist="50800" dir="5400000">
              <a:srgbClr val="0F62FE">
                <a:alpha val="60000"/>
              </a:srgbClr>
            </a:outerShdw>
          </a:effectLst>
        </p:spPr>
      </p:sp>
      <p:pic>
        <p:nvPicPr>
          <p:cNvPr id="54" name="Image 6" descr="preencoded.png">    </p:cNvPr>
          <p:cNvPicPr>
            <a:picLocks noChangeAspect="1"/>
          </p:cNvPicPr>
          <p:nvPr/>
        </p:nvPicPr>
        <p:blipFill>
          <a:blip r:embed="rId7"/>
          <a:stretch>
            <a:fillRect/>
          </a:stretch>
        </p:blipFill>
        <p:spPr>
          <a:xfrm>
            <a:off x="8558784" y="2779776"/>
            <a:ext cx="402336" cy="402336"/>
          </a:xfrm>
          <a:prstGeom prst="rect">
            <a:avLst/>
          </a:prstGeom>
        </p:spPr>
      </p:pic>
      <p:sp>
        <p:nvSpPr>
          <p:cNvPr id="55" name="Text 46"/>
          <p:cNvSpPr txBox="1"/>
          <p:nvPr/>
        </p:nvSpPr>
        <p:spPr>
          <a:xfrm>
            <a:off x="8101584" y="3255264"/>
            <a:ext cx="1316736" cy="457200"/>
          </a:xfrm>
          <a:prstGeom prst="rect">
            <a:avLst/>
          </a:prstGeom>
          <a:noFill/>
          <a:ln/>
        </p:spPr>
        <p:txBody>
          <a:bodyPr wrap="square" lIns="0" tIns="0" rIns="0" bIns="0" rtlCol="0" anchor="t"/>
          <a:lstStyle/>
          <a:p>
            <a:pPr algn="ctr" indent="0" marL="0">
              <a:buNone/>
            </a:pPr>
            <a:r>
              <a:rPr lang="en-US" sz="1200" dirty="0">
                <a:solidFill>
                  <a:srgbClr val="FFFFFF"/>
                </a:solidFill>
                <a:latin typeface="+mj-lt" pitchFamily="34" charset="0"/>
                <a:ea typeface="+mj-lt" pitchFamily="34" charset="-122"/>
                <a:cs typeface="+mj-lt" pitchFamily="34" charset="-120"/>
              </a:rPr>
              <a:t>ChargeOpt</a:t>
            </a:r>
            <a:endParaRPr lang="en-US" sz="1200" dirty="0"/>
          </a:p>
          <a:p>
            <a:pPr algn="ctr" indent="0" marL="0">
              <a:buNone/>
            </a:pPr>
            <a:r>
              <a:rPr lang="en-US" sz="1200" dirty="0">
                <a:solidFill>
                  <a:srgbClr val="FFFFFF"/>
                </a:solidFill>
                <a:latin typeface="+mj-lt" pitchFamily="34" charset="0"/>
                <a:ea typeface="+mj-lt" pitchFamily="34" charset="-122"/>
                <a:cs typeface="+mj-lt" pitchFamily="34" charset="-120"/>
              </a:rPr>
              <a:t>rule engine</a:t>
            </a:r>
            <a:endParaRPr lang="en-US" sz="1200" dirty="0"/>
          </a:p>
        </p:txBody>
      </p:sp>
      <p:sp>
        <p:nvSpPr>
          <p:cNvPr id="56" name="Text 47"/>
          <p:cNvSpPr txBox="1"/>
          <p:nvPr/>
        </p:nvSpPr>
        <p:spPr>
          <a:xfrm>
            <a:off x="8101584" y="3785616"/>
            <a:ext cx="1316736" cy="457200"/>
          </a:xfrm>
          <a:prstGeom prst="rect">
            <a:avLst/>
          </a:prstGeom>
          <a:noFill/>
          <a:ln/>
        </p:spPr>
        <p:txBody>
          <a:bodyPr wrap="square" lIns="0" tIns="0" rIns="0" bIns="0" rtlCol="0" anchor="t"/>
          <a:lstStyle/>
          <a:p>
            <a:pPr algn="ctr" indent="0" marL="0">
              <a:buNone/>
            </a:pPr>
            <a:r>
              <a:rPr lang="en-US" sz="1000" dirty="0">
                <a:solidFill>
                  <a:srgbClr val="D0E2FF"/>
                </a:solidFill>
              </a:rPr>
              <a:t>decides,</a:t>
            </a:r>
            <a:endParaRPr lang="en-US" sz="1000" dirty="0"/>
          </a:p>
          <a:p>
            <a:pPr algn="ctr" indent="0" marL="0">
              <a:buNone/>
            </a:pPr>
            <a:r>
              <a:rPr lang="en-US" sz="1000" dirty="0">
                <a:solidFill>
                  <a:srgbClr val="D0E2FF"/>
                </a:solidFill>
              </a:rPr>
              <a:t>explains, logs</a:t>
            </a:r>
            <a:endParaRPr lang="en-US" sz="1000" dirty="0"/>
          </a:p>
        </p:txBody>
      </p:sp>
      <p:sp>
        <p:nvSpPr>
          <p:cNvPr id="57" name="Shape 48"/>
          <p:cNvSpPr/>
          <p:nvPr/>
        </p:nvSpPr>
        <p:spPr>
          <a:xfrm>
            <a:off x="7717536" y="3063240"/>
            <a:ext cx="274320" cy="0"/>
          </a:xfrm>
          <a:prstGeom prst="line">
            <a:avLst/>
          </a:prstGeom>
          <a:noFill/>
          <a:ln w="19050">
            <a:solidFill>
              <a:srgbClr val="A56EFF"/>
            </a:solidFill>
            <a:prstDash val="solid"/>
            <a:tailEnd type="triangle"/>
          </a:ln>
        </p:spPr>
      </p:sp>
      <p:sp>
        <p:nvSpPr>
          <p:cNvPr id="58" name="Shape 49"/>
          <p:cNvSpPr/>
          <p:nvPr/>
        </p:nvSpPr>
        <p:spPr>
          <a:xfrm>
            <a:off x="9528048" y="3063240"/>
            <a:ext cx="265176" cy="0"/>
          </a:xfrm>
          <a:prstGeom prst="line">
            <a:avLst/>
          </a:prstGeom>
          <a:noFill/>
          <a:ln w="19050">
            <a:solidFill>
              <a:srgbClr val="A56EFF"/>
            </a:solidFill>
            <a:prstDash val="solid"/>
            <a:tailEnd type="triangle"/>
          </a:ln>
        </p:spPr>
      </p:sp>
      <p:sp>
        <p:nvSpPr>
          <p:cNvPr id="59" name="Shape 50"/>
          <p:cNvSpPr/>
          <p:nvPr/>
        </p:nvSpPr>
        <p:spPr>
          <a:xfrm>
            <a:off x="7717536" y="4087368"/>
            <a:ext cx="274320" cy="0"/>
          </a:xfrm>
          <a:prstGeom prst="line">
            <a:avLst/>
          </a:prstGeom>
          <a:noFill/>
          <a:ln w="19050">
            <a:solidFill>
              <a:srgbClr val="A56EFF"/>
            </a:solidFill>
            <a:prstDash val="solid"/>
            <a:tailEnd type="triangle"/>
          </a:ln>
        </p:spPr>
      </p:sp>
      <p:sp>
        <p:nvSpPr>
          <p:cNvPr id="60" name="Shape 51"/>
          <p:cNvSpPr/>
          <p:nvPr/>
        </p:nvSpPr>
        <p:spPr>
          <a:xfrm>
            <a:off x="9528048" y="4087368"/>
            <a:ext cx="265176" cy="0"/>
          </a:xfrm>
          <a:prstGeom prst="line">
            <a:avLst/>
          </a:prstGeom>
          <a:noFill/>
          <a:ln w="19050">
            <a:solidFill>
              <a:srgbClr val="A56EFF"/>
            </a:solidFill>
            <a:prstDash val="solid"/>
            <a:tailEnd type="triangle"/>
          </a:ln>
        </p:spPr>
      </p:sp>
      <p:sp>
        <p:nvSpPr>
          <p:cNvPr id="61" name="Shape 52"/>
          <p:cNvSpPr/>
          <p:nvPr/>
        </p:nvSpPr>
        <p:spPr>
          <a:xfrm>
            <a:off x="6053328" y="4681728"/>
            <a:ext cx="1645920" cy="896112"/>
          </a:xfrm>
          <a:prstGeom prst="roundRect">
            <a:avLst>
              <a:gd name="adj" fmla="val 8163"/>
            </a:avLst>
          </a:prstGeom>
          <a:solidFill>
            <a:srgbClr val="FFFFFF">
              <a:alpha val="10000"/>
            </a:srgbClr>
          </a:solidFill>
          <a:ln w="12700">
            <a:solidFill>
              <a:srgbClr val="33B1FF"/>
            </a:solidFill>
            <a:prstDash val="solid"/>
          </a:ln>
        </p:spPr>
      </p:sp>
      <p:pic>
        <p:nvPicPr>
          <p:cNvPr id="62" name="Image 7" descr="preencoded.png">    </p:cNvPr>
          <p:cNvPicPr>
            <a:picLocks noChangeAspect="1"/>
          </p:cNvPicPr>
          <p:nvPr/>
        </p:nvPicPr>
        <p:blipFill>
          <a:blip r:embed="rId8"/>
          <a:stretch>
            <a:fillRect/>
          </a:stretch>
        </p:blipFill>
        <p:spPr>
          <a:xfrm>
            <a:off x="6163056" y="4791456"/>
            <a:ext cx="237744" cy="237744"/>
          </a:xfrm>
          <a:prstGeom prst="rect">
            <a:avLst/>
          </a:prstGeom>
        </p:spPr>
      </p:pic>
      <p:sp>
        <p:nvSpPr>
          <p:cNvPr id="63" name="Text 53"/>
          <p:cNvSpPr txBox="1"/>
          <p:nvPr/>
        </p:nvSpPr>
        <p:spPr>
          <a:xfrm>
            <a:off x="6163056" y="5084064"/>
            <a:ext cx="1463040" cy="219456"/>
          </a:xfrm>
          <a:prstGeom prst="rect">
            <a:avLst/>
          </a:prstGeom>
          <a:noFill/>
          <a:ln/>
        </p:spPr>
        <p:txBody>
          <a:bodyPr wrap="square" lIns="0" tIns="0" rIns="0" bIns="0" rtlCol="0" anchor="t"/>
          <a:lstStyle/>
          <a:p>
            <a:pPr indent="0" marL="0">
              <a:buNone/>
            </a:pPr>
            <a:r>
              <a:rPr lang="en-US" sz="1050" dirty="0">
                <a:solidFill>
                  <a:srgbClr val="FFFFFF"/>
                </a:solidFill>
                <a:latin typeface="+mj-lt" pitchFamily="34" charset="0"/>
                <a:ea typeface="+mj-lt" pitchFamily="34" charset="-122"/>
                <a:cs typeface="+mj-lt" pitchFamily="34" charset="-120"/>
              </a:rPr>
              <a:t>Bob · Orchestrate</a:t>
            </a:r>
            <a:endParaRPr lang="en-US" sz="1050" dirty="0"/>
          </a:p>
        </p:txBody>
      </p:sp>
      <p:sp>
        <p:nvSpPr>
          <p:cNvPr id="64" name="Text 54"/>
          <p:cNvSpPr txBox="1"/>
          <p:nvPr/>
        </p:nvSpPr>
        <p:spPr>
          <a:xfrm>
            <a:off x="6163056" y="5303520"/>
            <a:ext cx="1463040" cy="219456"/>
          </a:xfrm>
          <a:prstGeom prst="rect">
            <a:avLst/>
          </a:prstGeom>
          <a:noFill/>
          <a:ln/>
        </p:spPr>
        <p:txBody>
          <a:bodyPr wrap="square" lIns="0" tIns="0" rIns="0" bIns="0" rtlCol="0" anchor="t"/>
          <a:lstStyle/>
          <a:p>
            <a:pPr indent="0" marL="0">
              <a:buNone/>
            </a:pPr>
            <a:r>
              <a:rPr lang="en-US" sz="1000" dirty="0">
                <a:solidFill>
                  <a:srgbClr val="A6C8FF"/>
                </a:solidFill>
              </a:rPr>
              <a:t>Operator asks in chat</a:t>
            </a:r>
            <a:endParaRPr lang="en-US" sz="1000" dirty="0"/>
          </a:p>
        </p:txBody>
      </p:sp>
      <p:sp>
        <p:nvSpPr>
          <p:cNvPr id="65" name="Shape 55"/>
          <p:cNvSpPr/>
          <p:nvPr/>
        </p:nvSpPr>
        <p:spPr>
          <a:xfrm>
            <a:off x="8028432" y="4681728"/>
            <a:ext cx="1463040" cy="896112"/>
          </a:xfrm>
          <a:prstGeom prst="roundRect">
            <a:avLst>
              <a:gd name="adj" fmla="val 8163"/>
            </a:avLst>
          </a:prstGeom>
          <a:solidFill>
            <a:srgbClr val="FFFFFF">
              <a:alpha val="10000"/>
            </a:srgbClr>
          </a:solidFill>
          <a:ln w="12700">
            <a:solidFill>
              <a:srgbClr val="33B1FF"/>
            </a:solidFill>
            <a:prstDash val="solid"/>
          </a:ln>
        </p:spPr>
      </p:sp>
      <p:pic>
        <p:nvPicPr>
          <p:cNvPr id="66" name="Image 8" descr="preencoded.png">    </p:cNvPr>
          <p:cNvPicPr>
            <a:picLocks noChangeAspect="1"/>
          </p:cNvPicPr>
          <p:nvPr/>
        </p:nvPicPr>
        <p:blipFill>
          <a:blip r:embed="rId9"/>
          <a:stretch>
            <a:fillRect/>
          </a:stretch>
        </p:blipFill>
        <p:spPr>
          <a:xfrm>
            <a:off x="8138160" y="4791456"/>
            <a:ext cx="237744" cy="237744"/>
          </a:xfrm>
          <a:prstGeom prst="rect">
            <a:avLst/>
          </a:prstGeom>
        </p:spPr>
      </p:pic>
      <p:sp>
        <p:nvSpPr>
          <p:cNvPr id="67" name="Text 56"/>
          <p:cNvSpPr txBox="1"/>
          <p:nvPr/>
        </p:nvSpPr>
        <p:spPr>
          <a:xfrm>
            <a:off x="8138160" y="5084064"/>
            <a:ext cx="1280160" cy="219456"/>
          </a:xfrm>
          <a:prstGeom prst="rect">
            <a:avLst/>
          </a:prstGeom>
          <a:noFill/>
          <a:ln/>
        </p:spPr>
        <p:txBody>
          <a:bodyPr wrap="square" lIns="0" tIns="0" rIns="0" bIns="0" rtlCol="0" anchor="t"/>
          <a:lstStyle/>
          <a:p>
            <a:pPr indent="0" marL="0">
              <a:buNone/>
            </a:pPr>
            <a:r>
              <a:rPr lang="en-US" sz="1050" dirty="0">
                <a:solidFill>
                  <a:srgbClr val="FFFFFF"/>
                </a:solidFill>
                <a:latin typeface="+mj-lt" pitchFamily="34" charset="0"/>
                <a:ea typeface="+mj-lt" pitchFamily="34" charset="-122"/>
                <a:cs typeface="+mj-lt" pitchFamily="34" charset="-120"/>
              </a:rPr>
              <a:t>MCP server</a:t>
            </a:r>
            <a:endParaRPr lang="en-US" sz="1050" dirty="0"/>
          </a:p>
        </p:txBody>
      </p:sp>
      <p:sp>
        <p:nvSpPr>
          <p:cNvPr id="68" name="Text 57"/>
          <p:cNvSpPr txBox="1"/>
          <p:nvPr/>
        </p:nvSpPr>
        <p:spPr>
          <a:xfrm>
            <a:off x="8138160" y="5303520"/>
            <a:ext cx="1280160" cy="219456"/>
          </a:xfrm>
          <a:prstGeom prst="rect">
            <a:avLst/>
          </a:prstGeom>
          <a:noFill/>
          <a:ln/>
        </p:spPr>
        <p:txBody>
          <a:bodyPr wrap="square" lIns="0" tIns="0" rIns="0" bIns="0" rtlCol="0" anchor="t"/>
          <a:lstStyle/>
          <a:p>
            <a:pPr indent="0" marL="0">
              <a:buNone/>
            </a:pPr>
            <a:r>
              <a:rPr lang="en-US" sz="1000" dirty="0">
                <a:solidFill>
                  <a:srgbClr val="A6C8FF"/>
                </a:solidFill>
              </a:rPr>
              <a:t>Typed fleet tools</a:t>
            </a:r>
            <a:endParaRPr lang="en-US" sz="1000" dirty="0"/>
          </a:p>
        </p:txBody>
      </p:sp>
      <p:sp>
        <p:nvSpPr>
          <p:cNvPr id="69" name="Shape 58"/>
          <p:cNvSpPr/>
          <p:nvPr/>
        </p:nvSpPr>
        <p:spPr>
          <a:xfrm>
            <a:off x="7717536" y="5129784"/>
            <a:ext cx="292608" cy="0"/>
          </a:xfrm>
          <a:prstGeom prst="line">
            <a:avLst/>
          </a:prstGeom>
          <a:noFill/>
          <a:ln w="19050">
            <a:solidFill>
              <a:srgbClr val="33B1FF"/>
            </a:solidFill>
            <a:prstDash val="solid"/>
            <a:tailEnd type="triangle"/>
          </a:ln>
        </p:spPr>
      </p:sp>
      <p:sp>
        <p:nvSpPr>
          <p:cNvPr id="70" name="Shape 59"/>
          <p:cNvSpPr/>
          <p:nvPr/>
        </p:nvSpPr>
        <p:spPr>
          <a:xfrm flipV="1">
            <a:off x="8759952" y="4553712"/>
            <a:ext cx="0" cy="118872"/>
          </a:xfrm>
          <a:prstGeom prst="line">
            <a:avLst/>
          </a:prstGeom>
          <a:noFill/>
          <a:ln w="19050">
            <a:solidFill>
              <a:srgbClr val="33B1FF"/>
            </a:solidFill>
            <a:prstDash val="solid"/>
            <a:tailEnd type="triangle"/>
          </a:ln>
        </p:spPr>
      </p:sp>
      <p:sp>
        <p:nvSpPr>
          <p:cNvPr id="71" name="Shape 60"/>
          <p:cNvSpPr/>
          <p:nvPr/>
        </p:nvSpPr>
        <p:spPr>
          <a:xfrm>
            <a:off x="9811512" y="4681728"/>
            <a:ext cx="1645920" cy="896112"/>
          </a:xfrm>
          <a:prstGeom prst="roundRect">
            <a:avLst>
              <a:gd name="adj" fmla="val 8163"/>
            </a:avLst>
          </a:prstGeom>
          <a:solidFill>
            <a:srgbClr val="FFFFFF"/>
          </a:solidFill>
          <a:ln/>
        </p:spPr>
      </p:sp>
      <p:sp>
        <p:nvSpPr>
          <p:cNvPr id="72" name="Text 61"/>
          <p:cNvSpPr txBox="1"/>
          <p:nvPr/>
        </p:nvSpPr>
        <p:spPr>
          <a:xfrm>
            <a:off x="9921240" y="4727448"/>
            <a:ext cx="1463040" cy="804672"/>
          </a:xfrm>
          <a:prstGeom prst="rect">
            <a:avLst/>
          </a:prstGeom>
          <a:noFill/>
          <a:ln/>
        </p:spPr>
        <p:txBody>
          <a:bodyPr wrap="square" lIns="0" tIns="0" rIns="0" bIns="0" rtlCol="0" anchor="ctr"/>
          <a:lstStyle/>
          <a:p>
            <a:pPr indent="0" marL="0">
              <a:buNone/>
            </a:pPr>
            <a:r>
              <a:rPr lang="en-US" sz="1050" i="1" dirty="0">
                <a:solidFill>
                  <a:srgbClr val="001141"/>
                </a:solidFill>
              </a:rPr>
              <a:t>“Why is EV-042</a:t>
            </a:r>
            <a:endParaRPr lang="en-US" sz="1050" dirty="0"/>
          </a:p>
          <a:p>
            <a:pPr indent="0" marL="0">
              <a:buNone/>
            </a:pPr>
            <a:r>
              <a:rPr lang="en-US" sz="1050" i="1" dirty="0">
                <a:solidFill>
                  <a:srgbClr val="001141"/>
                </a:solidFill>
              </a:rPr>
              <a:t>at risk, and what</a:t>
            </a:r>
            <a:endParaRPr lang="en-US" sz="1050" dirty="0"/>
          </a:p>
          <a:p>
            <a:pPr indent="0" marL="0">
              <a:buNone/>
            </a:pPr>
            <a:r>
              <a:rPr lang="en-US" sz="1050" i="1" dirty="0">
                <a:solidFill>
                  <a:srgbClr val="001141"/>
                </a:solidFill>
              </a:rPr>
              <a:t>fixes it?”</a:t>
            </a:r>
            <a:endParaRPr lang="en-US" sz="1050" dirty="0"/>
          </a:p>
        </p:txBody>
      </p:sp>
      <p:sp>
        <p:nvSpPr>
          <p:cNvPr id="73" name="Shape 62"/>
          <p:cNvSpPr/>
          <p:nvPr/>
        </p:nvSpPr>
        <p:spPr>
          <a:xfrm>
            <a:off x="548640" y="5870448"/>
            <a:ext cx="1737360" cy="347472"/>
          </a:xfrm>
          <a:prstGeom prst="roundRect">
            <a:avLst>
              <a:gd name="adj" fmla="val 50000"/>
            </a:avLst>
          </a:prstGeom>
          <a:solidFill>
            <a:srgbClr val="FFFFFF">
              <a:alpha val="15000"/>
            </a:srgbClr>
          </a:solidFill>
          <a:ln/>
        </p:spPr>
      </p:sp>
      <p:pic>
        <p:nvPicPr>
          <p:cNvPr id="74" name="Image 9" descr="preencoded.png">    </p:cNvPr>
          <p:cNvPicPr>
            <a:picLocks noChangeAspect="1"/>
          </p:cNvPicPr>
          <p:nvPr/>
        </p:nvPicPr>
        <p:blipFill>
          <a:blip r:embed="rId10"/>
          <a:stretch>
            <a:fillRect/>
          </a:stretch>
        </p:blipFill>
        <p:spPr>
          <a:xfrm>
            <a:off x="676656" y="5934456"/>
            <a:ext cx="219456" cy="219456"/>
          </a:xfrm>
          <a:prstGeom prst="rect">
            <a:avLst/>
          </a:prstGeom>
        </p:spPr>
      </p:pic>
      <p:sp>
        <p:nvSpPr>
          <p:cNvPr id="75" name="Text 63"/>
          <p:cNvSpPr txBox="1"/>
          <p:nvPr/>
        </p:nvSpPr>
        <p:spPr>
          <a:xfrm>
            <a:off x="950976" y="5870448"/>
            <a:ext cx="1298448" cy="347472"/>
          </a:xfrm>
          <a:prstGeom prst="rect">
            <a:avLst/>
          </a:prstGeom>
          <a:noFill/>
          <a:ln/>
        </p:spPr>
        <p:txBody>
          <a:bodyPr wrap="square" lIns="0" tIns="0" rIns="0" bIns="0" rtlCol="0" anchor="ctr"/>
          <a:lstStyle/>
          <a:p>
            <a:pPr indent="0" marL="0">
              <a:buNone/>
            </a:pPr>
            <a:r>
              <a:rPr lang="en-US" sz="1100" dirty="0">
                <a:solidFill>
                  <a:srgbClr val="FFFFFF"/>
                </a:solidFill>
                <a:latin typeface="+mj-lt" pitchFamily="34" charset="0"/>
                <a:ea typeface="+mj-lt" pitchFamily="34" charset="-122"/>
                <a:cs typeface="+mj-lt" pitchFamily="34" charset="-120"/>
              </a:rPr>
              <a:t>AI advises</a:t>
            </a:r>
            <a:endParaRPr lang="en-US" sz="1100" dirty="0"/>
          </a:p>
        </p:txBody>
      </p:sp>
      <p:sp>
        <p:nvSpPr>
          <p:cNvPr id="76" name="Shape 64"/>
          <p:cNvSpPr/>
          <p:nvPr/>
        </p:nvSpPr>
        <p:spPr>
          <a:xfrm>
            <a:off x="2313432" y="6044184"/>
            <a:ext cx="173736" cy="0"/>
          </a:xfrm>
          <a:prstGeom prst="line">
            <a:avLst/>
          </a:prstGeom>
          <a:noFill/>
          <a:ln w="15875">
            <a:solidFill>
              <a:srgbClr val="33B1FF"/>
            </a:solidFill>
            <a:prstDash val="solid"/>
            <a:tailEnd type="triangle"/>
          </a:ln>
        </p:spPr>
      </p:sp>
      <p:sp>
        <p:nvSpPr>
          <p:cNvPr id="77" name="Shape 65"/>
          <p:cNvSpPr/>
          <p:nvPr/>
        </p:nvSpPr>
        <p:spPr>
          <a:xfrm>
            <a:off x="2514600" y="5870448"/>
            <a:ext cx="1737360" cy="347472"/>
          </a:xfrm>
          <a:prstGeom prst="roundRect">
            <a:avLst>
              <a:gd name="adj" fmla="val 50000"/>
            </a:avLst>
          </a:prstGeom>
          <a:solidFill>
            <a:srgbClr val="0F62FE"/>
          </a:solidFill>
          <a:ln/>
        </p:spPr>
      </p:sp>
      <p:pic>
        <p:nvPicPr>
          <p:cNvPr id="78" name="Image 10" descr="preencoded.png">    </p:cNvPr>
          <p:cNvPicPr>
            <a:picLocks noChangeAspect="1"/>
          </p:cNvPicPr>
          <p:nvPr/>
        </p:nvPicPr>
        <p:blipFill>
          <a:blip r:embed="rId11"/>
          <a:stretch>
            <a:fillRect/>
          </a:stretch>
        </p:blipFill>
        <p:spPr>
          <a:xfrm>
            <a:off x="2642616" y="5934456"/>
            <a:ext cx="219456" cy="219456"/>
          </a:xfrm>
          <a:prstGeom prst="rect">
            <a:avLst/>
          </a:prstGeom>
        </p:spPr>
      </p:pic>
      <p:sp>
        <p:nvSpPr>
          <p:cNvPr id="79" name="Text 66"/>
          <p:cNvSpPr txBox="1"/>
          <p:nvPr/>
        </p:nvSpPr>
        <p:spPr>
          <a:xfrm>
            <a:off x="2916936" y="5870448"/>
            <a:ext cx="1298448" cy="347472"/>
          </a:xfrm>
          <a:prstGeom prst="rect">
            <a:avLst/>
          </a:prstGeom>
          <a:noFill/>
          <a:ln/>
        </p:spPr>
        <p:txBody>
          <a:bodyPr wrap="square" lIns="0" tIns="0" rIns="0" bIns="0" rtlCol="0" anchor="ctr"/>
          <a:lstStyle/>
          <a:p>
            <a:pPr indent="0" marL="0">
              <a:buNone/>
            </a:pPr>
            <a:r>
              <a:rPr lang="en-US" sz="1100" dirty="0">
                <a:solidFill>
                  <a:srgbClr val="FFFFFF"/>
                </a:solidFill>
                <a:latin typeface="+mj-lt" pitchFamily="34" charset="0"/>
                <a:ea typeface="+mj-lt" pitchFamily="34" charset="-122"/>
                <a:cs typeface="+mj-lt" pitchFamily="34" charset="-120"/>
              </a:rPr>
              <a:t>Rules decide</a:t>
            </a:r>
            <a:endParaRPr lang="en-US" sz="1100" dirty="0"/>
          </a:p>
        </p:txBody>
      </p:sp>
      <p:sp>
        <p:nvSpPr>
          <p:cNvPr id="80" name="Shape 67"/>
          <p:cNvSpPr/>
          <p:nvPr/>
        </p:nvSpPr>
        <p:spPr>
          <a:xfrm>
            <a:off x="4279392" y="6044184"/>
            <a:ext cx="173736" cy="0"/>
          </a:xfrm>
          <a:prstGeom prst="line">
            <a:avLst/>
          </a:prstGeom>
          <a:noFill/>
          <a:ln w="15875">
            <a:solidFill>
              <a:srgbClr val="33B1FF"/>
            </a:solidFill>
            <a:prstDash val="solid"/>
            <a:tailEnd type="triangle"/>
          </a:ln>
        </p:spPr>
      </p:sp>
      <p:sp>
        <p:nvSpPr>
          <p:cNvPr id="81" name="Shape 68"/>
          <p:cNvSpPr/>
          <p:nvPr/>
        </p:nvSpPr>
        <p:spPr>
          <a:xfrm>
            <a:off x="4480560" y="5870448"/>
            <a:ext cx="1737360" cy="347472"/>
          </a:xfrm>
          <a:prstGeom prst="roundRect">
            <a:avLst>
              <a:gd name="adj" fmla="val 50000"/>
            </a:avLst>
          </a:prstGeom>
          <a:solidFill>
            <a:srgbClr val="FFFFFF">
              <a:alpha val="15000"/>
            </a:srgbClr>
          </a:solidFill>
          <a:ln/>
        </p:spPr>
      </p:sp>
      <p:pic>
        <p:nvPicPr>
          <p:cNvPr id="82" name="Image 11" descr="preencoded.png">    </p:cNvPr>
          <p:cNvPicPr>
            <a:picLocks noChangeAspect="1"/>
          </p:cNvPicPr>
          <p:nvPr/>
        </p:nvPicPr>
        <p:blipFill>
          <a:blip r:embed="rId12"/>
          <a:stretch>
            <a:fillRect/>
          </a:stretch>
        </p:blipFill>
        <p:spPr>
          <a:xfrm>
            <a:off x="4608576" y="5934456"/>
            <a:ext cx="219456" cy="219456"/>
          </a:xfrm>
          <a:prstGeom prst="rect">
            <a:avLst/>
          </a:prstGeom>
        </p:spPr>
      </p:pic>
      <p:sp>
        <p:nvSpPr>
          <p:cNvPr id="83" name="Text 69"/>
          <p:cNvSpPr txBox="1"/>
          <p:nvPr/>
        </p:nvSpPr>
        <p:spPr>
          <a:xfrm>
            <a:off x="4882896" y="5870448"/>
            <a:ext cx="1298448" cy="347472"/>
          </a:xfrm>
          <a:prstGeom prst="rect">
            <a:avLst/>
          </a:prstGeom>
          <a:noFill/>
          <a:ln/>
        </p:spPr>
        <p:txBody>
          <a:bodyPr wrap="square" lIns="0" tIns="0" rIns="0" bIns="0" rtlCol="0" anchor="ctr"/>
          <a:lstStyle/>
          <a:p>
            <a:pPr indent="0" marL="0">
              <a:buNone/>
            </a:pPr>
            <a:r>
              <a:rPr lang="en-US" sz="1100" dirty="0">
                <a:solidFill>
                  <a:srgbClr val="FFFFFF"/>
                </a:solidFill>
                <a:latin typeface="+mj-lt" pitchFamily="34" charset="0"/>
                <a:ea typeface="+mj-lt" pitchFamily="34" charset="-122"/>
                <a:cs typeface="+mj-lt" pitchFamily="34" charset="-120"/>
              </a:rPr>
              <a:t>Everything audited</a:t>
            </a:r>
            <a:endParaRPr lang="en-US" sz="1100" dirty="0"/>
          </a:p>
        </p:txBody>
      </p:sp>
      <p:sp>
        <p:nvSpPr>
          <p:cNvPr id="84" name="Text 70"/>
          <p:cNvSpPr txBox="1"/>
          <p:nvPr/>
        </p:nvSpPr>
        <p:spPr>
          <a:xfrm>
            <a:off x="6537960" y="5870448"/>
            <a:ext cx="5120640" cy="365760"/>
          </a:xfrm>
          <a:prstGeom prst="rect">
            <a:avLst/>
          </a:prstGeom>
          <a:noFill/>
          <a:ln/>
        </p:spPr>
        <p:txBody>
          <a:bodyPr wrap="square" lIns="0" tIns="0" rIns="0" bIns="0" rtlCol="0" anchor="ctr"/>
          <a:lstStyle/>
          <a:p>
            <a:pPr indent="0" marL="0">
              <a:buNone/>
            </a:pPr>
            <a:r>
              <a:rPr lang="en-US" sz="1050" dirty="0">
                <a:solidFill>
                  <a:srgbClr val="FFFFFF"/>
                </a:solidFill>
                <a:latin typeface="+mj-lt" pitchFamily="34" charset="0"/>
                <a:ea typeface="+mj-lt" pitchFamily="34" charset="-122"/>
                <a:cs typeface="+mj-lt" pitchFamily="34" charset="-120"/>
              </a:rPr>
              <a:t>Why IBM: </a:t>
            </a:r>
            <a:pPr indent="0" marL="0">
              <a:buNone/>
            </a:pPr>
            <a:r>
              <a:rPr lang="en-US" sz="1050" dirty="0">
                <a:solidFill>
                  <a:srgbClr val="A6C8FF"/>
                </a:solidFill>
              </a:rPr>
              <a:t>open Granite models, IP-indemnified on watsonx, deployable on-prem where utility data must stay.</a:t>
            </a:r>
            <a:endParaRPr lang="en-US" sz="1050" dirty="0"/>
          </a:p>
        </p:txBody>
      </p:sp>
      <p:sp>
        <p:nvSpPr>
          <p:cNvPr id="25" name="Slide Number Placeholder 0"/>
          <p:cNvSpPr>
            <a:spLocks noGrp="1"/>
          </p:cNvSpPr>
          <p:nvPr>
            <p:ph type="sldNum" sz="quarter" idx="4294967295"/>
          </p:nvPr>
        </p:nvSpPr>
        <p:spPr>
          <a:xfrm>
            <a:off x="11274552" y="6419088"/>
            <a:ext cx="36576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EA4D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7315200" cy="237744"/>
          </a:xfrm>
          <a:prstGeom prst="rect">
            <a:avLst/>
          </a:prstGeom>
          <a:noFill/>
          <a:ln/>
        </p:spPr>
        <p:txBody>
          <a:bodyPr wrap="square" lIns="0" tIns="0" rIns="0" bIns="0" rtlCol="0" anchor="t"/>
          <a:lstStyle/>
          <a:p>
            <a:pPr indent="0" marL="0">
              <a:buNone/>
            </a:pPr>
            <a:r>
              <a:rPr lang="en-US" sz="1050" spc="200" kern="0" dirty="0">
                <a:solidFill>
                  <a:srgbClr val="0F62FE"/>
                </a:solidFill>
                <a:latin typeface="Consolas" pitchFamily="34" charset="0"/>
                <a:ea typeface="Consolas" pitchFamily="34" charset="-122"/>
                <a:cs typeface="Consolas" pitchFamily="34" charset="-120"/>
              </a:rPr>
              <a:t>06  ·  IMPACT &amp; FUTURE SCOPE</a:t>
            </a:r>
            <a:endParaRPr lang="en-US" sz="1050" dirty="0"/>
          </a:p>
        </p:txBody>
      </p:sp>
      <p:sp>
        <p:nvSpPr>
          <p:cNvPr id="3" name="Text 1"/>
          <p:cNvSpPr/>
          <p:nvPr>
            <p:ph idx="103" type="title" hasCustomPrompt="1"/>
          </p:nvPr>
        </p:nvSpPr>
        <p:spPr>
          <a:xfrm>
            <a:off x="548640" y="640080"/>
            <a:ext cx="11091672" cy="548640"/>
          </a:xfrm>
          <a:prstGeom prst="rect">
            <a:avLst/>
          </a:prstGeom>
          <a:noFill/>
          <a:ln/>
        </p:spPr>
        <p:txBody>
          <a:bodyPr wrap="square" lIns="0" tIns="0" rIns="0" bIns="0" rtlCol="0" anchor="t"/>
          <a:lstStyle/>
          <a:p>
            <a:pPr indent="0" marL="0">
              <a:buNone/>
            </a:pPr>
            <a:r>
              <a:rPr lang="en-US" sz="2600" dirty="0">
                <a:solidFill>
                  <a:srgbClr val="161616"/>
                </a:solidFill>
              </a:rPr>
              <a:t>Same fleet, same chargers: 59% lower cost, 93.9% ready</a:t>
            </a:r>
            <a:endParaRPr lang="en-US" sz="2600" dirty="0"/>
          </a:p>
        </p:txBody>
      </p:sp>
      <p:sp>
        <p:nvSpPr>
          <p:cNvPr id="4" name="Text 1"/>
          <p:cNvSpPr/>
          <p:nvPr>
            <p:ph idx="104" type="body" hasCustomPrompt="1"/>
          </p:nvPr>
        </p:nvSpPr>
        <p:spPr>
          <a:xfrm>
            <a:off x="548640" y="1188720"/>
            <a:ext cx="11091672" cy="310896"/>
          </a:xfrm>
          <a:prstGeom prst="rect">
            <a:avLst/>
          </a:prstGeom>
          <a:noFill/>
          <a:ln/>
        </p:spPr>
        <p:txBody>
          <a:bodyPr wrap="square" lIns="0" tIns="0" rIns="0" bIns="0" rtlCol="0" anchor="t"/>
          <a:lstStyle/>
          <a:p>
            <a:pPr indent="0" marL="0">
              <a:buNone/>
            </a:pPr>
            <a:r>
              <a:rPr lang="en-US" sz="1400" dirty="0">
                <a:solidFill>
                  <a:srgbClr val="525252"/>
                </a:solidFill>
              </a:rPr>
              <a:t>Modelled on a 100-EV, 3-depot, 22-charger fleet over the next 24 h: static first-come-first-served baseline vs ChargeOpt.</a:t>
            </a:r>
            <a:endParaRPr lang="en-US" sz="1400" dirty="0"/>
          </a:p>
        </p:txBody>
      </p:sp>
      <p:sp>
        <p:nvSpPr>
          <p:cNvPr id="5" name="Shape 3"/>
          <p:cNvSpPr/>
          <p:nvPr/>
        </p:nvSpPr>
        <p:spPr>
          <a:xfrm>
            <a:off x="548640" y="1783080"/>
            <a:ext cx="2601468" cy="1170432"/>
          </a:xfrm>
          <a:prstGeom prst="roundRect">
            <a:avLst>
              <a:gd name="adj" fmla="val 6250"/>
            </a:avLst>
          </a:prstGeom>
          <a:solidFill>
            <a:srgbClr val="FFFFFF"/>
          </a:solidFill>
          <a:ln w="9525">
            <a:solidFill>
              <a:srgbClr val="E0E0E0"/>
            </a:solidFill>
            <a:prstDash val="solid"/>
          </a:ln>
          <a:effectLst>
            <a:outerShdw sx="100000" sy="100000" kx="0" ky="0" algn="bl" rotWithShape="0" blurRad="177800" dist="38100" dir="5400000">
              <a:srgbClr val="0A1E4A">
                <a:alpha val="8000"/>
              </a:srgbClr>
            </a:outerShdw>
          </a:effectLst>
        </p:spPr>
      </p:sp>
      <p:sp>
        <p:nvSpPr>
          <p:cNvPr id="6" name="Shape 4"/>
          <p:cNvSpPr/>
          <p:nvPr/>
        </p:nvSpPr>
        <p:spPr>
          <a:xfrm>
            <a:off x="2583180" y="1920240"/>
            <a:ext cx="402336" cy="402336"/>
          </a:xfrm>
          <a:prstGeom prst="ellipse">
            <a:avLst/>
          </a:prstGeom>
          <a:solidFill>
            <a:srgbClr val="DEFBE6"/>
          </a:solidFill>
          <a:ln/>
        </p:spPr>
      </p:sp>
      <p:pic>
        <p:nvPicPr>
          <p:cNvPr id="7" name="Image 0" descr="preencoded.png">    </p:cNvPr>
          <p:cNvPicPr>
            <a:picLocks noChangeAspect="1"/>
          </p:cNvPicPr>
          <p:nvPr/>
        </p:nvPicPr>
        <p:blipFill>
          <a:blip r:embed="rId1"/>
          <a:stretch>
            <a:fillRect/>
          </a:stretch>
        </p:blipFill>
        <p:spPr>
          <a:xfrm>
            <a:off x="2671694" y="2008754"/>
            <a:ext cx="225308" cy="225308"/>
          </a:xfrm>
          <a:prstGeom prst="rect">
            <a:avLst/>
          </a:prstGeom>
        </p:spPr>
      </p:pic>
      <p:sp>
        <p:nvSpPr>
          <p:cNvPr id="8" name="Text 5"/>
          <p:cNvSpPr txBox="1"/>
          <p:nvPr/>
        </p:nvSpPr>
        <p:spPr>
          <a:xfrm>
            <a:off x="749808" y="1892808"/>
            <a:ext cx="1824228" cy="475488"/>
          </a:xfrm>
          <a:prstGeom prst="rect">
            <a:avLst/>
          </a:prstGeom>
          <a:noFill/>
          <a:ln/>
        </p:spPr>
        <p:txBody>
          <a:bodyPr wrap="square" lIns="0" tIns="0" rIns="0" bIns="0" rtlCol="0" anchor="t"/>
          <a:lstStyle/>
          <a:p>
            <a:pPr indent="0" marL="0">
              <a:buNone/>
            </a:pPr>
            <a:r>
              <a:rPr lang="en-US" sz="2600" dirty="0">
                <a:solidFill>
                  <a:srgbClr val="198038"/>
                </a:solidFill>
                <a:latin typeface="+mj-lt" pitchFamily="34" charset="0"/>
                <a:ea typeface="+mj-lt" pitchFamily="34" charset="-122"/>
                <a:cs typeface="+mj-lt" pitchFamily="34" charset="-120"/>
              </a:rPr>
              <a:t>−59%</a:t>
            </a:r>
            <a:endParaRPr lang="en-US" sz="2600" dirty="0"/>
          </a:p>
        </p:txBody>
      </p:sp>
      <p:sp>
        <p:nvSpPr>
          <p:cNvPr id="9" name="Text 6"/>
          <p:cNvSpPr txBox="1"/>
          <p:nvPr/>
        </p:nvSpPr>
        <p:spPr>
          <a:xfrm>
            <a:off x="749808" y="2395728"/>
            <a:ext cx="2327148" cy="219456"/>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energy cost per day</a:t>
            </a:r>
            <a:endParaRPr lang="en-US" sz="1100" dirty="0"/>
          </a:p>
        </p:txBody>
      </p:sp>
      <p:sp>
        <p:nvSpPr>
          <p:cNvPr id="10" name="Text 7"/>
          <p:cNvSpPr txBox="1"/>
          <p:nvPr/>
        </p:nvSpPr>
        <p:spPr>
          <a:xfrm>
            <a:off x="749808" y="2615184"/>
            <a:ext cx="2327148" cy="219456"/>
          </a:xfrm>
          <a:prstGeom prst="rect">
            <a:avLst/>
          </a:prstGeom>
          <a:noFill/>
          <a:ln/>
        </p:spPr>
        <p:txBody>
          <a:bodyPr wrap="square" lIns="0" tIns="0" rIns="0" bIns="0" rtlCol="0" anchor="t"/>
          <a:lstStyle/>
          <a:p>
            <a:pPr indent="0" marL="0">
              <a:buNone/>
            </a:pPr>
            <a:r>
              <a:rPr lang="en-US" sz="1000" dirty="0">
                <a:solidFill>
                  <a:srgbClr val="525252"/>
                </a:solidFill>
              </a:rPr>
              <a:t>₹37,570 → ₹15,540</a:t>
            </a:r>
            <a:endParaRPr lang="en-US" sz="1000" dirty="0"/>
          </a:p>
        </p:txBody>
      </p:sp>
      <p:sp>
        <p:nvSpPr>
          <p:cNvPr id="11" name="Shape 8"/>
          <p:cNvSpPr/>
          <p:nvPr/>
        </p:nvSpPr>
        <p:spPr>
          <a:xfrm>
            <a:off x="3378708" y="1783080"/>
            <a:ext cx="2601468" cy="1170432"/>
          </a:xfrm>
          <a:prstGeom prst="roundRect">
            <a:avLst>
              <a:gd name="adj" fmla="val 6250"/>
            </a:avLst>
          </a:prstGeom>
          <a:solidFill>
            <a:srgbClr val="FFFFFF"/>
          </a:solidFill>
          <a:ln w="9525">
            <a:solidFill>
              <a:srgbClr val="E0E0E0"/>
            </a:solidFill>
            <a:prstDash val="solid"/>
          </a:ln>
          <a:effectLst>
            <a:outerShdw sx="100000" sy="100000" kx="0" ky="0" algn="bl" rotWithShape="0" blurRad="177800" dist="38100" dir="5400000">
              <a:srgbClr val="0A1E4A">
                <a:alpha val="8000"/>
              </a:srgbClr>
            </a:outerShdw>
          </a:effectLst>
        </p:spPr>
      </p:sp>
      <p:sp>
        <p:nvSpPr>
          <p:cNvPr id="12" name="Shape 9"/>
          <p:cNvSpPr/>
          <p:nvPr/>
        </p:nvSpPr>
        <p:spPr>
          <a:xfrm>
            <a:off x="5413248" y="1920240"/>
            <a:ext cx="402336" cy="402336"/>
          </a:xfrm>
          <a:prstGeom prst="ellipse">
            <a:avLst/>
          </a:prstGeom>
          <a:solidFill>
            <a:srgbClr val="EDF5FF"/>
          </a:solidFill>
          <a:ln/>
        </p:spPr>
      </p:sp>
      <p:pic>
        <p:nvPicPr>
          <p:cNvPr id="13" name="Image 1" descr="preencoded.png">    </p:cNvPr>
          <p:cNvPicPr>
            <a:picLocks noChangeAspect="1"/>
          </p:cNvPicPr>
          <p:nvPr/>
        </p:nvPicPr>
        <p:blipFill>
          <a:blip r:embed="rId2"/>
          <a:stretch>
            <a:fillRect/>
          </a:stretch>
        </p:blipFill>
        <p:spPr>
          <a:xfrm>
            <a:off x="5501762" y="2008754"/>
            <a:ext cx="225308" cy="225308"/>
          </a:xfrm>
          <a:prstGeom prst="rect">
            <a:avLst/>
          </a:prstGeom>
        </p:spPr>
      </p:pic>
      <p:sp>
        <p:nvSpPr>
          <p:cNvPr id="14" name="Text 10"/>
          <p:cNvSpPr txBox="1"/>
          <p:nvPr/>
        </p:nvSpPr>
        <p:spPr>
          <a:xfrm>
            <a:off x="3579876" y="1892808"/>
            <a:ext cx="1824228" cy="475488"/>
          </a:xfrm>
          <a:prstGeom prst="rect">
            <a:avLst/>
          </a:prstGeom>
          <a:noFill/>
          <a:ln/>
        </p:spPr>
        <p:txBody>
          <a:bodyPr wrap="square" lIns="0" tIns="0" rIns="0" bIns="0" rtlCol="0" anchor="t"/>
          <a:lstStyle/>
          <a:p>
            <a:pPr indent="0" marL="0">
              <a:buNone/>
            </a:pPr>
            <a:r>
              <a:rPr lang="en-US" sz="2600" dirty="0">
                <a:solidFill>
                  <a:srgbClr val="0F62FE"/>
                </a:solidFill>
                <a:latin typeface="+mj-lt" pitchFamily="34" charset="0"/>
                <a:ea typeface="+mj-lt" pitchFamily="34" charset="-122"/>
                <a:cs typeface="+mj-lt" pitchFamily="34" charset="-120"/>
              </a:rPr>
              <a:t>93.9%</a:t>
            </a:r>
            <a:endParaRPr lang="en-US" sz="2600" dirty="0"/>
          </a:p>
        </p:txBody>
      </p:sp>
      <p:sp>
        <p:nvSpPr>
          <p:cNvPr id="15" name="Text 11"/>
          <p:cNvSpPr txBox="1"/>
          <p:nvPr/>
        </p:nvSpPr>
        <p:spPr>
          <a:xfrm>
            <a:off x="3579876" y="2395728"/>
            <a:ext cx="2327148" cy="219456"/>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projected departure readiness</a:t>
            </a:r>
            <a:endParaRPr lang="en-US" sz="1100" dirty="0"/>
          </a:p>
        </p:txBody>
      </p:sp>
      <p:sp>
        <p:nvSpPr>
          <p:cNvPr id="16" name="Text 12"/>
          <p:cNvSpPr txBox="1"/>
          <p:nvPr/>
        </p:nvSpPr>
        <p:spPr>
          <a:xfrm>
            <a:off x="3579876" y="2615184"/>
            <a:ext cx="2327148" cy="219456"/>
          </a:xfrm>
          <a:prstGeom prst="rect">
            <a:avLst/>
          </a:prstGeom>
          <a:noFill/>
          <a:ln/>
        </p:spPr>
        <p:txBody>
          <a:bodyPr wrap="square" lIns="0" tIns="0" rIns="0" bIns="0" rtlCol="0" anchor="t"/>
          <a:lstStyle/>
          <a:p>
            <a:pPr indent="0" marL="0">
              <a:buNone/>
            </a:pPr>
            <a:r>
              <a:rPr lang="en-US" sz="1000" dirty="0">
                <a:solidFill>
                  <a:srgbClr val="525252"/>
                </a:solidFill>
              </a:rPr>
              <a:t>from 87.9% · at-risk 8 → 4</a:t>
            </a:r>
            <a:endParaRPr lang="en-US" sz="1000" dirty="0"/>
          </a:p>
        </p:txBody>
      </p:sp>
      <p:sp>
        <p:nvSpPr>
          <p:cNvPr id="17" name="Shape 13"/>
          <p:cNvSpPr/>
          <p:nvPr/>
        </p:nvSpPr>
        <p:spPr>
          <a:xfrm>
            <a:off x="6208776" y="1783080"/>
            <a:ext cx="2601468" cy="1170432"/>
          </a:xfrm>
          <a:prstGeom prst="roundRect">
            <a:avLst>
              <a:gd name="adj" fmla="val 6250"/>
            </a:avLst>
          </a:prstGeom>
          <a:solidFill>
            <a:srgbClr val="FFFFFF"/>
          </a:solidFill>
          <a:ln w="9525">
            <a:solidFill>
              <a:srgbClr val="E0E0E0"/>
            </a:solidFill>
            <a:prstDash val="solid"/>
          </a:ln>
          <a:effectLst>
            <a:outerShdw sx="100000" sy="100000" kx="0" ky="0" algn="bl" rotWithShape="0" blurRad="177800" dist="38100" dir="5400000">
              <a:srgbClr val="0A1E4A">
                <a:alpha val="8000"/>
              </a:srgbClr>
            </a:outerShdw>
          </a:effectLst>
        </p:spPr>
      </p:sp>
      <p:sp>
        <p:nvSpPr>
          <p:cNvPr id="18" name="Shape 14"/>
          <p:cNvSpPr/>
          <p:nvPr/>
        </p:nvSpPr>
        <p:spPr>
          <a:xfrm>
            <a:off x="8243316" y="1920240"/>
            <a:ext cx="402336" cy="402336"/>
          </a:xfrm>
          <a:prstGeom prst="ellipse">
            <a:avLst/>
          </a:prstGeom>
          <a:solidFill>
            <a:srgbClr val="FFF2E8"/>
          </a:solidFill>
          <a:ln/>
        </p:spPr>
      </p:sp>
      <p:pic>
        <p:nvPicPr>
          <p:cNvPr id="19" name="Image 2" descr="preencoded.png">    </p:cNvPr>
          <p:cNvPicPr>
            <a:picLocks noChangeAspect="1"/>
          </p:cNvPicPr>
          <p:nvPr/>
        </p:nvPicPr>
        <p:blipFill>
          <a:blip r:embed="rId3"/>
          <a:stretch>
            <a:fillRect/>
          </a:stretch>
        </p:blipFill>
        <p:spPr>
          <a:xfrm>
            <a:off x="8331830" y="2008754"/>
            <a:ext cx="225308" cy="225308"/>
          </a:xfrm>
          <a:prstGeom prst="rect">
            <a:avLst/>
          </a:prstGeom>
        </p:spPr>
      </p:pic>
      <p:sp>
        <p:nvSpPr>
          <p:cNvPr id="20" name="Text 15"/>
          <p:cNvSpPr txBox="1"/>
          <p:nvPr/>
        </p:nvSpPr>
        <p:spPr>
          <a:xfrm>
            <a:off x="6409944" y="1892808"/>
            <a:ext cx="1824228" cy="475488"/>
          </a:xfrm>
          <a:prstGeom prst="rect">
            <a:avLst/>
          </a:prstGeom>
          <a:noFill/>
          <a:ln/>
        </p:spPr>
        <p:txBody>
          <a:bodyPr wrap="square" lIns="0" tIns="0" rIns="0" bIns="0" rtlCol="0" anchor="t"/>
          <a:lstStyle/>
          <a:p>
            <a:pPr indent="0" marL="0">
              <a:buNone/>
            </a:pPr>
            <a:r>
              <a:rPr lang="en-US" sz="2600" dirty="0">
                <a:solidFill>
                  <a:srgbClr val="BA4E00"/>
                </a:solidFill>
                <a:latin typeface="+mj-lt" pitchFamily="34" charset="0"/>
                <a:ea typeface="+mj-lt" pitchFamily="34" charset="-122"/>
                <a:cs typeface="+mj-lt" pitchFamily="34" charset="-120"/>
              </a:rPr>
              <a:t>82% → 21%</a:t>
            </a:r>
            <a:endParaRPr lang="en-US" sz="2600" dirty="0"/>
          </a:p>
        </p:txBody>
      </p:sp>
      <p:sp>
        <p:nvSpPr>
          <p:cNvPr id="21" name="Text 16"/>
          <p:cNvSpPr txBox="1"/>
          <p:nvPr/>
        </p:nvSpPr>
        <p:spPr>
          <a:xfrm>
            <a:off x="6409944" y="2395728"/>
            <a:ext cx="2327148" cy="219456"/>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energy in the peak window</a:t>
            </a:r>
            <a:endParaRPr lang="en-US" sz="1100" dirty="0"/>
          </a:p>
        </p:txBody>
      </p:sp>
      <p:sp>
        <p:nvSpPr>
          <p:cNvPr id="22" name="Text 17"/>
          <p:cNvSpPr txBox="1"/>
          <p:nvPr/>
        </p:nvSpPr>
        <p:spPr>
          <a:xfrm>
            <a:off x="6409944" y="2615184"/>
            <a:ext cx="2327148" cy="219456"/>
          </a:xfrm>
          <a:prstGeom prst="rect">
            <a:avLst/>
          </a:prstGeom>
          <a:noFill/>
          <a:ln/>
        </p:spPr>
        <p:txBody>
          <a:bodyPr wrap="square" lIns="0" tIns="0" rIns="0" bIns="0" rtlCol="0" anchor="t"/>
          <a:lstStyle/>
          <a:p>
            <a:pPr indent="0" marL="0">
              <a:buNone/>
            </a:pPr>
            <a:r>
              <a:rPr lang="en-US" sz="1000" dirty="0">
                <a:solidFill>
                  <a:srgbClr val="525252"/>
                </a:solidFill>
              </a:rPr>
              <a:t>71% now lands off-peak</a:t>
            </a:r>
            <a:endParaRPr lang="en-US" sz="1000" dirty="0"/>
          </a:p>
        </p:txBody>
      </p:sp>
      <p:sp>
        <p:nvSpPr>
          <p:cNvPr id="23" name="Shape 18"/>
          <p:cNvSpPr/>
          <p:nvPr/>
        </p:nvSpPr>
        <p:spPr>
          <a:xfrm>
            <a:off x="9038844" y="1783080"/>
            <a:ext cx="2601468" cy="1170432"/>
          </a:xfrm>
          <a:prstGeom prst="roundRect">
            <a:avLst>
              <a:gd name="adj" fmla="val 6250"/>
            </a:avLst>
          </a:prstGeom>
          <a:solidFill>
            <a:srgbClr val="FFFFFF"/>
          </a:solidFill>
          <a:ln w="9525">
            <a:solidFill>
              <a:srgbClr val="E0E0E0"/>
            </a:solidFill>
            <a:prstDash val="solid"/>
          </a:ln>
          <a:effectLst>
            <a:outerShdw sx="100000" sy="100000" kx="0" ky="0" algn="bl" rotWithShape="0" blurRad="177800" dist="38100" dir="5400000">
              <a:srgbClr val="0A1E4A">
                <a:alpha val="8000"/>
              </a:srgbClr>
            </a:outerShdw>
          </a:effectLst>
        </p:spPr>
      </p:sp>
      <p:sp>
        <p:nvSpPr>
          <p:cNvPr id="24" name="Shape 19"/>
          <p:cNvSpPr/>
          <p:nvPr/>
        </p:nvSpPr>
        <p:spPr>
          <a:xfrm>
            <a:off x="11073384" y="1920240"/>
            <a:ext cx="402336" cy="402336"/>
          </a:xfrm>
          <a:prstGeom prst="ellipse">
            <a:avLst/>
          </a:prstGeom>
          <a:solidFill>
            <a:srgbClr val="D9FBFB"/>
          </a:solidFill>
          <a:ln/>
        </p:spPr>
      </p:sp>
      <p:pic>
        <p:nvPicPr>
          <p:cNvPr id="25" name="Image 3" descr="preencoded.png">    </p:cNvPr>
          <p:cNvPicPr>
            <a:picLocks noChangeAspect="1"/>
          </p:cNvPicPr>
          <p:nvPr/>
        </p:nvPicPr>
        <p:blipFill>
          <a:blip r:embed="rId4"/>
          <a:stretch>
            <a:fillRect/>
          </a:stretch>
        </p:blipFill>
        <p:spPr>
          <a:xfrm>
            <a:off x="11161898" y="2008754"/>
            <a:ext cx="225308" cy="225308"/>
          </a:xfrm>
          <a:prstGeom prst="rect">
            <a:avLst/>
          </a:prstGeom>
        </p:spPr>
      </p:pic>
      <p:sp>
        <p:nvSpPr>
          <p:cNvPr id="26" name="Text 20"/>
          <p:cNvSpPr txBox="1"/>
          <p:nvPr/>
        </p:nvSpPr>
        <p:spPr>
          <a:xfrm>
            <a:off x="9240012" y="1892808"/>
            <a:ext cx="1824228" cy="475488"/>
          </a:xfrm>
          <a:prstGeom prst="rect">
            <a:avLst/>
          </a:prstGeom>
          <a:noFill/>
          <a:ln/>
        </p:spPr>
        <p:txBody>
          <a:bodyPr wrap="square" lIns="0" tIns="0" rIns="0" bIns="0" rtlCol="0" anchor="t"/>
          <a:lstStyle/>
          <a:p>
            <a:pPr indent="0" marL="0">
              <a:buNone/>
            </a:pPr>
            <a:r>
              <a:rPr lang="en-US" sz="2600" dirty="0">
                <a:solidFill>
                  <a:srgbClr val="007D79"/>
                </a:solidFill>
                <a:latin typeface="+mj-lt" pitchFamily="34" charset="0"/>
                <a:ea typeface="+mj-lt" pitchFamily="34" charset="-122"/>
                <a:cs typeface="+mj-lt" pitchFamily="34" charset="-120"/>
              </a:rPr>
              <a:t>−17%</a:t>
            </a:r>
            <a:endParaRPr lang="en-US" sz="2600" dirty="0"/>
          </a:p>
        </p:txBody>
      </p:sp>
      <p:sp>
        <p:nvSpPr>
          <p:cNvPr id="27" name="Text 21"/>
          <p:cNvSpPr txBox="1"/>
          <p:nvPr/>
        </p:nvSpPr>
        <p:spPr>
          <a:xfrm>
            <a:off x="9240012" y="2395728"/>
            <a:ext cx="2327148" cy="219456"/>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peak site load</a:t>
            </a:r>
            <a:endParaRPr lang="en-US" sz="1100" dirty="0"/>
          </a:p>
        </p:txBody>
      </p:sp>
      <p:sp>
        <p:nvSpPr>
          <p:cNvPr id="28" name="Text 22"/>
          <p:cNvSpPr txBox="1"/>
          <p:nvPr/>
        </p:nvSpPr>
        <p:spPr>
          <a:xfrm>
            <a:off x="9240012" y="2615184"/>
            <a:ext cx="2327148" cy="219456"/>
          </a:xfrm>
          <a:prstGeom prst="rect">
            <a:avLst/>
          </a:prstGeom>
          <a:noFill/>
          <a:ln/>
        </p:spPr>
        <p:txBody>
          <a:bodyPr wrap="square" lIns="0" tIns="0" rIns="0" bIns="0" rtlCol="0" anchor="t"/>
          <a:lstStyle/>
          <a:p>
            <a:pPr indent="0" marL="0">
              <a:buNone/>
            </a:pPr>
            <a:r>
              <a:rPr lang="en-US" sz="1000" dirty="0">
                <a:solidFill>
                  <a:srgbClr val="525252"/>
                </a:solidFill>
              </a:rPr>
              <a:t>1,245 → 1,031 kW</a:t>
            </a:r>
            <a:endParaRPr lang="en-US" sz="1000" dirty="0"/>
          </a:p>
        </p:txBody>
      </p:sp>
      <p:sp>
        <p:nvSpPr>
          <p:cNvPr id="29" name="Shape 23"/>
          <p:cNvSpPr/>
          <p:nvPr/>
        </p:nvSpPr>
        <p:spPr>
          <a:xfrm>
            <a:off x="548640" y="3182112"/>
            <a:ext cx="3794760" cy="3035808"/>
          </a:xfrm>
          <a:prstGeom prst="roundRect">
            <a:avLst>
              <a:gd name="adj" fmla="val 2410"/>
            </a:avLst>
          </a:prstGeom>
          <a:solidFill>
            <a:srgbClr val="FFFFFF"/>
          </a:solidFill>
          <a:ln w="9525">
            <a:solidFill>
              <a:srgbClr val="E0E0E0"/>
            </a:solidFill>
            <a:prstDash val="solid"/>
          </a:ln>
          <a:effectLst>
            <a:outerShdw sx="100000" sy="100000" kx="0" ky="0" algn="bl" rotWithShape="0" blurRad="177800" dist="38100" dir="5400000">
              <a:srgbClr val="0A1E4A">
                <a:alpha val="6000"/>
              </a:srgbClr>
            </a:outerShdw>
          </a:effectLst>
        </p:spPr>
      </p:sp>
      <p:sp>
        <p:nvSpPr>
          <p:cNvPr id="30" name="Text 24"/>
          <p:cNvSpPr txBox="1"/>
          <p:nvPr/>
        </p:nvSpPr>
        <p:spPr>
          <a:xfrm>
            <a:off x="749808" y="3310128"/>
            <a:ext cx="347472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WHERE THE kWh LAND · NEXT 24 H</a:t>
            </a:r>
            <a:endParaRPr lang="en-US" sz="1000" dirty="0"/>
          </a:p>
        </p:txBody>
      </p:sp>
      <p:graphicFrame>
        <p:nvGraphicFramePr>
          <p:cNvPr id="31" name="Chart 0" descr=""/>
          <p:cNvGraphicFramePr/>
          <p:nvPr/>
        </p:nvGraphicFramePr>
        <p:xfrm>
          <a:off x="640080" y="3566160"/>
          <a:ext cx="3611880" cy="2606040"/>
        </p:xfrm>
        <a:graphic xmlns:a="http://schemas.openxmlformats.org/drawingml/2006/main">
          <a:graphicData uri="http://schemas.openxmlformats.org/drawingml/2006/chart">
            <c:chart xmlns:c="http://schemas.openxmlformats.org/drawingml/2006/chart" r:id="rId5"/>
          </a:graphicData>
        </a:graphic>
      </p:graphicFrame>
      <p:sp>
        <p:nvSpPr>
          <p:cNvPr id="32" name="Shape 25"/>
          <p:cNvSpPr/>
          <p:nvPr/>
        </p:nvSpPr>
        <p:spPr>
          <a:xfrm>
            <a:off x="4572000" y="3182112"/>
            <a:ext cx="3429000" cy="1481328"/>
          </a:xfrm>
          <a:prstGeom prst="roundRect">
            <a:avLst>
              <a:gd name="adj" fmla="val 4938"/>
            </a:avLst>
          </a:prstGeom>
          <a:solidFill>
            <a:srgbClr val="001141"/>
          </a:solidFill>
          <a:ln/>
          <a:effectLst>
            <a:outerShdw sx="100000" sy="100000" kx="0" ky="0" algn="bl" rotWithShape="0" blurRad="177800" dist="38100" dir="5400000">
              <a:srgbClr val="0A1E4A">
                <a:alpha val="20000"/>
              </a:srgbClr>
            </a:outerShdw>
          </a:effectLst>
        </p:spPr>
      </p:sp>
      <p:sp>
        <p:nvSpPr>
          <p:cNvPr id="33" name="Text 26"/>
          <p:cNvSpPr txBox="1"/>
          <p:nvPr/>
        </p:nvSpPr>
        <p:spPr>
          <a:xfrm>
            <a:off x="4773168" y="3310128"/>
            <a:ext cx="3108960" cy="201168"/>
          </a:xfrm>
          <a:prstGeom prst="rect">
            <a:avLst/>
          </a:prstGeom>
          <a:noFill/>
          <a:ln/>
        </p:spPr>
        <p:txBody>
          <a:bodyPr wrap="square" lIns="0" tIns="0" rIns="0" bIns="0" rtlCol="0" anchor="t"/>
          <a:lstStyle/>
          <a:p>
            <a:pPr indent="0" marL="0">
              <a:buNone/>
            </a:pPr>
            <a:r>
              <a:rPr lang="en-US" sz="1000" spc="150" kern="0" dirty="0">
                <a:solidFill>
                  <a:srgbClr val="33B1FF"/>
                </a:solidFill>
                <a:latin typeface="Consolas" pitchFamily="34" charset="0"/>
                <a:ea typeface="Consolas" pitchFamily="34" charset="-122"/>
                <a:cs typeface="Consolas" pitchFamily="34" charset="-120"/>
              </a:rPr>
              <a:t>VALUE PER 100-EV FLEET / YEAR</a:t>
            </a:r>
            <a:endParaRPr lang="en-US" sz="1000" dirty="0"/>
          </a:p>
        </p:txBody>
      </p:sp>
      <p:sp>
        <p:nvSpPr>
          <p:cNvPr id="34" name="Text 27"/>
          <p:cNvSpPr txBox="1"/>
          <p:nvPr/>
        </p:nvSpPr>
        <p:spPr>
          <a:xfrm>
            <a:off x="4773168" y="3566160"/>
            <a:ext cx="1645920" cy="457200"/>
          </a:xfrm>
          <a:prstGeom prst="rect">
            <a:avLst/>
          </a:prstGeom>
          <a:noFill/>
          <a:ln/>
        </p:spPr>
        <p:txBody>
          <a:bodyPr wrap="square" lIns="0" tIns="0" rIns="0" bIns="0" rtlCol="0" anchor="t"/>
          <a:lstStyle/>
          <a:p>
            <a:pPr indent="0" marL="0">
              <a:buNone/>
            </a:pPr>
            <a:r>
              <a:rPr lang="en-US" sz="2600" dirty="0">
                <a:solidFill>
                  <a:srgbClr val="FFFFFF"/>
                </a:solidFill>
                <a:latin typeface="+mj-lt" pitchFamily="34" charset="0"/>
                <a:ea typeface="+mj-lt" pitchFamily="34" charset="-122"/>
                <a:cs typeface="+mj-lt" pitchFamily="34" charset="-120"/>
              </a:rPr>
              <a:t>≈ ₹80 L</a:t>
            </a:r>
            <a:endParaRPr lang="en-US" sz="2600" dirty="0"/>
          </a:p>
        </p:txBody>
      </p:sp>
      <p:sp>
        <p:nvSpPr>
          <p:cNvPr id="35" name="Text 28"/>
          <p:cNvSpPr txBox="1"/>
          <p:nvPr/>
        </p:nvSpPr>
        <p:spPr>
          <a:xfrm>
            <a:off x="4773168" y="4041648"/>
            <a:ext cx="1463040" cy="384048"/>
          </a:xfrm>
          <a:prstGeom prst="rect">
            <a:avLst/>
          </a:prstGeom>
          <a:noFill/>
          <a:ln/>
        </p:spPr>
        <p:txBody>
          <a:bodyPr wrap="square" lIns="0" tIns="0" rIns="0" bIns="0" rtlCol="0" anchor="t"/>
          <a:lstStyle/>
          <a:p>
            <a:pPr indent="0" marL="0">
              <a:buNone/>
            </a:pPr>
            <a:r>
              <a:rPr lang="en-US" sz="1000" dirty="0">
                <a:solidFill>
                  <a:srgbClr val="A6C8FF"/>
                </a:solidFill>
              </a:rPr>
              <a:t>energy cost</a:t>
            </a:r>
            <a:endParaRPr lang="en-US" sz="1000" dirty="0"/>
          </a:p>
          <a:p>
            <a:pPr indent="0" marL="0">
              <a:buNone/>
            </a:pPr>
            <a:r>
              <a:rPr lang="en-US" sz="1000" dirty="0">
                <a:solidFill>
                  <a:srgbClr val="A6C8FF"/>
                </a:solidFill>
              </a:rPr>
              <a:t>avoided</a:t>
            </a:r>
            <a:endParaRPr lang="en-US" sz="1000" dirty="0"/>
          </a:p>
        </p:txBody>
      </p:sp>
      <p:sp>
        <p:nvSpPr>
          <p:cNvPr id="36" name="Shape 29"/>
          <p:cNvSpPr/>
          <p:nvPr/>
        </p:nvSpPr>
        <p:spPr>
          <a:xfrm>
            <a:off x="6327648" y="3639312"/>
            <a:ext cx="0" cy="786384"/>
          </a:xfrm>
          <a:prstGeom prst="line">
            <a:avLst/>
          </a:prstGeom>
          <a:noFill/>
          <a:ln w="9525">
            <a:solidFill>
              <a:srgbClr val="FFFFFF">
                <a:alpha val="25000"/>
              </a:srgbClr>
            </a:solidFill>
            <a:prstDash val="solid"/>
          </a:ln>
        </p:spPr>
      </p:sp>
      <p:sp>
        <p:nvSpPr>
          <p:cNvPr id="37" name="Text 30"/>
          <p:cNvSpPr txBox="1"/>
          <p:nvPr/>
        </p:nvSpPr>
        <p:spPr>
          <a:xfrm>
            <a:off x="6492240" y="3566160"/>
            <a:ext cx="1463040" cy="457200"/>
          </a:xfrm>
          <a:prstGeom prst="rect">
            <a:avLst/>
          </a:prstGeom>
          <a:noFill/>
          <a:ln/>
        </p:spPr>
        <p:txBody>
          <a:bodyPr wrap="square" lIns="0" tIns="0" rIns="0" bIns="0" rtlCol="0" anchor="t"/>
          <a:lstStyle/>
          <a:p>
            <a:pPr indent="0" marL="0">
              <a:buNone/>
            </a:pPr>
            <a:r>
              <a:rPr lang="en-US" sz="2600" dirty="0">
                <a:solidFill>
                  <a:srgbClr val="FFFFFF"/>
                </a:solidFill>
                <a:latin typeface="+mj-lt" pitchFamily="34" charset="0"/>
                <a:ea typeface="+mj-lt" pitchFamily="34" charset="-122"/>
                <a:cs typeface="+mj-lt" pitchFamily="34" charset="-120"/>
              </a:rPr>
              <a:t>≈ ₹16 L</a:t>
            </a:r>
            <a:endParaRPr lang="en-US" sz="2600" dirty="0"/>
          </a:p>
        </p:txBody>
      </p:sp>
      <p:sp>
        <p:nvSpPr>
          <p:cNvPr id="38" name="Text 31"/>
          <p:cNvSpPr txBox="1"/>
          <p:nvPr/>
        </p:nvSpPr>
        <p:spPr>
          <a:xfrm>
            <a:off x="6492240" y="4041648"/>
            <a:ext cx="1463040" cy="384048"/>
          </a:xfrm>
          <a:prstGeom prst="rect">
            <a:avLst/>
          </a:prstGeom>
          <a:noFill/>
          <a:ln/>
        </p:spPr>
        <p:txBody>
          <a:bodyPr wrap="square" lIns="0" tIns="0" rIns="0" bIns="0" rtlCol="0" anchor="t"/>
          <a:lstStyle/>
          <a:p>
            <a:pPr indent="0" marL="0">
              <a:buNone/>
            </a:pPr>
            <a:r>
              <a:rPr lang="en-US" sz="1000" dirty="0">
                <a:solidFill>
                  <a:srgbClr val="A6C8FF"/>
                </a:solidFill>
              </a:rPr>
              <a:t>demand charges</a:t>
            </a:r>
            <a:endParaRPr lang="en-US" sz="1000" dirty="0"/>
          </a:p>
          <a:p>
            <a:pPr indent="0" marL="0">
              <a:buNone/>
            </a:pPr>
            <a:r>
              <a:rPr lang="en-US" sz="1000" dirty="0">
                <a:solidFill>
                  <a:srgbClr val="A6C8FF"/>
                </a:solidFill>
              </a:rPr>
              <a:t>avoided</a:t>
            </a:r>
            <a:endParaRPr lang="en-US" sz="1000" dirty="0"/>
          </a:p>
        </p:txBody>
      </p:sp>
      <p:sp>
        <p:nvSpPr>
          <p:cNvPr id="39" name="Text 32"/>
          <p:cNvSpPr txBox="1"/>
          <p:nvPr/>
        </p:nvSpPr>
        <p:spPr>
          <a:xfrm>
            <a:off x="4773168" y="4407408"/>
            <a:ext cx="3108960" cy="182880"/>
          </a:xfrm>
          <a:prstGeom prst="rect">
            <a:avLst/>
          </a:prstGeom>
          <a:noFill/>
          <a:ln/>
        </p:spPr>
        <p:txBody>
          <a:bodyPr wrap="square" lIns="0" tIns="0" rIns="0" bIns="0" rtlCol="0" anchor="t"/>
          <a:lstStyle/>
          <a:p>
            <a:pPr indent="0" marL="0">
              <a:buNone/>
            </a:pPr>
            <a:r>
              <a:rPr lang="en-US" sz="900" dirty="0">
                <a:solidFill>
                  <a:srgbClr val="8EA4D2"/>
                </a:solidFill>
              </a:rPr>
              <a:t>Annualised from the modelled day</a:t>
            </a:r>
            <a:endParaRPr lang="en-US" sz="900" dirty="0"/>
          </a:p>
        </p:txBody>
      </p:sp>
      <p:sp>
        <p:nvSpPr>
          <p:cNvPr id="40" name="Text 33"/>
          <p:cNvSpPr txBox="1"/>
          <p:nvPr/>
        </p:nvSpPr>
        <p:spPr>
          <a:xfrm>
            <a:off x="4572000" y="4828032"/>
            <a:ext cx="27432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SOCIAL IMPACT</a:t>
            </a:r>
            <a:endParaRPr lang="en-US" sz="1000" dirty="0"/>
          </a:p>
        </p:txBody>
      </p:sp>
      <p:sp>
        <p:nvSpPr>
          <p:cNvPr id="41" name="Shape 34"/>
          <p:cNvSpPr/>
          <p:nvPr/>
        </p:nvSpPr>
        <p:spPr>
          <a:xfrm>
            <a:off x="4572000" y="5074920"/>
            <a:ext cx="1051560" cy="1143000"/>
          </a:xfrm>
          <a:prstGeom prst="roundRect">
            <a:avLst>
              <a:gd name="adj" fmla="val 6957"/>
            </a:avLst>
          </a:prstGeom>
          <a:solidFill>
            <a:srgbClr val="F2F4F8"/>
          </a:solidFill>
          <a:ln/>
        </p:spPr>
      </p:sp>
      <p:sp>
        <p:nvSpPr>
          <p:cNvPr id="42" name="Shape 35"/>
          <p:cNvSpPr/>
          <p:nvPr/>
        </p:nvSpPr>
        <p:spPr>
          <a:xfrm>
            <a:off x="4681728" y="5175504"/>
            <a:ext cx="329184" cy="329184"/>
          </a:xfrm>
          <a:prstGeom prst="ellipse">
            <a:avLst/>
          </a:prstGeom>
          <a:solidFill>
            <a:srgbClr val="FFFFFF"/>
          </a:solidFill>
          <a:ln/>
        </p:spPr>
      </p:sp>
      <p:pic>
        <p:nvPicPr>
          <p:cNvPr id="43" name="Image 4" descr="preencoded.png">    </p:cNvPr>
          <p:cNvPicPr>
            <a:picLocks noChangeAspect="1"/>
          </p:cNvPicPr>
          <p:nvPr/>
        </p:nvPicPr>
        <p:blipFill>
          <a:blip r:embed="rId6"/>
          <a:stretch>
            <a:fillRect/>
          </a:stretch>
        </p:blipFill>
        <p:spPr>
          <a:xfrm>
            <a:off x="4754148" y="5247924"/>
            <a:ext cx="184343" cy="184343"/>
          </a:xfrm>
          <a:prstGeom prst="rect">
            <a:avLst/>
          </a:prstGeom>
        </p:spPr>
      </p:pic>
      <p:sp>
        <p:nvSpPr>
          <p:cNvPr id="44" name="Text 36"/>
          <p:cNvSpPr txBox="1"/>
          <p:nvPr/>
        </p:nvSpPr>
        <p:spPr>
          <a:xfrm>
            <a:off x="4681728" y="5550408"/>
            <a:ext cx="886968" cy="201168"/>
          </a:xfrm>
          <a:prstGeom prst="rect">
            <a:avLst/>
          </a:prstGeom>
          <a:noFill/>
          <a:ln/>
        </p:spPr>
        <p:txBody>
          <a:bodyPr wrap="square" lIns="0" tIns="0" rIns="0" bIns="0" rtlCol="0" anchor="t"/>
          <a:lstStyle/>
          <a:p>
            <a:pPr indent="0" marL="0">
              <a:buNone/>
            </a:pPr>
            <a:r>
              <a:rPr lang="en-US" sz="1050" dirty="0">
                <a:solidFill>
                  <a:srgbClr val="161616"/>
                </a:solidFill>
                <a:latin typeface="+mj-lt" pitchFamily="34" charset="0"/>
                <a:ea typeface="+mj-lt" pitchFamily="34" charset="-122"/>
                <a:cs typeface="+mj-lt" pitchFamily="34" charset="-120"/>
              </a:rPr>
              <a:t>Grid relief</a:t>
            </a:r>
            <a:endParaRPr lang="en-US" sz="1050" dirty="0"/>
          </a:p>
        </p:txBody>
      </p:sp>
      <p:sp>
        <p:nvSpPr>
          <p:cNvPr id="45" name="Text 37"/>
          <p:cNvSpPr txBox="1"/>
          <p:nvPr/>
        </p:nvSpPr>
        <p:spPr>
          <a:xfrm>
            <a:off x="4681728" y="5760720"/>
            <a:ext cx="914400" cy="384048"/>
          </a:xfrm>
          <a:prstGeom prst="rect">
            <a:avLst/>
          </a:prstGeom>
          <a:noFill/>
          <a:ln/>
        </p:spPr>
        <p:txBody>
          <a:bodyPr wrap="square" lIns="0" tIns="0" rIns="0" bIns="0" rtlCol="0" anchor="t"/>
          <a:lstStyle/>
          <a:p>
            <a:pPr indent="0" marL="0">
              <a:buNone/>
            </a:pPr>
            <a:r>
              <a:rPr lang="en-US" sz="1000" dirty="0">
                <a:solidFill>
                  <a:srgbClr val="525252"/>
                </a:solidFill>
              </a:rPr>
              <a:t>−214 kW at</a:t>
            </a:r>
            <a:endParaRPr lang="en-US" sz="1000" dirty="0"/>
          </a:p>
          <a:p>
            <a:pPr indent="0" marL="0">
              <a:buNone/>
            </a:pPr>
            <a:r>
              <a:rPr lang="en-US" sz="1000" dirty="0">
                <a:solidFill>
                  <a:srgbClr val="525252"/>
                </a:solidFill>
              </a:rPr>
              <a:t>the evening peak</a:t>
            </a:r>
            <a:endParaRPr lang="en-US" sz="1000" dirty="0"/>
          </a:p>
        </p:txBody>
      </p:sp>
      <p:sp>
        <p:nvSpPr>
          <p:cNvPr id="46" name="Shape 38"/>
          <p:cNvSpPr/>
          <p:nvPr/>
        </p:nvSpPr>
        <p:spPr>
          <a:xfrm>
            <a:off x="5760720" y="5074920"/>
            <a:ext cx="1051560" cy="1143000"/>
          </a:xfrm>
          <a:prstGeom prst="roundRect">
            <a:avLst>
              <a:gd name="adj" fmla="val 6957"/>
            </a:avLst>
          </a:prstGeom>
          <a:solidFill>
            <a:srgbClr val="F2F4F8"/>
          </a:solidFill>
          <a:ln/>
        </p:spPr>
      </p:sp>
      <p:sp>
        <p:nvSpPr>
          <p:cNvPr id="47" name="Shape 39"/>
          <p:cNvSpPr/>
          <p:nvPr/>
        </p:nvSpPr>
        <p:spPr>
          <a:xfrm>
            <a:off x="5870448" y="5175504"/>
            <a:ext cx="329184" cy="329184"/>
          </a:xfrm>
          <a:prstGeom prst="ellipse">
            <a:avLst/>
          </a:prstGeom>
          <a:solidFill>
            <a:srgbClr val="FFFFFF"/>
          </a:solidFill>
          <a:ln/>
        </p:spPr>
      </p:sp>
      <p:pic>
        <p:nvPicPr>
          <p:cNvPr id="48" name="Image 5" descr="preencoded.png">    </p:cNvPr>
          <p:cNvPicPr>
            <a:picLocks noChangeAspect="1"/>
          </p:cNvPicPr>
          <p:nvPr/>
        </p:nvPicPr>
        <p:blipFill>
          <a:blip r:embed="rId7"/>
          <a:stretch>
            <a:fillRect/>
          </a:stretch>
        </p:blipFill>
        <p:spPr>
          <a:xfrm>
            <a:off x="5942868" y="5247924"/>
            <a:ext cx="184343" cy="184343"/>
          </a:xfrm>
          <a:prstGeom prst="rect">
            <a:avLst/>
          </a:prstGeom>
        </p:spPr>
      </p:pic>
      <p:sp>
        <p:nvSpPr>
          <p:cNvPr id="49" name="Text 40"/>
          <p:cNvSpPr txBox="1"/>
          <p:nvPr/>
        </p:nvSpPr>
        <p:spPr>
          <a:xfrm>
            <a:off x="5870448" y="5550408"/>
            <a:ext cx="886968" cy="201168"/>
          </a:xfrm>
          <a:prstGeom prst="rect">
            <a:avLst/>
          </a:prstGeom>
          <a:noFill/>
          <a:ln/>
        </p:spPr>
        <p:txBody>
          <a:bodyPr wrap="square" lIns="0" tIns="0" rIns="0" bIns="0" rtlCol="0" anchor="t"/>
          <a:lstStyle/>
          <a:p>
            <a:pPr indent="0" marL="0">
              <a:buNone/>
            </a:pPr>
            <a:r>
              <a:rPr lang="en-US" sz="1050" dirty="0">
                <a:solidFill>
                  <a:srgbClr val="161616"/>
                </a:solidFill>
                <a:latin typeface="+mj-lt" pitchFamily="34" charset="0"/>
                <a:ea typeface="+mj-lt" pitchFamily="34" charset="-122"/>
                <a:cs typeface="+mj-lt" pitchFamily="34" charset="-120"/>
              </a:rPr>
              <a:t>Cheaper EV km</a:t>
            </a:r>
            <a:endParaRPr lang="en-US" sz="1050" dirty="0"/>
          </a:p>
        </p:txBody>
      </p:sp>
      <p:sp>
        <p:nvSpPr>
          <p:cNvPr id="50" name="Text 41"/>
          <p:cNvSpPr txBox="1"/>
          <p:nvPr/>
        </p:nvSpPr>
        <p:spPr>
          <a:xfrm>
            <a:off x="5870448" y="5760720"/>
            <a:ext cx="914400" cy="384048"/>
          </a:xfrm>
          <a:prstGeom prst="rect">
            <a:avLst/>
          </a:prstGeom>
          <a:noFill/>
          <a:ln/>
        </p:spPr>
        <p:txBody>
          <a:bodyPr wrap="square" lIns="0" tIns="0" rIns="0" bIns="0" rtlCol="0" anchor="t"/>
          <a:lstStyle/>
          <a:p>
            <a:pPr indent="0" marL="0">
              <a:buNone/>
            </a:pPr>
            <a:r>
              <a:rPr lang="en-US" sz="1000" dirty="0">
                <a:solidFill>
                  <a:srgbClr val="525252"/>
                </a:solidFill>
              </a:rPr>
              <a:t>₹6.60 vs ₹10.78</a:t>
            </a:r>
            <a:endParaRPr lang="en-US" sz="1000" dirty="0"/>
          </a:p>
          <a:p>
            <a:pPr indent="0" marL="0">
              <a:buNone/>
            </a:pPr>
            <a:r>
              <a:rPr lang="en-US" sz="1000" dirty="0">
                <a:solidFill>
                  <a:srgbClr val="525252"/>
                </a:solidFill>
              </a:rPr>
              <a:t>per kWh</a:t>
            </a:r>
            <a:endParaRPr lang="en-US" sz="1000" dirty="0"/>
          </a:p>
        </p:txBody>
      </p:sp>
      <p:sp>
        <p:nvSpPr>
          <p:cNvPr id="51" name="Shape 42"/>
          <p:cNvSpPr/>
          <p:nvPr/>
        </p:nvSpPr>
        <p:spPr>
          <a:xfrm>
            <a:off x="6949440" y="5074920"/>
            <a:ext cx="1051560" cy="1143000"/>
          </a:xfrm>
          <a:prstGeom prst="roundRect">
            <a:avLst>
              <a:gd name="adj" fmla="val 6957"/>
            </a:avLst>
          </a:prstGeom>
          <a:solidFill>
            <a:srgbClr val="F2F4F8"/>
          </a:solidFill>
          <a:ln/>
        </p:spPr>
      </p:sp>
      <p:sp>
        <p:nvSpPr>
          <p:cNvPr id="52" name="Shape 43"/>
          <p:cNvSpPr/>
          <p:nvPr/>
        </p:nvSpPr>
        <p:spPr>
          <a:xfrm>
            <a:off x="7059168" y="5175504"/>
            <a:ext cx="329184" cy="329184"/>
          </a:xfrm>
          <a:prstGeom prst="ellipse">
            <a:avLst/>
          </a:prstGeom>
          <a:solidFill>
            <a:srgbClr val="FFFFFF"/>
          </a:solidFill>
          <a:ln/>
        </p:spPr>
      </p:sp>
      <p:pic>
        <p:nvPicPr>
          <p:cNvPr id="53" name="Image 6" descr="preencoded.png">    </p:cNvPr>
          <p:cNvPicPr>
            <a:picLocks noChangeAspect="1"/>
          </p:cNvPicPr>
          <p:nvPr/>
        </p:nvPicPr>
        <p:blipFill>
          <a:blip r:embed="rId8"/>
          <a:stretch>
            <a:fillRect/>
          </a:stretch>
        </p:blipFill>
        <p:spPr>
          <a:xfrm>
            <a:off x="7131588" y="5247924"/>
            <a:ext cx="184343" cy="184343"/>
          </a:xfrm>
          <a:prstGeom prst="rect">
            <a:avLst/>
          </a:prstGeom>
        </p:spPr>
      </p:pic>
      <p:sp>
        <p:nvSpPr>
          <p:cNvPr id="54" name="Text 44"/>
          <p:cNvSpPr txBox="1"/>
          <p:nvPr/>
        </p:nvSpPr>
        <p:spPr>
          <a:xfrm>
            <a:off x="7059168" y="5550408"/>
            <a:ext cx="886968" cy="201168"/>
          </a:xfrm>
          <a:prstGeom prst="rect">
            <a:avLst/>
          </a:prstGeom>
          <a:noFill/>
          <a:ln/>
        </p:spPr>
        <p:txBody>
          <a:bodyPr wrap="square" lIns="0" tIns="0" rIns="0" bIns="0" rtlCol="0" anchor="t"/>
          <a:lstStyle/>
          <a:p>
            <a:pPr indent="0" marL="0">
              <a:buNone/>
            </a:pPr>
            <a:r>
              <a:rPr lang="en-US" sz="1050" dirty="0">
                <a:solidFill>
                  <a:srgbClr val="161616"/>
                </a:solidFill>
                <a:latin typeface="+mj-lt" pitchFamily="34" charset="0"/>
                <a:ea typeface="+mj-lt" pitchFamily="34" charset="-122"/>
                <a:cs typeface="+mj-lt" pitchFamily="34" charset="-120"/>
              </a:rPr>
              <a:t>Battery health</a:t>
            </a:r>
            <a:endParaRPr lang="en-US" sz="1050" dirty="0"/>
          </a:p>
        </p:txBody>
      </p:sp>
      <p:sp>
        <p:nvSpPr>
          <p:cNvPr id="55" name="Text 45"/>
          <p:cNvSpPr txBox="1"/>
          <p:nvPr/>
        </p:nvSpPr>
        <p:spPr>
          <a:xfrm>
            <a:off x="7059168" y="5760720"/>
            <a:ext cx="914400" cy="384048"/>
          </a:xfrm>
          <a:prstGeom prst="rect">
            <a:avLst/>
          </a:prstGeom>
          <a:noFill/>
          <a:ln/>
        </p:spPr>
        <p:txBody>
          <a:bodyPr wrap="square" lIns="0" tIns="0" rIns="0" bIns="0" rtlCol="0" anchor="t"/>
          <a:lstStyle/>
          <a:p>
            <a:pPr indent="0" marL="0">
              <a:buNone/>
            </a:pPr>
            <a:r>
              <a:rPr lang="en-US" sz="1000" dirty="0">
                <a:solidFill>
                  <a:srgbClr val="525252"/>
                </a:solidFill>
              </a:rPr>
              <a:t>Charge to need,</a:t>
            </a:r>
            <a:endParaRPr lang="en-US" sz="1000" dirty="0"/>
          </a:p>
          <a:p>
            <a:pPr indent="0" marL="0">
              <a:buNone/>
            </a:pPr>
            <a:r>
              <a:rPr lang="en-US" sz="1000" dirty="0">
                <a:solidFill>
                  <a:srgbClr val="525252"/>
                </a:solidFill>
              </a:rPr>
              <a:t>not to max</a:t>
            </a:r>
            <a:endParaRPr lang="en-US" sz="1000" dirty="0"/>
          </a:p>
        </p:txBody>
      </p:sp>
      <p:sp>
        <p:nvSpPr>
          <p:cNvPr id="56" name="Text 46"/>
          <p:cNvSpPr txBox="1"/>
          <p:nvPr/>
        </p:nvSpPr>
        <p:spPr>
          <a:xfrm>
            <a:off x="8229600" y="3200400"/>
            <a:ext cx="27432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ROADMAP</a:t>
            </a:r>
            <a:endParaRPr lang="en-US" sz="1000" dirty="0"/>
          </a:p>
        </p:txBody>
      </p:sp>
      <p:sp>
        <p:nvSpPr>
          <p:cNvPr id="57" name="Shape 47"/>
          <p:cNvSpPr/>
          <p:nvPr/>
        </p:nvSpPr>
        <p:spPr>
          <a:xfrm>
            <a:off x="9079992" y="3547872"/>
            <a:ext cx="0" cy="1481328"/>
          </a:xfrm>
          <a:prstGeom prst="line">
            <a:avLst/>
          </a:prstGeom>
          <a:noFill/>
          <a:ln w="15875">
            <a:solidFill>
              <a:srgbClr val="C6C6C6"/>
            </a:solidFill>
            <a:prstDash val="solid"/>
          </a:ln>
        </p:spPr>
      </p:sp>
      <p:sp>
        <p:nvSpPr>
          <p:cNvPr id="58" name="Text 48"/>
          <p:cNvSpPr txBox="1"/>
          <p:nvPr/>
        </p:nvSpPr>
        <p:spPr>
          <a:xfrm>
            <a:off x="8229600" y="3474720"/>
            <a:ext cx="685800" cy="201168"/>
          </a:xfrm>
          <a:prstGeom prst="rect">
            <a:avLst/>
          </a:prstGeom>
          <a:noFill/>
          <a:ln/>
        </p:spPr>
        <p:txBody>
          <a:bodyPr wrap="square" lIns="0" tIns="0" rIns="0" bIns="0" rtlCol="0" anchor="t"/>
          <a:lstStyle/>
          <a:p>
            <a:pPr indent="0" marL="0">
              <a:buNone/>
            </a:pPr>
            <a:r>
              <a:rPr lang="en-US" sz="950" b="1" dirty="0">
                <a:solidFill>
                  <a:srgbClr val="24A148"/>
                </a:solidFill>
                <a:latin typeface="Consolas" pitchFamily="34" charset="0"/>
                <a:ea typeface="Consolas" pitchFamily="34" charset="-122"/>
                <a:cs typeface="Consolas" pitchFamily="34" charset="-120"/>
              </a:rPr>
              <a:t>NOW</a:t>
            </a:r>
            <a:endParaRPr lang="en-US" sz="950" dirty="0"/>
          </a:p>
        </p:txBody>
      </p:sp>
      <p:sp>
        <p:nvSpPr>
          <p:cNvPr id="59" name="Shape 49"/>
          <p:cNvSpPr/>
          <p:nvPr/>
        </p:nvSpPr>
        <p:spPr>
          <a:xfrm>
            <a:off x="9006840" y="3502152"/>
            <a:ext cx="146304" cy="146304"/>
          </a:xfrm>
          <a:prstGeom prst="ellipse">
            <a:avLst/>
          </a:prstGeom>
          <a:solidFill>
            <a:srgbClr val="24A148"/>
          </a:solidFill>
          <a:ln w="19050">
            <a:solidFill>
              <a:srgbClr val="FFFFFF"/>
            </a:solidFill>
            <a:prstDash val="solid"/>
          </a:ln>
        </p:spPr>
      </p:sp>
      <p:sp>
        <p:nvSpPr>
          <p:cNvPr id="60" name="Text 50"/>
          <p:cNvSpPr txBox="1"/>
          <p:nvPr/>
        </p:nvSpPr>
        <p:spPr>
          <a:xfrm>
            <a:off x="9281160" y="3447288"/>
            <a:ext cx="2359152" cy="219456"/>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Hackathon MVP</a:t>
            </a:r>
            <a:endParaRPr lang="en-US" sz="1100" dirty="0"/>
          </a:p>
        </p:txBody>
      </p:sp>
      <p:sp>
        <p:nvSpPr>
          <p:cNvPr id="61" name="Text 51"/>
          <p:cNvSpPr txBox="1"/>
          <p:nvPr/>
        </p:nvSpPr>
        <p:spPr>
          <a:xfrm>
            <a:off x="9281160" y="3657600"/>
            <a:ext cx="2359152" cy="201168"/>
          </a:xfrm>
          <a:prstGeom prst="rect">
            <a:avLst/>
          </a:prstGeom>
          <a:noFill/>
          <a:ln/>
        </p:spPr>
        <p:txBody>
          <a:bodyPr wrap="square" lIns="0" tIns="0" rIns="0" bIns="0" rtlCol="0" anchor="t"/>
          <a:lstStyle/>
          <a:p>
            <a:pPr indent="0" marL="0">
              <a:buNone/>
            </a:pPr>
            <a:r>
              <a:rPr lang="en-US" sz="1000" dirty="0">
                <a:solidFill>
                  <a:srgbClr val="525252"/>
                </a:solidFill>
              </a:rPr>
              <a:t>3 depots · 100 EVs · OCPP 1.6-J</a:t>
            </a:r>
            <a:endParaRPr lang="en-US" sz="1000" dirty="0"/>
          </a:p>
        </p:txBody>
      </p:sp>
      <p:sp>
        <p:nvSpPr>
          <p:cNvPr id="62" name="Text 52"/>
          <p:cNvSpPr txBox="1"/>
          <p:nvPr/>
        </p:nvSpPr>
        <p:spPr>
          <a:xfrm>
            <a:off x="8229600" y="3968496"/>
            <a:ext cx="685800" cy="201168"/>
          </a:xfrm>
          <a:prstGeom prst="rect">
            <a:avLst/>
          </a:prstGeom>
          <a:noFill/>
          <a:ln/>
        </p:spPr>
        <p:txBody>
          <a:bodyPr wrap="square" lIns="0" tIns="0" rIns="0" bIns="0" rtlCol="0" anchor="t"/>
          <a:lstStyle/>
          <a:p>
            <a:pPr indent="0" marL="0">
              <a:buNone/>
            </a:pPr>
            <a:r>
              <a:rPr lang="en-US" sz="950" b="1" dirty="0">
                <a:solidFill>
                  <a:srgbClr val="0F62FE"/>
                </a:solidFill>
                <a:latin typeface="Consolas" pitchFamily="34" charset="0"/>
                <a:ea typeface="Consolas" pitchFamily="34" charset="-122"/>
                <a:cs typeface="Consolas" pitchFamily="34" charset="-120"/>
              </a:rPr>
              <a:t>+3 MO</a:t>
            </a:r>
            <a:endParaRPr lang="en-US" sz="950" dirty="0"/>
          </a:p>
        </p:txBody>
      </p:sp>
      <p:sp>
        <p:nvSpPr>
          <p:cNvPr id="63" name="Shape 53"/>
          <p:cNvSpPr/>
          <p:nvPr/>
        </p:nvSpPr>
        <p:spPr>
          <a:xfrm>
            <a:off x="9006840" y="3995928"/>
            <a:ext cx="146304" cy="146304"/>
          </a:xfrm>
          <a:prstGeom prst="ellipse">
            <a:avLst/>
          </a:prstGeom>
          <a:solidFill>
            <a:srgbClr val="0F62FE"/>
          </a:solidFill>
          <a:ln w="19050">
            <a:solidFill>
              <a:srgbClr val="FFFFFF"/>
            </a:solidFill>
            <a:prstDash val="solid"/>
          </a:ln>
        </p:spPr>
      </p:sp>
      <p:sp>
        <p:nvSpPr>
          <p:cNvPr id="64" name="Text 54"/>
          <p:cNvSpPr txBox="1"/>
          <p:nvPr/>
        </p:nvSpPr>
        <p:spPr>
          <a:xfrm>
            <a:off x="9281160" y="3941064"/>
            <a:ext cx="2359152" cy="219456"/>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Live depot pilot</a:t>
            </a:r>
            <a:endParaRPr lang="en-US" sz="1100" dirty="0"/>
          </a:p>
        </p:txBody>
      </p:sp>
      <p:sp>
        <p:nvSpPr>
          <p:cNvPr id="65" name="Text 55"/>
          <p:cNvSpPr txBox="1"/>
          <p:nvPr/>
        </p:nvSpPr>
        <p:spPr>
          <a:xfrm>
            <a:off x="9281160" y="4151376"/>
            <a:ext cx="2359152" cy="201168"/>
          </a:xfrm>
          <a:prstGeom prst="rect">
            <a:avLst/>
          </a:prstGeom>
          <a:noFill/>
          <a:ln/>
        </p:spPr>
        <p:txBody>
          <a:bodyPr wrap="square" lIns="0" tIns="0" rIns="0" bIns="0" rtlCol="0" anchor="t"/>
          <a:lstStyle/>
          <a:p>
            <a:pPr indent="0" marL="0">
              <a:buNone/>
            </a:pPr>
            <a:r>
              <a:rPr lang="en-US" sz="1000" dirty="0">
                <a:solidFill>
                  <a:srgbClr val="525252"/>
                </a:solidFill>
              </a:rPr>
              <a:t>Real chargers, measured savings</a:t>
            </a:r>
            <a:endParaRPr lang="en-US" sz="1000" dirty="0"/>
          </a:p>
        </p:txBody>
      </p:sp>
      <p:sp>
        <p:nvSpPr>
          <p:cNvPr id="66" name="Text 56"/>
          <p:cNvSpPr txBox="1"/>
          <p:nvPr/>
        </p:nvSpPr>
        <p:spPr>
          <a:xfrm>
            <a:off x="8229600" y="4462272"/>
            <a:ext cx="685800" cy="201168"/>
          </a:xfrm>
          <a:prstGeom prst="rect">
            <a:avLst/>
          </a:prstGeom>
          <a:noFill/>
          <a:ln/>
        </p:spPr>
        <p:txBody>
          <a:bodyPr wrap="square" lIns="0" tIns="0" rIns="0" bIns="0" rtlCol="0" anchor="t"/>
          <a:lstStyle/>
          <a:p>
            <a:pPr indent="0" marL="0">
              <a:buNone/>
            </a:pPr>
            <a:r>
              <a:rPr lang="en-US" sz="950" b="1" dirty="0">
                <a:solidFill>
                  <a:srgbClr val="8A3FFC"/>
                </a:solidFill>
                <a:latin typeface="Consolas" pitchFamily="34" charset="0"/>
                <a:ea typeface="Consolas" pitchFamily="34" charset="-122"/>
                <a:cs typeface="Consolas" pitchFamily="34" charset="-120"/>
              </a:rPr>
              <a:t>+6 MO</a:t>
            </a:r>
            <a:endParaRPr lang="en-US" sz="950" dirty="0"/>
          </a:p>
        </p:txBody>
      </p:sp>
      <p:sp>
        <p:nvSpPr>
          <p:cNvPr id="67" name="Shape 57"/>
          <p:cNvSpPr/>
          <p:nvPr/>
        </p:nvSpPr>
        <p:spPr>
          <a:xfrm>
            <a:off x="9006840" y="4489704"/>
            <a:ext cx="146304" cy="146304"/>
          </a:xfrm>
          <a:prstGeom prst="ellipse">
            <a:avLst/>
          </a:prstGeom>
          <a:solidFill>
            <a:srgbClr val="8A3FFC"/>
          </a:solidFill>
          <a:ln w="19050">
            <a:solidFill>
              <a:srgbClr val="FFFFFF"/>
            </a:solidFill>
            <a:prstDash val="solid"/>
          </a:ln>
        </p:spPr>
      </p:sp>
      <p:sp>
        <p:nvSpPr>
          <p:cNvPr id="68" name="Text 58"/>
          <p:cNvSpPr txBox="1"/>
          <p:nvPr/>
        </p:nvSpPr>
        <p:spPr>
          <a:xfrm>
            <a:off x="9281160" y="4434840"/>
            <a:ext cx="2359152" cy="219456"/>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watsonx layer</a:t>
            </a:r>
            <a:endParaRPr lang="en-US" sz="1100" dirty="0"/>
          </a:p>
        </p:txBody>
      </p:sp>
      <p:sp>
        <p:nvSpPr>
          <p:cNvPr id="69" name="Text 59"/>
          <p:cNvSpPr txBox="1"/>
          <p:nvPr/>
        </p:nvSpPr>
        <p:spPr>
          <a:xfrm>
            <a:off x="9281160" y="4645152"/>
            <a:ext cx="2359152" cy="201168"/>
          </a:xfrm>
          <a:prstGeom prst="rect">
            <a:avLst/>
          </a:prstGeom>
          <a:noFill/>
          <a:ln/>
        </p:spPr>
        <p:txBody>
          <a:bodyPr wrap="square" lIns="0" tIns="0" rIns="0" bIns="0" rtlCol="0" anchor="t"/>
          <a:lstStyle/>
          <a:p>
            <a:pPr indent="0" marL="0">
              <a:buNone/>
            </a:pPr>
            <a:r>
              <a:rPr lang="en-US" sz="1000" dirty="0">
                <a:solidFill>
                  <a:srgbClr val="525252"/>
                </a:solidFill>
              </a:rPr>
              <a:t>Granite forecasts and explanations</a:t>
            </a:r>
            <a:endParaRPr lang="en-US" sz="1000" dirty="0"/>
          </a:p>
        </p:txBody>
      </p:sp>
      <p:sp>
        <p:nvSpPr>
          <p:cNvPr id="70" name="Text 60"/>
          <p:cNvSpPr txBox="1"/>
          <p:nvPr/>
        </p:nvSpPr>
        <p:spPr>
          <a:xfrm>
            <a:off x="8229600" y="4956048"/>
            <a:ext cx="685800" cy="201168"/>
          </a:xfrm>
          <a:prstGeom prst="rect">
            <a:avLst/>
          </a:prstGeom>
          <a:noFill/>
          <a:ln/>
        </p:spPr>
        <p:txBody>
          <a:bodyPr wrap="square" lIns="0" tIns="0" rIns="0" bIns="0" rtlCol="0" anchor="t"/>
          <a:lstStyle/>
          <a:p>
            <a:pPr indent="0" marL="0">
              <a:buNone/>
            </a:pPr>
            <a:r>
              <a:rPr lang="en-US" sz="950" b="1" dirty="0">
                <a:solidFill>
                  <a:srgbClr val="001141"/>
                </a:solidFill>
                <a:latin typeface="Consolas" pitchFamily="34" charset="0"/>
                <a:ea typeface="Consolas" pitchFamily="34" charset="-122"/>
                <a:cs typeface="Consolas" pitchFamily="34" charset="-120"/>
              </a:rPr>
              <a:t>+12 MO</a:t>
            </a:r>
            <a:endParaRPr lang="en-US" sz="950" dirty="0"/>
          </a:p>
        </p:txBody>
      </p:sp>
      <p:sp>
        <p:nvSpPr>
          <p:cNvPr id="71" name="Shape 61"/>
          <p:cNvSpPr/>
          <p:nvPr/>
        </p:nvSpPr>
        <p:spPr>
          <a:xfrm>
            <a:off x="9006840" y="4983480"/>
            <a:ext cx="146304" cy="146304"/>
          </a:xfrm>
          <a:prstGeom prst="ellipse">
            <a:avLst/>
          </a:prstGeom>
          <a:solidFill>
            <a:srgbClr val="001141"/>
          </a:solidFill>
          <a:ln w="19050">
            <a:solidFill>
              <a:srgbClr val="FFFFFF"/>
            </a:solidFill>
            <a:prstDash val="solid"/>
          </a:ln>
        </p:spPr>
      </p:sp>
      <p:sp>
        <p:nvSpPr>
          <p:cNvPr id="72" name="Text 62"/>
          <p:cNvSpPr txBox="1"/>
          <p:nvPr/>
        </p:nvSpPr>
        <p:spPr>
          <a:xfrm>
            <a:off x="9281160" y="4928616"/>
            <a:ext cx="2359152" cy="219456"/>
          </a:xfrm>
          <a:prstGeom prst="rect">
            <a:avLst/>
          </a:prstGeom>
          <a:noFill/>
          <a:ln/>
        </p:spPr>
        <p:txBody>
          <a:bodyPr wrap="square" lIns="0" tIns="0" rIns="0" bIns="0" rtlCol="0" anchor="t"/>
          <a:lstStyle/>
          <a:p>
            <a:pPr indent="0" marL="0">
              <a:buNone/>
            </a:pPr>
            <a:r>
              <a:rPr lang="en-US" sz="1100" dirty="0">
                <a:solidFill>
                  <a:srgbClr val="161616"/>
                </a:solidFill>
                <a:latin typeface="+mj-lt" pitchFamily="34" charset="0"/>
                <a:ea typeface="+mj-lt" pitchFamily="34" charset="-122"/>
                <a:cs typeface="+mj-lt" pitchFamily="34" charset="-120"/>
              </a:rPr>
              <a:t>Scale-out SaaS</a:t>
            </a:r>
            <a:endParaRPr lang="en-US" sz="1100" dirty="0"/>
          </a:p>
        </p:txBody>
      </p:sp>
      <p:sp>
        <p:nvSpPr>
          <p:cNvPr id="73" name="Text 63"/>
          <p:cNvSpPr txBox="1"/>
          <p:nvPr/>
        </p:nvSpPr>
        <p:spPr>
          <a:xfrm>
            <a:off x="9281160" y="5138928"/>
            <a:ext cx="2359152" cy="201168"/>
          </a:xfrm>
          <a:prstGeom prst="rect">
            <a:avLst/>
          </a:prstGeom>
          <a:noFill/>
          <a:ln/>
        </p:spPr>
        <p:txBody>
          <a:bodyPr wrap="square" lIns="0" tIns="0" rIns="0" bIns="0" rtlCol="0" anchor="t"/>
          <a:lstStyle/>
          <a:p>
            <a:pPr indent="0" marL="0">
              <a:buNone/>
            </a:pPr>
            <a:r>
              <a:rPr lang="en-US" sz="1000" dirty="0">
                <a:solidFill>
                  <a:srgbClr val="525252"/>
                </a:solidFill>
              </a:rPr>
              <a:t>1,000+ EVs · V2G · solar &amp; storage</a:t>
            </a:r>
            <a:endParaRPr lang="en-US" sz="1000" dirty="0"/>
          </a:p>
        </p:txBody>
      </p:sp>
      <p:sp>
        <p:nvSpPr>
          <p:cNvPr id="74" name="Text 64"/>
          <p:cNvSpPr txBox="1"/>
          <p:nvPr/>
        </p:nvSpPr>
        <p:spPr>
          <a:xfrm>
            <a:off x="8229600" y="5486400"/>
            <a:ext cx="2743200" cy="201168"/>
          </a:xfrm>
          <a:prstGeom prst="rect">
            <a:avLst/>
          </a:prstGeom>
          <a:noFill/>
          <a:ln/>
        </p:spPr>
        <p:txBody>
          <a:bodyPr wrap="square" lIns="0" tIns="0" rIns="0" bIns="0" rtlCol="0" anchor="t"/>
          <a:lstStyle/>
          <a:p>
            <a:pPr indent="0" marL="0">
              <a:buNone/>
            </a:pPr>
            <a:r>
              <a:rPr lang="en-US" sz="1000" spc="150" kern="0" dirty="0">
                <a:solidFill>
                  <a:srgbClr val="525252"/>
                </a:solidFill>
                <a:latin typeface="Consolas" pitchFamily="34" charset="0"/>
                <a:ea typeface="Consolas" pitchFamily="34" charset="-122"/>
                <a:cs typeface="Consolas" pitchFamily="34" charset="-120"/>
              </a:rPr>
              <a:t>WHO BUYS IT</a:t>
            </a:r>
            <a:endParaRPr lang="en-US" sz="1000" dirty="0"/>
          </a:p>
        </p:txBody>
      </p:sp>
      <p:sp>
        <p:nvSpPr>
          <p:cNvPr id="75" name="Shape 65"/>
          <p:cNvSpPr/>
          <p:nvPr/>
        </p:nvSpPr>
        <p:spPr>
          <a:xfrm>
            <a:off x="8229600" y="5705856"/>
            <a:ext cx="1682496" cy="228600"/>
          </a:xfrm>
          <a:prstGeom prst="roundRect">
            <a:avLst>
              <a:gd name="adj" fmla="val 50000"/>
            </a:avLst>
          </a:prstGeom>
          <a:solidFill>
            <a:srgbClr val="EDF5FF"/>
          </a:solidFill>
          <a:ln/>
        </p:spPr>
      </p:sp>
      <p:sp>
        <p:nvSpPr>
          <p:cNvPr id="76" name="Text 66"/>
          <p:cNvSpPr txBox="1"/>
          <p:nvPr/>
        </p:nvSpPr>
        <p:spPr>
          <a:xfrm>
            <a:off x="8229600" y="5705856"/>
            <a:ext cx="1682496" cy="228600"/>
          </a:xfrm>
          <a:prstGeom prst="rect">
            <a:avLst/>
          </a:prstGeom>
          <a:noFill/>
          <a:ln/>
        </p:spPr>
        <p:txBody>
          <a:bodyPr wrap="square" lIns="0" tIns="0" rIns="0" bIns="0" rtlCol="0" anchor="ctr"/>
          <a:lstStyle/>
          <a:p>
            <a:pPr algn="ctr" indent="0" marL="0">
              <a:buNone/>
            </a:pPr>
            <a:r>
              <a:rPr lang="en-US" sz="950" dirty="0">
                <a:solidFill>
                  <a:srgbClr val="0043CE"/>
                </a:solidFill>
                <a:latin typeface="+mj-lt" pitchFamily="34" charset="0"/>
                <a:ea typeface="+mj-lt" pitchFamily="34" charset="-122"/>
                <a:cs typeface="+mj-lt" pitchFamily="34" charset="-120"/>
              </a:rPr>
              <a:t>E-bus operators</a:t>
            </a:r>
            <a:endParaRPr lang="en-US" sz="950" dirty="0"/>
          </a:p>
        </p:txBody>
      </p:sp>
      <p:sp>
        <p:nvSpPr>
          <p:cNvPr id="77" name="Shape 67"/>
          <p:cNvSpPr/>
          <p:nvPr/>
        </p:nvSpPr>
        <p:spPr>
          <a:xfrm>
            <a:off x="9957816" y="5705856"/>
            <a:ext cx="1682496" cy="228600"/>
          </a:xfrm>
          <a:prstGeom prst="roundRect">
            <a:avLst>
              <a:gd name="adj" fmla="val 50000"/>
            </a:avLst>
          </a:prstGeom>
          <a:solidFill>
            <a:srgbClr val="EDF5FF"/>
          </a:solidFill>
          <a:ln/>
        </p:spPr>
      </p:sp>
      <p:sp>
        <p:nvSpPr>
          <p:cNvPr id="78" name="Text 68"/>
          <p:cNvSpPr txBox="1"/>
          <p:nvPr/>
        </p:nvSpPr>
        <p:spPr>
          <a:xfrm>
            <a:off x="9957816" y="5705856"/>
            <a:ext cx="1682496" cy="228600"/>
          </a:xfrm>
          <a:prstGeom prst="rect">
            <a:avLst/>
          </a:prstGeom>
          <a:noFill/>
          <a:ln/>
        </p:spPr>
        <p:txBody>
          <a:bodyPr wrap="square" lIns="0" tIns="0" rIns="0" bIns="0" rtlCol="0" anchor="ctr"/>
          <a:lstStyle/>
          <a:p>
            <a:pPr algn="ctr" indent="0" marL="0">
              <a:buNone/>
            </a:pPr>
            <a:r>
              <a:rPr lang="en-US" sz="950" dirty="0">
                <a:solidFill>
                  <a:srgbClr val="0043CE"/>
                </a:solidFill>
                <a:latin typeface="+mj-lt" pitchFamily="34" charset="0"/>
                <a:ea typeface="+mj-lt" pitchFamily="34" charset="-122"/>
                <a:cs typeface="+mj-lt" pitchFamily="34" charset="-120"/>
              </a:rPr>
              <a:t>Last-mile logistics</a:t>
            </a:r>
            <a:endParaRPr lang="en-US" sz="950" dirty="0"/>
          </a:p>
        </p:txBody>
      </p:sp>
      <p:sp>
        <p:nvSpPr>
          <p:cNvPr id="79" name="Shape 69"/>
          <p:cNvSpPr/>
          <p:nvPr/>
        </p:nvSpPr>
        <p:spPr>
          <a:xfrm>
            <a:off x="8229600" y="5980176"/>
            <a:ext cx="1682496" cy="228600"/>
          </a:xfrm>
          <a:prstGeom prst="roundRect">
            <a:avLst>
              <a:gd name="adj" fmla="val 50000"/>
            </a:avLst>
          </a:prstGeom>
          <a:solidFill>
            <a:srgbClr val="EDF5FF"/>
          </a:solidFill>
          <a:ln/>
        </p:spPr>
      </p:sp>
      <p:sp>
        <p:nvSpPr>
          <p:cNvPr id="80" name="Text 70"/>
          <p:cNvSpPr txBox="1"/>
          <p:nvPr/>
        </p:nvSpPr>
        <p:spPr>
          <a:xfrm>
            <a:off x="8229600" y="5980176"/>
            <a:ext cx="1682496" cy="228600"/>
          </a:xfrm>
          <a:prstGeom prst="rect">
            <a:avLst/>
          </a:prstGeom>
          <a:noFill/>
          <a:ln/>
        </p:spPr>
        <p:txBody>
          <a:bodyPr wrap="square" lIns="0" tIns="0" rIns="0" bIns="0" rtlCol="0" anchor="ctr"/>
          <a:lstStyle/>
          <a:p>
            <a:pPr algn="ctr" indent="0" marL="0">
              <a:buNone/>
            </a:pPr>
            <a:r>
              <a:rPr lang="en-US" sz="950" dirty="0">
                <a:solidFill>
                  <a:srgbClr val="0043CE"/>
                </a:solidFill>
                <a:latin typeface="+mj-lt" pitchFamily="34" charset="0"/>
                <a:ea typeface="+mj-lt" pitchFamily="34" charset="-122"/>
                <a:cs typeface="+mj-lt" pitchFamily="34" charset="-120"/>
              </a:rPr>
              <a:t>Ride-hailing fleets</a:t>
            </a:r>
            <a:endParaRPr lang="en-US" sz="950" dirty="0"/>
          </a:p>
        </p:txBody>
      </p:sp>
      <p:sp>
        <p:nvSpPr>
          <p:cNvPr id="81" name="Shape 71"/>
          <p:cNvSpPr/>
          <p:nvPr/>
        </p:nvSpPr>
        <p:spPr>
          <a:xfrm>
            <a:off x="9957816" y="5980176"/>
            <a:ext cx="1682496" cy="228600"/>
          </a:xfrm>
          <a:prstGeom prst="roundRect">
            <a:avLst>
              <a:gd name="adj" fmla="val 50000"/>
            </a:avLst>
          </a:prstGeom>
          <a:solidFill>
            <a:srgbClr val="EDF5FF"/>
          </a:solidFill>
          <a:ln/>
        </p:spPr>
      </p:sp>
      <p:sp>
        <p:nvSpPr>
          <p:cNvPr id="82" name="Text 72"/>
          <p:cNvSpPr txBox="1"/>
          <p:nvPr/>
        </p:nvSpPr>
        <p:spPr>
          <a:xfrm>
            <a:off x="9957816" y="5980176"/>
            <a:ext cx="1682496" cy="228600"/>
          </a:xfrm>
          <a:prstGeom prst="rect">
            <a:avLst/>
          </a:prstGeom>
          <a:noFill/>
          <a:ln/>
        </p:spPr>
        <p:txBody>
          <a:bodyPr wrap="square" lIns="0" tIns="0" rIns="0" bIns="0" rtlCol="0" anchor="ctr"/>
          <a:lstStyle/>
          <a:p>
            <a:pPr algn="ctr" indent="0" marL="0">
              <a:buNone/>
            </a:pPr>
            <a:r>
              <a:rPr lang="en-US" sz="950" dirty="0">
                <a:solidFill>
                  <a:srgbClr val="0043CE"/>
                </a:solidFill>
                <a:latin typeface="+mj-lt" pitchFamily="34" charset="0"/>
                <a:ea typeface="+mj-lt" pitchFamily="34" charset="-122"/>
                <a:cs typeface="+mj-lt" pitchFamily="34" charset="-120"/>
              </a:rPr>
              <a:t>Charge-point operators</a:t>
            </a:r>
            <a:endParaRPr lang="en-US" sz="950" dirty="0"/>
          </a:p>
        </p:txBody>
      </p:sp>
      <p:sp>
        <p:nvSpPr>
          <p:cNvPr id="25" name="Slide Number Placeholder 0"/>
          <p:cNvSpPr>
            <a:spLocks noGrp="1"/>
          </p:cNvSpPr>
          <p:nvPr>
            <p:ph type="sldNum" sz="quarter" idx="4294967295"/>
          </p:nvPr>
        </p:nvSpPr>
        <p:spPr>
          <a:xfrm>
            <a:off x="11274552" y="6419088"/>
            <a:ext cx="36576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D8D8D"/>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ChargeOpt IBM">
  <a:themeElements>
    <a:clrScheme name="ChargeOpt IBM">
      <a:dk1>
        <a:srgbClr val="161616"/>
      </a:dk1>
      <a:lt1>
        <a:srgbClr val="FFFFFF"/>
      </a:lt1>
      <a:dk2>
        <a:srgbClr val="001141"/>
      </a:dk2>
      <a:lt2>
        <a:srgbClr val="F2F4F8"/>
      </a:lt2>
      <a:accent1>
        <a:srgbClr val="0F62FE"/>
      </a:accent1>
      <a:accent2>
        <a:srgbClr val="8A3FFC"/>
      </a:accent2>
      <a:accent3>
        <a:srgbClr val="009D9A"/>
      </a:accent3>
      <a:accent4>
        <a:srgbClr val="FF832B"/>
      </a:accent4>
      <a:accent5>
        <a:srgbClr val="24A148"/>
      </a:accent5>
      <a:accent6>
        <a:srgbClr val="DA1E28"/>
      </a:accent6>
      <a:hlink>
        <a:srgbClr val="0F62FE"/>
      </a:hlink>
      <a:folHlink>
        <a:srgbClr val="8A3FFC"/>
      </a:folHlink>
    </a:clrScheme>
    <a:fontScheme name="ChargeOpt IBM">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ChargeOpt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ChargeOpt — EV Fleet Charging Optimisation Engine</dc:title>
  <dc:subject>VGEC x IBM Bob AI Hackathon — Problem Statement A3</dc:subject>
  <dc:creator>Team ChargeOpt</dc:creator>
  <cp:lastModifiedBy>Team ChargeOpt</cp:lastModifiedBy>
  <cp:revision>1</cp:revision>
  <dcterms:created xsi:type="dcterms:W3CDTF">2026-10-03T13:31:13Z</dcterms:created>
  <dcterms:modified xsi:type="dcterms:W3CDTF">2026-10-03T13:31:13Z</dcterms:modified>
</cp:coreProperties>
</file>